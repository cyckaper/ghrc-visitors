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6" r:id="rId38"/>
    <p:sldId id="285" r:id="rId37"/>
    <p:sldId id="287" r:id="rId39"/>
    <p:sldId id="288" r:id="rId40"/>
    <p:sldId id="289" r:id="rId41"/>
    <p:sldId id="290" r:id="rId42"/>
    <p:sldId id="291" r:id="rId43"/>
    <p:sldId id="292" r:id="rId44"/>
    <p:sldId id="293" r:id="rId45"/>
    <p:sldId id="294" r:id="rId46"/>
    <p:sldId id="299" r:id="rId51"/>
    <p:sldId id="295" r:id="rId47"/>
    <p:sldId id="296" r:id="rId48"/>
    <p:sldId id="297" r:id="rId49"/>
    <p:sldId id="298" r:id="rId5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1.xml"/><Relationship Id="rId38" Type="http://schemas.openxmlformats.org/officeDocument/2006/relationships/slide" Target="slides/slide30.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82" name="Shape 82"/>
          <p:cNvSpPr/>
          <p:nvPr>
            <p:ph type="sldImg"/>
          </p:nvPr>
        </p:nvSpPr>
        <p:spPr>
          <a:xfrm>
            <a:off x="1143000" y="685800"/>
            <a:ext cx="4572000" cy="3429000"/>
          </a:xfrm>
          <a:prstGeom prst="rect">
            <a:avLst/>
          </a:prstGeom>
        </p:spPr>
        <p:txBody>
          <a:bodyPr/>
          <a:lstStyle/>
          <a:p>
            <a:pPr/>
          </a:p>
        </p:txBody>
      </p:sp>
      <p:sp>
        <p:nvSpPr>
          <p:cNvPr id="83" name="Shape 8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3_標題及內容">
    <p:spTree>
      <p:nvGrpSpPr>
        <p:cNvPr id="1" name=""/>
        <p:cNvGrpSpPr/>
        <p:nvPr/>
      </p:nvGrpSpPr>
      <p:grpSpPr>
        <a:xfrm>
          <a:off x="0" y="0"/>
          <a:ext cx="0" cy="0"/>
          <a:chOff x="0" y="0"/>
          <a:chExt cx="0" cy="0"/>
        </a:xfrm>
      </p:grpSpPr>
      <p:sp>
        <p:nvSpPr>
          <p:cNvPr id="18" name="모서리가 둥근 직사각형 4"/>
          <p:cNvSpPr/>
          <p:nvPr/>
        </p:nvSpPr>
        <p:spPr>
          <a:xfrm>
            <a:off x="83332" y="22157"/>
            <a:ext cx="6912768" cy="592177"/>
          </a:xfrm>
          <a:prstGeom prst="roundRect">
            <a:avLst>
              <a:gd name="adj" fmla="val 50000"/>
            </a:avLst>
          </a:prstGeom>
          <a:solidFill>
            <a:srgbClr val="548235"/>
          </a:solidFill>
          <a:ln w="12700">
            <a:solidFill>
              <a:srgbClr val="548235"/>
            </a:solidFill>
            <a:miter/>
          </a:ln>
        </p:spPr>
        <p:txBody>
          <a:bodyPr lIns="45718" tIns="45718" rIns="45718" bIns="45718" anchor="ctr"/>
          <a:lstStyle/>
          <a:p>
            <a:pPr>
              <a:defRPr b="1" i="1" sz="4000">
                <a:solidFill>
                  <a:srgbClr val="FFFFFF"/>
                </a:solidFill>
                <a:latin typeface="Times New Roman"/>
                <a:ea typeface="Times New Roman"/>
                <a:cs typeface="Times New Roman"/>
                <a:sym typeface="Times New Roman"/>
              </a:defRPr>
            </a:pPr>
          </a:p>
        </p:txBody>
      </p:sp>
      <p:sp>
        <p:nvSpPr>
          <p:cNvPr id="19" name="직선 연결선 8"/>
          <p:cNvSpPr/>
          <p:nvPr/>
        </p:nvSpPr>
        <p:spPr>
          <a:xfrm flipV="1">
            <a:off x="5807967" y="512674"/>
            <a:ext cx="6042855" cy="3"/>
          </a:xfrm>
          <a:prstGeom prst="line">
            <a:avLst/>
          </a:prstGeom>
          <a:ln w="19050">
            <a:solidFill>
              <a:srgbClr val="548235"/>
            </a:solidFill>
            <a:miter/>
            <a:tailEnd type="oval"/>
          </a:ln>
        </p:spPr>
        <p:txBody>
          <a:bodyPr lIns="45718" tIns="45718" rIns="45718" bIns="45718"/>
          <a:lstStyle/>
          <a:p>
            <a:pPr/>
          </a:p>
        </p:txBody>
      </p:sp>
      <p:pic>
        <p:nvPicPr>
          <p:cNvPr id="20" name="圖片 15" descr="圖片 15"/>
          <p:cNvPicPr>
            <a:picLocks noChangeAspect="1"/>
          </p:cNvPicPr>
          <p:nvPr/>
        </p:nvPicPr>
        <p:blipFill>
          <a:blip r:embed="rId2">
            <a:extLst/>
          </a:blip>
          <a:stretch>
            <a:fillRect/>
          </a:stretch>
        </p:blipFill>
        <p:spPr>
          <a:xfrm>
            <a:off x="100484" y="38268"/>
            <a:ext cx="580601" cy="576065"/>
          </a:xfrm>
          <a:prstGeom prst="rect">
            <a:avLst/>
          </a:prstGeom>
          <a:ln w="12700">
            <a:miter lim="400000"/>
          </a:ln>
        </p:spPr>
      </p:pic>
      <p:sp>
        <p:nvSpPr>
          <p:cNvPr id="21" name="Title Text"/>
          <p:cNvSpPr txBox="1"/>
          <p:nvPr>
            <p:ph type="title"/>
          </p:nvPr>
        </p:nvSpPr>
        <p:spPr>
          <a:xfrm>
            <a:off x="674458" y="80628"/>
            <a:ext cx="6338795" cy="576065"/>
          </a:xfrm>
          <a:prstGeom prst="rect">
            <a:avLst/>
          </a:prstGeom>
        </p:spPr>
        <p:txBody>
          <a:bodyPr anchor="b">
            <a:normAutofit fontScale="100000" lnSpcReduction="0"/>
          </a:bodyPr>
          <a:lstStyle>
            <a:lvl1pPr algn="l">
              <a:defRPr b="1" sz="3600">
                <a:solidFill>
                  <a:srgbClr val="FFFFFF"/>
                </a:solidFill>
                <a:latin typeface="微軟正黑體"/>
                <a:ea typeface="微軟正黑體"/>
                <a:cs typeface="微軟正黑體"/>
                <a:sym typeface="微軟正黑體"/>
              </a:defRPr>
            </a:lvl1pPr>
          </a:lstStyle>
          <a:p>
            <a:pPr/>
            <a:r>
              <a:t>Title Text</a:t>
            </a:r>
          </a:p>
        </p:txBody>
      </p:sp>
      <p:sp>
        <p:nvSpPr>
          <p:cNvPr id="22" name="Body Level One…"/>
          <p:cNvSpPr txBox="1"/>
          <p:nvPr>
            <p:ph type="body" idx="1"/>
          </p:nvPr>
        </p:nvSpPr>
        <p:spPr>
          <a:xfrm>
            <a:off x="240598" y="715164"/>
            <a:ext cx="11638796" cy="5710664"/>
          </a:xfrm>
          <a:prstGeom prst="rect">
            <a:avLst/>
          </a:prstGeom>
        </p:spPr>
        <p:txBody>
          <a:bodyPr>
            <a:normAutofit fontScale="100000" lnSpcReduction="0"/>
          </a:bodyPr>
          <a:lstStyle>
            <a:lvl1pPr marL="228600" indent="-228600">
              <a:spcBef>
                <a:spcPts val="1200"/>
              </a:spcBef>
              <a:buFontTx/>
              <a:buChar char="■"/>
              <a:defRPr b="1">
                <a:solidFill>
                  <a:srgbClr val="385724"/>
                </a:solidFill>
                <a:latin typeface="Times New Roman"/>
                <a:ea typeface="Times New Roman"/>
                <a:cs typeface="Times New Roman"/>
                <a:sym typeface="Times New Roman"/>
              </a:defRPr>
            </a:lvl1pPr>
            <a:lvl2pPr marL="666976" indent="-306612">
              <a:spcBef>
                <a:spcPts val="1200"/>
              </a:spcBef>
              <a:buFontTx/>
              <a:buChar char="➢"/>
              <a:defRPr b="1">
                <a:solidFill>
                  <a:srgbClr val="385724"/>
                </a:solidFill>
                <a:latin typeface="Times New Roman"/>
                <a:ea typeface="Times New Roman"/>
                <a:cs typeface="Times New Roman"/>
                <a:sym typeface="Times New Roman"/>
              </a:defRPr>
            </a:lvl2pPr>
            <a:lvl3pPr marL="1050925" indent="-330200">
              <a:spcBef>
                <a:spcPts val="1200"/>
              </a:spcBef>
              <a:buFontTx/>
              <a:buChar char="✓"/>
              <a:defRPr b="1">
                <a:solidFill>
                  <a:srgbClr val="385724"/>
                </a:solidFill>
                <a:latin typeface="Times New Roman"/>
                <a:ea typeface="Times New Roman"/>
                <a:cs typeface="Times New Roman"/>
                <a:sym typeface="Times New Roman"/>
              </a:defRPr>
            </a:lvl3pPr>
            <a:lvl4pPr marL="1209144" indent="-182032">
              <a:spcBef>
                <a:spcPts val="1200"/>
              </a:spcBef>
              <a:buFontTx/>
              <a:buChar char="•"/>
              <a:defRPr b="1">
                <a:solidFill>
                  <a:srgbClr val="385724"/>
                </a:solidFill>
                <a:latin typeface="Times New Roman"/>
                <a:ea typeface="Times New Roman"/>
                <a:cs typeface="Times New Roman"/>
                <a:sym typeface="Times New Roman"/>
              </a:defRPr>
            </a:lvl4pPr>
            <a:lvl5pPr marL="1389639" indent="-133926">
              <a:spcBef>
                <a:spcPts val="1200"/>
              </a:spcBef>
              <a:buFontTx/>
              <a:buChar char="•"/>
              <a:defRPr b="1">
                <a:solidFill>
                  <a:srgbClr val="385724"/>
                </a:solidFill>
                <a:latin typeface="Times New Roman"/>
                <a:ea typeface="Times New Roman"/>
                <a:cs typeface="Times New Roman"/>
                <a:sym typeface="Times New Roman"/>
              </a:defRPr>
            </a:lvl5pPr>
          </a:lstStyle>
          <a:p>
            <a:pPr/>
            <a:r>
              <a:t>Body Level One</a:t>
            </a:r>
          </a:p>
          <a:p>
            <a:pPr lvl="1"/>
            <a:r>
              <a:t>Body Level Two</a:t>
            </a:r>
          </a:p>
          <a:p>
            <a:pPr lvl="2"/>
            <a:r>
              <a:t>Body Level Three</a:t>
            </a:r>
          </a:p>
          <a:p>
            <a:pPr lvl="3"/>
            <a:r>
              <a:t>Body Level Four</a:t>
            </a:r>
          </a:p>
          <a:p>
            <a:pPr lvl="4"/>
            <a:r>
              <a:t>Body Level Five</a:t>
            </a:r>
          </a:p>
        </p:txBody>
      </p:sp>
      <p:pic>
        <p:nvPicPr>
          <p:cNvPr id="23" name="圖片 7" descr="圖片 7"/>
          <p:cNvPicPr>
            <a:picLocks noChangeAspect="1"/>
          </p:cNvPicPr>
          <p:nvPr/>
        </p:nvPicPr>
        <p:blipFill>
          <a:blip r:embed="rId3">
            <a:extLst/>
          </a:blip>
          <a:stretch>
            <a:fillRect/>
          </a:stretch>
        </p:blipFill>
        <p:spPr>
          <a:xfrm>
            <a:off x="10128446" y="80628"/>
            <a:ext cx="1565717" cy="682875"/>
          </a:xfrm>
          <a:prstGeom prst="rect">
            <a:avLst/>
          </a:prstGeom>
          <a:ln w="12700">
            <a:miter lim="400000"/>
          </a:ln>
        </p:spPr>
      </p:pic>
      <p:sp>
        <p:nvSpPr>
          <p:cNvPr id="24" name="Slide Number"/>
          <p:cNvSpPr txBox="1"/>
          <p:nvPr>
            <p:ph type="sldNum" sz="quarter" idx="2"/>
          </p:nvPr>
        </p:nvSpPr>
        <p:spPr>
          <a:xfrm>
            <a:off x="11858296" y="6492605"/>
            <a:ext cx="332737" cy="348426"/>
          </a:xfrm>
          <a:prstGeom prst="rect">
            <a:avLst/>
          </a:prstGeom>
        </p:spPr>
        <p:txBody>
          <a:bodyPr/>
          <a:lstStyle>
            <a:lvl1pPr>
              <a:defRPr b="1" sz="1900">
                <a:latin typeface="Times New Roman"/>
                <a:ea typeface="Times New Roman"/>
                <a:cs typeface="Times New Roman"/>
                <a:sym typeface="Times New Roman"/>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4_標題及內容">
    <p:spTree>
      <p:nvGrpSpPr>
        <p:cNvPr id="1" name=""/>
        <p:cNvGrpSpPr/>
        <p:nvPr/>
      </p:nvGrpSpPr>
      <p:grpSpPr>
        <a:xfrm>
          <a:off x="0" y="0"/>
          <a:ext cx="0" cy="0"/>
          <a:chOff x="0" y="0"/>
          <a:chExt cx="0" cy="0"/>
        </a:xfrm>
      </p:grpSpPr>
      <p:sp>
        <p:nvSpPr>
          <p:cNvPr id="31" name="모서리가 둥근 직사각형 4"/>
          <p:cNvSpPr/>
          <p:nvPr/>
        </p:nvSpPr>
        <p:spPr>
          <a:xfrm>
            <a:off x="83332" y="22157"/>
            <a:ext cx="6912768" cy="592177"/>
          </a:xfrm>
          <a:prstGeom prst="roundRect">
            <a:avLst>
              <a:gd name="adj" fmla="val 50000"/>
            </a:avLst>
          </a:prstGeom>
          <a:solidFill>
            <a:srgbClr val="FF6600"/>
          </a:solidFill>
          <a:ln w="12700">
            <a:miter lim="400000"/>
          </a:ln>
        </p:spPr>
        <p:txBody>
          <a:bodyPr lIns="45718" tIns="45718" rIns="45718" bIns="45718" anchor="ctr"/>
          <a:lstStyle/>
          <a:p>
            <a:pPr>
              <a:defRPr b="1" i="1" sz="4000">
                <a:solidFill>
                  <a:srgbClr val="FFFFFF"/>
                </a:solidFill>
                <a:latin typeface="Times New Roman"/>
                <a:ea typeface="Times New Roman"/>
                <a:cs typeface="Times New Roman"/>
                <a:sym typeface="Times New Roman"/>
              </a:defRPr>
            </a:pPr>
          </a:p>
        </p:txBody>
      </p:sp>
      <p:sp>
        <p:nvSpPr>
          <p:cNvPr id="32" name="직선 연결선 8"/>
          <p:cNvSpPr/>
          <p:nvPr/>
        </p:nvSpPr>
        <p:spPr>
          <a:xfrm flipV="1">
            <a:off x="5807967" y="512674"/>
            <a:ext cx="6042855" cy="3"/>
          </a:xfrm>
          <a:prstGeom prst="line">
            <a:avLst/>
          </a:prstGeom>
          <a:ln w="19050">
            <a:solidFill>
              <a:srgbClr val="FF6600"/>
            </a:solidFill>
            <a:miter/>
            <a:tailEnd type="oval"/>
          </a:ln>
        </p:spPr>
        <p:txBody>
          <a:bodyPr lIns="45718" tIns="45718" rIns="45718" bIns="45718"/>
          <a:lstStyle/>
          <a:p>
            <a:pPr/>
          </a:p>
        </p:txBody>
      </p:sp>
      <p:pic>
        <p:nvPicPr>
          <p:cNvPr id="33" name="圖片 15" descr="圖片 15"/>
          <p:cNvPicPr>
            <a:picLocks noChangeAspect="1"/>
          </p:cNvPicPr>
          <p:nvPr/>
        </p:nvPicPr>
        <p:blipFill>
          <a:blip r:embed="rId2">
            <a:extLst/>
          </a:blip>
          <a:stretch>
            <a:fillRect/>
          </a:stretch>
        </p:blipFill>
        <p:spPr>
          <a:xfrm>
            <a:off x="100484" y="38268"/>
            <a:ext cx="580601" cy="576065"/>
          </a:xfrm>
          <a:prstGeom prst="rect">
            <a:avLst/>
          </a:prstGeom>
          <a:ln w="12700">
            <a:miter lim="400000"/>
          </a:ln>
        </p:spPr>
      </p:pic>
      <p:sp>
        <p:nvSpPr>
          <p:cNvPr id="34" name="Title Text"/>
          <p:cNvSpPr txBox="1"/>
          <p:nvPr>
            <p:ph type="title"/>
          </p:nvPr>
        </p:nvSpPr>
        <p:spPr>
          <a:xfrm>
            <a:off x="674458" y="80628"/>
            <a:ext cx="6338795" cy="576065"/>
          </a:xfrm>
          <a:prstGeom prst="rect">
            <a:avLst/>
          </a:prstGeom>
        </p:spPr>
        <p:txBody>
          <a:bodyPr anchor="b">
            <a:normAutofit fontScale="100000" lnSpcReduction="0"/>
          </a:bodyPr>
          <a:lstStyle>
            <a:lvl1pPr algn="l">
              <a:defRPr b="1" sz="3600">
                <a:solidFill>
                  <a:srgbClr val="FFFFFF"/>
                </a:solidFill>
                <a:latin typeface="微軟正黑體"/>
                <a:ea typeface="微軟正黑體"/>
                <a:cs typeface="微軟正黑體"/>
                <a:sym typeface="微軟正黑體"/>
              </a:defRPr>
            </a:lvl1pPr>
          </a:lstStyle>
          <a:p>
            <a:pPr/>
            <a:r>
              <a:t>Title Text</a:t>
            </a:r>
          </a:p>
        </p:txBody>
      </p:sp>
      <p:sp>
        <p:nvSpPr>
          <p:cNvPr id="35" name="Body Level One…"/>
          <p:cNvSpPr txBox="1"/>
          <p:nvPr>
            <p:ph type="body" idx="1"/>
          </p:nvPr>
        </p:nvSpPr>
        <p:spPr>
          <a:xfrm>
            <a:off x="240598" y="715162"/>
            <a:ext cx="11638796" cy="5710667"/>
          </a:xfrm>
          <a:prstGeom prst="rect">
            <a:avLst/>
          </a:prstGeom>
        </p:spPr>
        <p:txBody>
          <a:bodyPr>
            <a:normAutofit fontScale="100000" lnSpcReduction="0"/>
          </a:bodyPr>
          <a:lstStyle>
            <a:lvl1pPr marL="228600" indent="-228600">
              <a:spcBef>
                <a:spcPts val="1200"/>
              </a:spcBef>
              <a:buFontTx/>
              <a:buChar char="■"/>
              <a:defRPr b="1">
                <a:solidFill>
                  <a:srgbClr val="C55A11"/>
                </a:solidFill>
                <a:latin typeface="Times New Roman"/>
                <a:ea typeface="Times New Roman"/>
                <a:cs typeface="Times New Roman"/>
                <a:sym typeface="Times New Roman"/>
              </a:defRPr>
            </a:lvl1pPr>
            <a:lvl2pPr marL="666976" indent="-306612">
              <a:spcBef>
                <a:spcPts val="1200"/>
              </a:spcBef>
              <a:buFontTx/>
              <a:buChar char="➢"/>
              <a:defRPr b="1">
                <a:solidFill>
                  <a:srgbClr val="C55A11"/>
                </a:solidFill>
                <a:latin typeface="Times New Roman"/>
                <a:ea typeface="Times New Roman"/>
                <a:cs typeface="Times New Roman"/>
                <a:sym typeface="Times New Roman"/>
              </a:defRPr>
            </a:lvl2pPr>
            <a:lvl3pPr marL="1050925" indent="-330200">
              <a:spcBef>
                <a:spcPts val="1200"/>
              </a:spcBef>
              <a:buFontTx/>
              <a:buChar char="✓"/>
              <a:defRPr b="1">
                <a:solidFill>
                  <a:srgbClr val="C55A11"/>
                </a:solidFill>
                <a:latin typeface="Times New Roman"/>
                <a:ea typeface="Times New Roman"/>
                <a:cs typeface="Times New Roman"/>
                <a:sym typeface="Times New Roman"/>
              </a:defRPr>
            </a:lvl3pPr>
            <a:lvl4pPr marL="1209144" indent="-182032">
              <a:spcBef>
                <a:spcPts val="1200"/>
              </a:spcBef>
              <a:buFontTx/>
              <a:buChar char="•"/>
              <a:defRPr b="1">
                <a:solidFill>
                  <a:srgbClr val="C55A11"/>
                </a:solidFill>
                <a:latin typeface="Times New Roman"/>
                <a:ea typeface="Times New Roman"/>
                <a:cs typeface="Times New Roman"/>
                <a:sym typeface="Times New Roman"/>
              </a:defRPr>
            </a:lvl4pPr>
            <a:lvl5pPr marL="1389639" indent="-133926">
              <a:spcBef>
                <a:spcPts val="1200"/>
              </a:spcBef>
              <a:buFontTx/>
              <a:buChar char="•"/>
              <a:defRPr b="1">
                <a:solidFill>
                  <a:srgbClr val="C55A11"/>
                </a:solidFill>
                <a:latin typeface="Times New Roman"/>
                <a:ea typeface="Times New Roman"/>
                <a:cs typeface="Times New Roman"/>
                <a:sym typeface="Times New Roman"/>
              </a:defRPr>
            </a:lvl5pPr>
          </a:lstStyle>
          <a:p>
            <a:pPr/>
            <a:r>
              <a:t>Body Level One</a:t>
            </a:r>
          </a:p>
          <a:p>
            <a:pPr lvl="1"/>
            <a:r>
              <a:t>Body Level Two</a:t>
            </a:r>
          </a:p>
          <a:p>
            <a:pPr lvl="2"/>
            <a:r>
              <a:t>Body Level Three</a:t>
            </a:r>
          </a:p>
          <a:p>
            <a:pPr lvl="3"/>
            <a:r>
              <a:t>Body Level Four</a:t>
            </a:r>
          </a:p>
          <a:p>
            <a:pPr lvl="4"/>
            <a:r>
              <a:t>Body Level Five</a:t>
            </a:r>
          </a:p>
        </p:txBody>
      </p:sp>
      <p:pic>
        <p:nvPicPr>
          <p:cNvPr id="36" name="圖片 9" descr="圖片 9"/>
          <p:cNvPicPr>
            <a:picLocks noChangeAspect="1"/>
          </p:cNvPicPr>
          <p:nvPr/>
        </p:nvPicPr>
        <p:blipFill>
          <a:blip r:embed="rId3">
            <a:extLst/>
          </a:blip>
          <a:stretch>
            <a:fillRect/>
          </a:stretch>
        </p:blipFill>
        <p:spPr>
          <a:xfrm>
            <a:off x="10128446" y="80628"/>
            <a:ext cx="1565717" cy="682875"/>
          </a:xfrm>
          <a:prstGeom prst="rect">
            <a:avLst/>
          </a:prstGeom>
          <a:ln w="12700">
            <a:miter lim="400000"/>
          </a:ln>
        </p:spPr>
      </p:pic>
      <p:sp>
        <p:nvSpPr>
          <p:cNvPr id="37" name="Slide Number"/>
          <p:cNvSpPr txBox="1"/>
          <p:nvPr>
            <p:ph type="sldNum" sz="quarter" idx="2"/>
          </p:nvPr>
        </p:nvSpPr>
        <p:spPr>
          <a:xfrm>
            <a:off x="11859265" y="6497690"/>
            <a:ext cx="332737" cy="348426"/>
          </a:xfrm>
          <a:prstGeom prst="rect">
            <a:avLst/>
          </a:prstGeom>
        </p:spPr>
        <p:txBody>
          <a:bodyPr/>
          <a:lstStyle>
            <a:lvl1pPr>
              <a:defRPr b="1" sz="1900">
                <a:latin typeface="Times New Roman"/>
                <a:ea typeface="Times New Roman"/>
                <a:cs typeface="Times New Roman"/>
                <a:sym typeface="Times New Roman"/>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標題及內容">
    <p:spTree>
      <p:nvGrpSpPr>
        <p:cNvPr id="1" name=""/>
        <p:cNvGrpSpPr/>
        <p:nvPr/>
      </p:nvGrpSpPr>
      <p:grpSpPr>
        <a:xfrm>
          <a:off x="0" y="0"/>
          <a:ext cx="0" cy="0"/>
          <a:chOff x="0" y="0"/>
          <a:chExt cx="0" cy="0"/>
        </a:xfrm>
      </p:grpSpPr>
      <p:sp>
        <p:nvSpPr>
          <p:cNvPr id="44" name="모서리가 둥근 직사각형 4"/>
          <p:cNvSpPr/>
          <p:nvPr/>
        </p:nvSpPr>
        <p:spPr>
          <a:xfrm>
            <a:off x="83332" y="22157"/>
            <a:ext cx="6912768" cy="592177"/>
          </a:xfrm>
          <a:prstGeom prst="roundRect">
            <a:avLst>
              <a:gd name="adj" fmla="val 50000"/>
            </a:avLst>
          </a:prstGeom>
          <a:solidFill>
            <a:srgbClr val="00B0F0"/>
          </a:solidFill>
          <a:ln w="12700">
            <a:miter lim="400000"/>
          </a:ln>
        </p:spPr>
        <p:txBody>
          <a:bodyPr lIns="45718" tIns="45718" rIns="45718" bIns="45718" anchor="ctr"/>
          <a:lstStyle/>
          <a:p>
            <a:pPr>
              <a:defRPr b="1" i="1" sz="4000">
                <a:solidFill>
                  <a:srgbClr val="FFFFFF"/>
                </a:solidFill>
                <a:latin typeface="Times New Roman"/>
                <a:ea typeface="Times New Roman"/>
                <a:cs typeface="Times New Roman"/>
                <a:sym typeface="Times New Roman"/>
              </a:defRPr>
            </a:pPr>
          </a:p>
        </p:txBody>
      </p:sp>
      <p:sp>
        <p:nvSpPr>
          <p:cNvPr id="45" name="Body Level One…"/>
          <p:cNvSpPr txBox="1"/>
          <p:nvPr>
            <p:ph type="body" idx="1"/>
          </p:nvPr>
        </p:nvSpPr>
        <p:spPr>
          <a:xfrm>
            <a:off x="240598" y="715162"/>
            <a:ext cx="11638796" cy="5710667"/>
          </a:xfrm>
          <a:prstGeom prst="rect">
            <a:avLst/>
          </a:prstGeom>
        </p:spPr>
        <p:txBody>
          <a:bodyPr>
            <a:normAutofit fontScale="100000" lnSpcReduction="0"/>
          </a:bodyPr>
          <a:lstStyle>
            <a:lvl1pPr marL="228600" indent="-228600">
              <a:spcBef>
                <a:spcPts val="1200"/>
              </a:spcBef>
              <a:buFontTx/>
              <a:buChar char="■"/>
              <a:defRPr b="1">
                <a:solidFill>
                  <a:srgbClr val="002060"/>
                </a:solidFill>
                <a:latin typeface="Times New Roman"/>
                <a:ea typeface="Times New Roman"/>
                <a:cs typeface="Times New Roman"/>
                <a:sym typeface="Times New Roman"/>
              </a:defRPr>
            </a:lvl1pPr>
            <a:lvl2pPr marL="666976" indent="-306612">
              <a:spcBef>
                <a:spcPts val="1200"/>
              </a:spcBef>
              <a:buFontTx/>
              <a:buChar char="➢"/>
              <a:defRPr b="1">
                <a:solidFill>
                  <a:srgbClr val="002060"/>
                </a:solidFill>
                <a:latin typeface="Times New Roman"/>
                <a:ea typeface="Times New Roman"/>
                <a:cs typeface="Times New Roman"/>
                <a:sym typeface="Times New Roman"/>
              </a:defRPr>
            </a:lvl2pPr>
            <a:lvl3pPr marL="1050925" indent="-330200">
              <a:spcBef>
                <a:spcPts val="1200"/>
              </a:spcBef>
              <a:buFontTx/>
              <a:buChar char="✓"/>
              <a:defRPr b="1">
                <a:solidFill>
                  <a:srgbClr val="002060"/>
                </a:solidFill>
                <a:latin typeface="Times New Roman"/>
                <a:ea typeface="Times New Roman"/>
                <a:cs typeface="Times New Roman"/>
                <a:sym typeface="Times New Roman"/>
              </a:defRPr>
            </a:lvl3pPr>
            <a:lvl4pPr marL="1209144" indent="-182032">
              <a:spcBef>
                <a:spcPts val="1200"/>
              </a:spcBef>
              <a:buFontTx/>
              <a:buChar char="•"/>
              <a:defRPr b="1">
                <a:solidFill>
                  <a:srgbClr val="002060"/>
                </a:solidFill>
                <a:latin typeface="Times New Roman"/>
                <a:ea typeface="Times New Roman"/>
                <a:cs typeface="Times New Roman"/>
                <a:sym typeface="Times New Roman"/>
              </a:defRPr>
            </a:lvl4pPr>
            <a:lvl5pPr marL="1389639" indent="-133926">
              <a:spcBef>
                <a:spcPts val="1200"/>
              </a:spcBef>
              <a:buFontTx/>
              <a:buChar char="•"/>
              <a:defRPr b="1">
                <a:solidFill>
                  <a:srgbClr val="002060"/>
                </a:solidFill>
                <a:latin typeface="Times New Roman"/>
                <a:ea typeface="Times New Roman"/>
                <a:cs typeface="Times New Roman"/>
                <a:sym typeface="Times New Roman"/>
              </a:defRPr>
            </a:lvl5pPr>
          </a:lstStyle>
          <a:p>
            <a:pPr/>
            <a:r>
              <a:t>Body Level One</a:t>
            </a:r>
          </a:p>
          <a:p>
            <a:pPr lvl="1"/>
            <a:r>
              <a:t>Body Level Two</a:t>
            </a:r>
          </a:p>
          <a:p>
            <a:pPr lvl="2"/>
            <a:r>
              <a:t>Body Level Three</a:t>
            </a:r>
          </a:p>
          <a:p>
            <a:pPr lvl="3"/>
            <a:r>
              <a:t>Body Level Four</a:t>
            </a:r>
          </a:p>
          <a:p>
            <a:pPr lvl="4"/>
            <a:r>
              <a:t>Body Level Five</a:t>
            </a:r>
          </a:p>
        </p:txBody>
      </p:sp>
      <p:sp>
        <p:nvSpPr>
          <p:cNvPr id="46" name="직선 연결선 8"/>
          <p:cNvSpPr/>
          <p:nvPr/>
        </p:nvSpPr>
        <p:spPr>
          <a:xfrm flipV="1">
            <a:off x="5807967" y="512674"/>
            <a:ext cx="6042855" cy="3"/>
          </a:xfrm>
          <a:prstGeom prst="line">
            <a:avLst/>
          </a:prstGeom>
          <a:ln w="19050">
            <a:solidFill>
              <a:srgbClr val="00B0F0"/>
            </a:solidFill>
            <a:miter/>
            <a:tailEnd type="oval"/>
          </a:ln>
        </p:spPr>
        <p:txBody>
          <a:bodyPr lIns="45718" tIns="45718" rIns="45718" bIns="45718"/>
          <a:lstStyle/>
          <a:p>
            <a:pPr/>
          </a:p>
        </p:txBody>
      </p:sp>
      <p:pic>
        <p:nvPicPr>
          <p:cNvPr id="47" name="圖片 15" descr="圖片 15"/>
          <p:cNvPicPr>
            <a:picLocks noChangeAspect="1"/>
          </p:cNvPicPr>
          <p:nvPr/>
        </p:nvPicPr>
        <p:blipFill>
          <a:blip r:embed="rId2">
            <a:extLst/>
          </a:blip>
          <a:stretch>
            <a:fillRect/>
          </a:stretch>
        </p:blipFill>
        <p:spPr>
          <a:xfrm>
            <a:off x="100484" y="38268"/>
            <a:ext cx="580601" cy="576065"/>
          </a:xfrm>
          <a:prstGeom prst="rect">
            <a:avLst/>
          </a:prstGeom>
          <a:ln w="12700">
            <a:miter lim="400000"/>
          </a:ln>
        </p:spPr>
      </p:pic>
      <p:sp>
        <p:nvSpPr>
          <p:cNvPr id="48" name="Title Text"/>
          <p:cNvSpPr txBox="1"/>
          <p:nvPr>
            <p:ph type="title"/>
          </p:nvPr>
        </p:nvSpPr>
        <p:spPr>
          <a:xfrm>
            <a:off x="674458" y="80628"/>
            <a:ext cx="6321643" cy="576065"/>
          </a:xfrm>
          <a:prstGeom prst="rect">
            <a:avLst/>
          </a:prstGeom>
        </p:spPr>
        <p:txBody>
          <a:bodyPr anchor="b">
            <a:normAutofit fontScale="100000" lnSpcReduction="0"/>
          </a:bodyPr>
          <a:lstStyle>
            <a:lvl1pPr algn="l">
              <a:defRPr b="1" sz="3600">
                <a:solidFill>
                  <a:srgbClr val="FFFFFF"/>
                </a:solidFill>
                <a:latin typeface="微軟正黑體"/>
                <a:ea typeface="微軟正黑體"/>
                <a:cs typeface="微軟正黑體"/>
                <a:sym typeface="微軟正黑體"/>
              </a:defRPr>
            </a:lvl1pPr>
          </a:lstStyle>
          <a:p>
            <a:pPr/>
            <a:r>
              <a:t>Title Text</a:t>
            </a:r>
          </a:p>
        </p:txBody>
      </p:sp>
      <p:pic>
        <p:nvPicPr>
          <p:cNvPr id="49" name="圖片 7" descr="圖片 7"/>
          <p:cNvPicPr>
            <a:picLocks noChangeAspect="1"/>
          </p:cNvPicPr>
          <p:nvPr/>
        </p:nvPicPr>
        <p:blipFill>
          <a:blip r:embed="rId3">
            <a:extLst/>
          </a:blip>
          <a:stretch>
            <a:fillRect/>
          </a:stretch>
        </p:blipFill>
        <p:spPr>
          <a:xfrm>
            <a:off x="10128446" y="80628"/>
            <a:ext cx="1565717" cy="682875"/>
          </a:xfrm>
          <a:prstGeom prst="rect">
            <a:avLst/>
          </a:prstGeom>
          <a:ln w="12700">
            <a:miter lim="400000"/>
          </a:ln>
        </p:spPr>
      </p:pic>
      <p:sp>
        <p:nvSpPr>
          <p:cNvPr id="50" name="Slide Number"/>
          <p:cNvSpPr txBox="1"/>
          <p:nvPr>
            <p:ph type="sldNum" sz="quarter" idx="2"/>
          </p:nvPr>
        </p:nvSpPr>
        <p:spPr>
          <a:xfrm>
            <a:off x="11850763" y="6492605"/>
            <a:ext cx="332737" cy="348426"/>
          </a:xfrm>
          <a:prstGeom prst="rect">
            <a:avLst/>
          </a:prstGeom>
        </p:spPr>
        <p:txBody>
          <a:bodyPr/>
          <a:lstStyle>
            <a:lvl1pPr>
              <a:defRPr b="1" sz="1900">
                <a:latin typeface="Times New Roman"/>
                <a:ea typeface="Times New Roman"/>
                <a:cs typeface="Times New Roman"/>
                <a:sym typeface="Times New Roman"/>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0_標題及內容">
    <p:spTree>
      <p:nvGrpSpPr>
        <p:cNvPr id="1" name=""/>
        <p:cNvGrpSpPr/>
        <p:nvPr/>
      </p:nvGrpSpPr>
      <p:grpSpPr>
        <a:xfrm>
          <a:off x="0" y="0"/>
          <a:ext cx="0" cy="0"/>
          <a:chOff x="0" y="0"/>
          <a:chExt cx="0" cy="0"/>
        </a:xfrm>
      </p:grpSpPr>
      <p:sp>
        <p:nvSpPr>
          <p:cNvPr id="57" name="모서리가 둥근 직사각형 4"/>
          <p:cNvSpPr/>
          <p:nvPr/>
        </p:nvSpPr>
        <p:spPr>
          <a:xfrm>
            <a:off x="83332" y="22157"/>
            <a:ext cx="6912768" cy="592177"/>
          </a:xfrm>
          <a:prstGeom prst="roundRect">
            <a:avLst>
              <a:gd name="adj" fmla="val 50000"/>
            </a:avLst>
          </a:prstGeom>
          <a:solidFill>
            <a:srgbClr val="002060"/>
          </a:solidFill>
          <a:ln w="12700">
            <a:miter lim="400000"/>
          </a:ln>
        </p:spPr>
        <p:txBody>
          <a:bodyPr lIns="45718" tIns="45718" rIns="45718" bIns="45718" anchor="ctr"/>
          <a:lstStyle/>
          <a:p>
            <a:pPr>
              <a:defRPr b="1" i="1" sz="3600">
                <a:solidFill>
                  <a:srgbClr val="FFFFFF"/>
                </a:solidFill>
                <a:latin typeface="Times New Roman"/>
                <a:ea typeface="Times New Roman"/>
                <a:cs typeface="Times New Roman"/>
                <a:sym typeface="Times New Roman"/>
              </a:defRPr>
            </a:pPr>
          </a:p>
        </p:txBody>
      </p:sp>
      <p:sp>
        <p:nvSpPr>
          <p:cNvPr id="58" name="직선 연결선 8"/>
          <p:cNvSpPr/>
          <p:nvPr/>
        </p:nvSpPr>
        <p:spPr>
          <a:xfrm>
            <a:off x="6924092" y="512676"/>
            <a:ext cx="4926730" cy="1"/>
          </a:xfrm>
          <a:prstGeom prst="line">
            <a:avLst/>
          </a:prstGeom>
          <a:ln w="19050">
            <a:solidFill>
              <a:srgbClr val="002060"/>
            </a:solidFill>
            <a:miter/>
            <a:tailEnd type="oval"/>
          </a:ln>
        </p:spPr>
        <p:txBody>
          <a:bodyPr lIns="45718" tIns="45718" rIns="45718" bIns="45718"/>
          <a:lstStyle/>
          <a:p>
            <a:pPr/>
          </a:p>
        </p:txBody>
      </p:sp>
      <p:pic>
        <p:nvPicPr>
          <p:cNvPr id="59" name="圖片 15" descr="圖片 15"/>
          <p:cNvPicPr>
            <a:picLocks noChangeAspect="1"/>
          </p:cNvPicPr>
          <p:nvPr/>
        </p:nvPicPr>
        <p:blipFill>
          <a:blip r:embed="rId2">
            <a:extLst/>
          </a:blip>
          <a:stretch>
            <a:fillRect/>
          </a:stretch>
        </p:blipFill>
        <p:spPr>
          <a:xfrm>
            <a:off x="100484" y="38268"/>
            <a:ext cx="580601" cy="576065"/>
          </a:xfrm>
          <a:prstGeom prst="rect">
            <a:avLst/>
          </a:prstGeom>
          <a:ln w="12700">
            <a:miter lim="400000"/>
          </a:ln>
        </p:spPr>
      </p:pic>
      <p:sp>
        <p:nvSpPr>
          <p:cNvPr id="60" name="Title Text"/>
          <p:cNvSpPr txBox="1"/>
          <p:nvPr>
            <p:ph type="title"/>
          </p:nvPr>
        </p:nvSpPr>
        <p:spPr>
          <a:xfrm>
            <a:off x="674458" y="80628"/>
            <a:ext cx="6338795" cy="576065"/>
          </a:xfrm>
          <a:prstGeom prst="rect">
            <a:avLst/>
          </a:prstGeom>
        </p:spPr>
        <p:txBody>
          <a:bodyPr anchor="b">
            <a:normAutofit fontScale="100000" lnSpcReduction="0"/>
          </a:bodyPr>
          <a:lstStyle>
            <a:lvl1pPr algn="l">
              <a:defRPr b="1" sz="3600">
                <a:solidFill>
                  <a:srgbClr val="FFFFFF"/>
                </a:solidFill>
                <a:latin typeface="微軟正黑體"/>
                <a:ea typeface="微軟正黑體"/>
                <a:cs typeface="微軟正黑體"/>
                <a:sym typeface="微軟正黑體"/>
              </a:defRPr>
            </a:lvl1pPr>
          </a:lstStyle>
          <a:p>
            <a:pPr/>
            <a:r>
              <a:t>Title Text</a:t>
            </a:r>
          </a:p>
        </p:txBody>
      </p:sp>
      <p:sp>
        <p:nvSpPr>
          <p:cNvPr id="61" name="Body Level One…"/>
          <p:cNvSpPr txBox="1"/>
          <p:nvPr>
            <p:ph type="body" idx="1"/>
          </p:nvPr>
        </p:nvSpPr>
        <p:spPr>
          <a:xfrm>
            <a:off x="240598" y="699053"/>
            <a:ext cx="11638796" cy="6078317"/>
          </a:xfrm>
          <a:prstGeom prst="rect">
            <a:avLst/>
          </a:prstGeom>
        </p:spPr>
        <p:txBody>
          <a:bodyPr>
            <a:normAutofit fontScale="100000" lnSpcReduction="0"/>
          </a:bodyPr>
          <a:lstStyle>
            <a:lvl1pPr marL="228600" indent="-228600">
              <a:spcBef>
                <a:spcPts val="1200"/>
              </a:spcBef>
              <a:buFontTx/>
              <a:buChar char="■"/>
              <a:defRPr b="1">
                <a:solidFill>
                  <a:srgbClr val="002060"/>
                </a:solidFill>
                <a:latin typeface="Times New Roman"/>
                <a:ea typeface="Times New Roman"/>
                <a:cs typeface="Times New Roman"/>
                <a:sym typeface="Times New Roman"/>
              </a:defRPr>
            </a:lvl1pPr>
            <a:lvl2pPr marL="666976" indent="-306612">
              <a:spcBef>
                <a:spcPts val="1200"/>
              </a:spcBef>
              <a:buFontTx/>
              <a:buChar char="➢"/>
              <a:defRPr b="1">
                <a:solidFill>
                  <a:srgbClr val="002060"/>
                </a:solidFill>
                <a:latin typeface="Times New Roman"/>
                <a:ea typeface="Times New Roman"/>
                <a:cs typeface="Times New Roman"/>
                <a:sym typeface="Times New Roman"/>
              </a:defRPr>
            </a:lvl2pPr>
            <a:lvl3pPr marL="1050925" indent="-330200">
              <a:spcBef>
                <a:spcPts val="1200"/>
              </a:spcBef>
              <a:buFontTx/>
              <a:buChar char="✓"/>
              <a:defRPr b="1">
                <a:solidFill>
                  <a:srgbClr val="002060"/>
                </a:solidFill>
                <a:latin typeface="Times New Roman"/>
                <a:ea typeface="Times New Roman"/>
                <a:cs typeface="Times New Roman"/>
                <a:sym typeface="Times New Roman"/>
              </a:defRPr>
            </a:lvl3pPr>
            <a:lvl4pPr marL="1209144" indent="-182032">
              <a:spcBef>
                <a:spcPts val="1200"/>
              </a:spcBef>
              <a:buFontTx/>
              <a:buChar char="•"/>
              <a:defRPr b="1">
                <a:solidFill>
                  <a:srgbClr val="002060"/>
                </a:solidFill>
                <a:latin typeface="Times New Roman"/>
                <a:ea typeface="Times New Roman"/>
                <a:cs typeface="Times New Roman"/>
                <a:sym typeface="Times New Roman"/>
              </a:defRPr>
            </a:lvl4pPr>
            <a:lvl5pPr marL="1389639" indent="-133926">
              <a:spcBef>
                <a:spcPts val="1200"/>
              </a:spcBef>
              <a:buFontTx/>
              <a:buChar char="•"/>
              <a:defRPr b="1">
                <a:solidFill>
                  <a:srgbClr val="002060"/>
                </a:solidFill>
                <a:latin typeface="Times New Roman"/>
                <a:ea typeface="Times New Roman"/>
                <a:cs typeface="Times New Roman"/>
                <a:sym typeface="Times New Roman"/>
              </a:defRPr>
            </a:lvl5pPr>
          </a:lstStyle>
          <a:p>
            <a:pPr/>
            <a:r>
              <a:t>Body Level One</a:t>
            </a:r>
          </a:p>
          <a:p>
            <a:pPr lvl="1"/>
            <a:r>
              <a:t>Body Level Two</a:t>
            </a:r>
          </a:p>
          <a:p>
            <a:pPr lvl="2"/>
            <a:r>
              <a:t>Body Level Three</a:t>
            </a:r>
          </a:p>
          <a:p>
            <a:pPr lvl="3"/>
            <a:r>
              <a:t>Body Level Four</a:t>
            </a:r>
          </a:p>
          <a:p>
            <a:pPr lvl="4"/>
            <a:r>
              <a:t>Body Level Five</a:t>
            </a:r>
          </a:p>
        </p:txBody>
      </p:sp>
      <p:pic>
        <p:nvPicPr>
          <p:cNvPr id="62" name="圖片 9" descr="圖片 9"/>
          <p:cNvPicPr>
            <a:picLocks noChangeAspect="1"/>
          </p:cNvPicPr>
          <p:nvPr/>
        </p:nvPicPr>
        <p:blipFill>
          <a:blip r:embed="rId3">
            <a:extLst/>
          </a:blip>
          <a:stretch>
            <a:fillRect/>
          </a:stretch>
        </p:blipFill>
        <p:spPr>
          <a:xfrm>
            <a:off x="10128446" y="80628"/>
            <a:ext cx="1565717" cy="682875"/>
          </a:xfrm>
          <a:prstGeom prst="rect">
            <a:avLst/>
          </a:prstGeom>
          <a:ln w="12700">
            <a:miter lim="400000"/>
          </a:ln>
        </p:spPr>
      </p:pic>
      <p:sp>
        <p:nvSpPr>
          <p:cNvPr id="63" name="Slide Number"/>
          <p:cNvSpPr txBox="1"/>
          <p:nvPr>
            <p:ph type="sldNum" sz="quarter" idx="2"/>
          </p:nvPr>
        </p:nvSpPr>
        <p:spPr>
          <a:xfrm>
            <a:off x="11859265" y="6497690"/>
            <a:ext cx="332737" cy="348426"/>
          </a:xfrm>
          <a:prstGeom prst="rect">
            <a:avLst/>
          </a:prstGeom>
        </p:spPr>
        <p:txBody>
          <a:bodyPr/>
          <a:lstStyle>
            <a:lvl1pPr>
              <a:defRPr b="1" sz="1900">
                <a:latin typeface="Times New Roman"/>
                <a:ea typeface="Times New Roman"/>
                <a:cs typeface="Times New Roman"/>
                <a:sym typeface="Times New Roman"/>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7_標題及內容">
    <p:spTree>
      <p:nvGrpSpPr>
        <p:cNvPr id="1" name=""/>
        <p:cNvGrpSpPr/>
        <p:nvPr/>
      </p:nvGrpSpPr>
      <p:grpSpPr>
        <a:xfrm>
          <a:off x="0" y="0"/>
          <a:ext cx="0" cy="0"/>
          <a:chOff x="0" y="0"/>
          <a:chExt cx="0" cy="0"/>
        </a:xfrm>
      </p:grpSpPr>
      <p:sp>
        <p:nvSpPr>
          <p:cNvPr id="70" name="직선 연결선 8"/>
          <p:cNvSpPr/>
          <p:nvPr/>
        </p:nvSpPr>
        <p:spPr>
          <a:xfrm flipV="1">
            <a:off x="5807967" y="512674"/>
            <a:ext cx="6042855" cy="3"/>
          </a:xfrm>
          <a:prstGeom prst="line">
            <a:avLst/>
          </a:prstGeom>
          <a:ln w="19050">
            <a:solidFill>
              <a:srgbClr val="7030A0"/>
            </a:solidFill>
            <a:miter/>
            <a:tailEnd type="oval"/>
          </a:ln>
        </p:spPr>
        <p:txBody>
          <a:bodyPr lIns="45718" tIns="45718" rIns="45718" bIns="45718"/>
          <a:lstStyle/>
          <a:p>
            <a:pPr/>
          </a:p>
        </p:txBody>
      </p:sp>
      <p:sp>
        <p:nvSpPr>
          <p:cNvPr id="71" name="모서리가 둥근 직사각형 4"/>
          <p:cNvSpPr/>
          <p:nvPr/>
        </p:nvSpPr>
        <p:spPr>
          <a:xfrm>
            <a:off x="83332" y="22157"/>
            <a:ext cx="6912768" cy="592177"/>
          </a:xfrm>
          <a:prstGeom prst="roundRect">
            <a:avLst>
              <a:gd name="adj" fmla="val 50000"/>
            </a:avLst>
          </a:prstGeom>
          <a:solidFill>
            <a:srgbClr val="7030A0"/>
          </a:solidFill>
          <a:ln w="12700">
            <a:miter lim="400000"/>
          </a:ln>
        </p:spPr>
        <p:txBody>
          <a:bodyPr lIns="45718" tIns="45718" rIns="45718" bIns="45718" anchor="ctr"/>
          <a:lstStyle/>
          <a:p>
            <a:pPr>
              <a:defRPr b="1" i="1" sz="4000">
                <a:solidFill>
                  <a:srgbClr val="FFFFFF"/>
                </a:solidFill>
                <a:latin typeface="Times New Roman"/>
                <a:ea typeface="Times New Roman"/>
                <a:cs typeface="Times New Roman"/>
                <a:sym typeface="Times New Roman"/>
              </a:defRPr>
            </a:pPr>
          </a:p>
        </p:txBody>
      </p:sp>
      <p:pic>
        <p:nvPicPr>
          <p:cNvPr id="72" name="圖片 15" descr="圖片 15"/>
          <p:cNvPicPr>
            <a:picLocks noChangeAspect="1"/>
          </p:cNvPicPr>
          <p:nvPr/>
        </p:nvPicPr>
        <p:blipFill>
          <a:blip r:embed="rId2">
            <a:extLst/>
          </a:blip>
          <a:stretch>
            <a:fillRect/>
          </a:stretch>
        </p:blipFill>
        <p:spPr>
          <a:xfrm>
            <a:off x="100484" y="38268"/>
            <a:ext cx="580601" cy="576065"/>
          </a:xfrm>
          <a:prstGeom prst="rect">
            <a:avLst/>
          </a:prstGeom>
          <a:ln w="12700">
            <a:miter lim="400000"/>
          </a:ln>
        </p:spPr>
      </p:pic>
      <p:sp>
        <p:nvSpPr>
          <p:cNvPr id="73" name="Title Text"/>
          <p:cNvSpPr txBox="1"/>
          <p:nvPr>
            <p:ph type="title"/>
          </p:nvPr>
        </p:nvSpPr>
        <p:spPr>
          <a:xfrm>
            <a:off x="674458" y="80628"/>
            <a:ext cx="6338795" cy="576065"/>
          </a:xfrm>
          <a:prstGeom prst="rect">
            <a:avLst/>
          </a:prstGeom>
        </p:spPr>
        <p:txBody>
          <a:bodyPr anchor="b">
            <a:normAutofit fontScale="100000" lnSpcReduction="0"/>
          </a:bodyPr>
          <a:lstStyle>
            <a:lvl1pPr algn="l">
              <a:defRPr b="1" sz="3600">
                <a:solidFill>
                  <a:srgbClr val="FFFFFF"/>
                </a:solidFill>
                <a:latin typeface="微軟正黑體"/>
                <a:ea typeface="微軟正黑體"/>
                <a:cs typeface="微軟正黑體"/>
                <a:sym typeface="微軟正黑體"/>
              </a:defRPr>
            </a:lvl1pPr>
          </a:lstStyle>
          <a:p>
            <a:pPr/>
            <a:r>
              <a:t>Title Text</a:t>
            </a:r>
          </a:p>
        </p:txBody>
      </p:sp>
      <p:sp>
        <p:nvSpPr>
          <p:cNvPr id="74" name="Body Level One…"/>
          <p:cNvSpPr txBox="1"/>
          <p:nvPr>
            <p:ph type="body" idx="1"/>
          </p:nvPr>
        </p:nvSpPr>
        <p:spPr>
          <a:xfrm>
            <a:off x="240598" y="715162"/>
            <a:ext cx="11638796" cy="5710667"/>
          </a:xfrm>
          <a:prstGeom prst="rect">
            <a:avLst/>
          </a:prstGeom>
        </p:spPr>
        <p:txBody>
          <a:bodyPr>
            <a:normAutofit fontScale="100000" lnSpcReduction="0"/>
          </a:bodyPr>
          <a:lstStyle>
            <a:lvl1pPr marL="228600" indent="-228600">
              <a:spcBef>
                <a:spcPts val="1200"/>
              </a:spcBef>
              <a:buFontTx/>
              <a:buChar char="■"/>
              <a:defRPr b="1">
                <a:solidFill>
                  <a:srgbClr val="7030A0"/>
                </a:solidFill>
                <a:latin typeface="Times New Roman"/>
                <a:ea typeface="Times New Roman"/>
                <a:cs typeface="Times New Roman"/>
                <a:sym typeface="Times New Roman"/>
              </a:defRPr>
            </a:lvl1pPr>
            <a:lvl2pPr marL="666976" indent="-306612">
              <a:spcBef>
                <a:spcPts val="1200"/>
              </a:spcBef>
              <a:buFontTx/>
              <a:buChar char="➢"/>
              <a:defRPr b="1">
                <a:solidFill>
                  <a:srgbClr val="7030A0"/>
                </a:solidFill>
                <a:latin typeface="Times New Roman"/>
                <a:ea typeface="Times New Roman"/>
                <a:cs typeface="Times New Roman"/>
                <a:sym typeface="Times New Roman"/>
              </a:defRPr>
            </a:lvl2pPr>
            <a:lvl3pPr marL="1050925" indent="-330200">
              <a:spcBef>
                <a:spcPts val="1200"/>
              </a:spcBef>
              <a:buFontTx/>
              <a:buChar char="✓"/>
              <a:defRPr b="1">
                <a:solidFill>
                  <a:srgbClr val="7030A0"/>
                </a:solidFill>
                <a:latin typeface="Times New Roman"/>
                <a:ea typeface="Times New Roman"/>
                <a:cs typeface="Times New Roman"/>
                <a:sym typeface="Times New Roman"/>
              </a:defRPr>
            </a:lvl3pPr>
            <a:lvl4pPr marL="1209144" indent="-182032">
              <a:spcBef>
                <a:spcPts val="1200"/>
              </a:spcBef>
              <a:buFontTx/>
              <a:buChar char="•"/>
              <a:defRPr b="1">
                <a:solidFill>
                  <a:srgbClr val="7030A0"/>
                </a:solidFill>
                <a:latin typeface="Times New Roman"/>
                <a:ea typeface="Times New Roman"/>
                <a:cs typeface="Times New Roman"/>
                <a:sym typeface="Times New Roman"/>
              </a:defRPr>
            </a:lvl4pPr>
            <a:lvl5pPr marL="1389639" indent="-133926">
              <a:spcBef>
                <a:spcPts val="1200"/>
              </a:spcBef>
              <a:buFontTx/>
              <a:buChar char="•"/>
              <a:defRPr b="1">
                <a:solidFill>
                  <a:srgbClr val="7030A0"/>
                </a:solidFill>
                <a:latin typeface="Times New Roman"/>
                <a:ea typeface="Times New Roman"/>
                <a:cs typeface="Times New Roman"/>
                <a:sym typeface="Times New Roman"/>
              </a:defRPr>
            </a:lvl5pPr>
          </a:lstStyle>
          <a:p>
            <a:pPr/>
            <a:r>
              <a:t>Body Level One</a:t>
            </a:r>
          </a:p>
          <a:p>
            <a:pPr lvl="1"/>
            <a:r>
              <a:t>Body Level Two</a:t>
            </a:r>
          </a:p>
          <a:p>
            <a:pPr lvl="2"/>
            <a:r>
              <a:t>Body Level Three</a:t>
            </a:r>
          </a:p>
          <a:p>
            <a:pPr lvl="3"/>
            <a:r>
              <a:t>Body Level Four</a:t>
            </a:r>
          </a:p>
          <a:p>
            <a:pPr lvl="4"/>
            <a:r>
              <a:t>Body Level Five</a:t>
            </a:r>
          </a:p>
        </p:txBody>
      </p:sp>
      <p:pic>
        <p:nvPicPr>
          <p:cNvPr id="75" name="圖片 9" descr="圖片 9"/>
          <p:cNvPicPr>
            <a:picLocks noChangeAspect="1"/>
          </p:cNvPicPr>
          <p:nvPr/>
        </p:nvPicPr>
        <p:blipFill>
          <a:blip r:embed="rId3">
            <a:extLst/>
          </a:blip>
          <a:stretch>
            <a:fillRect/>
          </a:stretch>
        </p:blipFill>
        <p:spPr>
          <a:xfrm>
            <a:off x="10128446" y="80628"/>
            <a:ext cx="1565717" cy="682875"/>
          </a:xfrm>
          <a:prstGeom prst="rect">
            <a:avLst/>
          </a:prstGeom>
          <a:ln w="12700">
            <a:miter lim="400000"/>
          </a:ln>
        </p:spPr>
      </p:pic>
      <p:sp>
        <p:nvSpPr>
          <p:cNvPr id="76" name="Slide Number"/>
          <p:cNvSpPr txBox="1"/>
          <p:nvPr>
            <p:ph type="sldNum" sz="quarter" idx="2"/>
          </p:nvPr>
        </p:nvSpPr>
        <p:spPr>
          <a:xfrm>
            <a:off x="11859265" y="6497690"/>
            <a:ext cx="332737" cy="348426"/>
          </a:xfrm>
          <a:prstGeom prst="rect">
            <a:avLst/>
          </a:prstGeom>
        </p:spPr>
        <p:txBody>
          <a:bodyPr/>
          <a:lstStyle>
            <a:lvl1pPr>
              <a:defRPr b="1" sz="1900">
                <a:latin typeface="Times New Roman"/>
                <a:ea typeface="Times New Roman"/>
                <a:cs typeface="Times New Roman"/>
                <a:sym typeface="Times New Roman"/>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826683" y="769937"/>
            <a:ext cx="9753601" cy="16684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Title Text</a:t>
            </a:r>
          </a:p>
        </p:txBody>
      </p:sp>
      <p:sp>
        <p:nvSpPr>
          <p:cNvPr id="3" name="Body Level One…"/>
          <p:cNvSpPr txBox="1"/>
          <p:nvPr>
            <p:ph type="body" idx="1"/>
          </p:nvPr>
        </p:nvSpPr>
        <p:spPr>
          <a:xfrm>
            <a:off x="6805083" y="2438400"/>
            <a:ext cx="4775201" cy="44196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78981" y="6232199"/>
            <a:ext cx="258620" cy="248302"/>
          </a:xfrm>
          <a:prstGeom prst="rect">
            <a:avLst/>
          </a:prstGeom>
          <a:ln w="12700">
            <a:miter lim="400000"/>
          </a:ln>
        </p:spPr>
        <p:txBody>
          <a:bodyPr wrap="none" lIns="45718" tIns="45718" rIns="45718" bIns="45718" anchor="ctr">
            <a:spAutoFit/>
          </a:bodyPr>
          <a:lstStyle>
            <a:lvl1pPr algn="r">
              <a:defRPr sz="1300">
                <a:latin typeface="+mj-lt"/>
                <a:ea typeface="+mj-ea"/>
                <a:cs typeface="+mj-cs"/>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jpeg"/><Relationship Id="rId4" Type="http://schemas.openxmlformats.org/officeDocument/2006/relationships/image" Target="../media/image5.jpeg"/><Relationship Id="rId5" Type="http://schemas.openxmlformats.org/officeDocument/2006/relationships/image" Target="../media/image6.jpe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12.jpeg"/><Relationship Id="rId7" Type="http://schemas.openxmlformats.org/officeDocument/2006/relationships/image" Target="../media/image9.png"/><Relationship Id="rId8"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4.jpeg"/><Relationship Id="rId4" Type="http://schemas.openxmlformats.org/officeDocument/2006/relationships/image" Target="../media/image15.jpeg"/><Relationship Id="rId5" Type="http://schemas.openxmlformats.org/officeDocument/2006/relationships/image" Target="../media/image16.jpeg"/><Relationship Id="rId6" Type="http://schemas.openxmlformats.org/officeDocument/2006/relationships/image" Target="../media/image17.jpeg"/><Relationship Id="rId7"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8.jpeg"/><Relationship Id="rId4" Type="http://schemas.openxmlformats.org/officeDocument/2006/relationships/image" Target="../media/image19.jpeg"/><Relationship Id="rId5" Type="http://schemas.openxmlformats.org/officeDocument/2006/relationships/image" Target="../media/image20.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1.jpeg"/><Relationship Id="rId4" Type="http://schemas.openxmlformats.org/officeDocument/2006/relationships/image" Target="../media/image2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3.jpeg"/><Relationship Id="rId4" Type="http://schemas.openxmlformats.org/officeDocument/2006/relationships/image" Target="../media/image24.jpeg"/><Relationship Id="rId5" Type="http://schemas.openxmlformats.org/officeDocument/2006/relationships/image" Target="../media/image25.jpeg"/><Relationship Id="rId6" Type="http://schemas.openxmlformats.org/officeDocument/2006/relationships/image" Target="../media/image20.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6.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7.jpeg"/><Relationship Id="rId4" Type="http://schemas.openxmlformats.org/officeDocument/2006/relationships/image" Target="../media/image28.jpeg"/><Relationship Id="rId5" Type="http://schemas.openxmlformats.org/officeDocument/2006/relationships/image" Target="../media/image29.jpeg"/><Relationship Id="rId6" Type="http://schemas.openxmlformats.org/officeDocument/2006/relationships/image" Target="../media/image30.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1.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2.jpeg"/><Relationship Id="rId4" Type="http://schemas.openxmlformats.org/officeDocument/2006/relationships/image" Target="../media/image33.jpeg"/><Relationship Id="rId5" Type="http://schemas.openxmlformats.org/officeDocument/2006/relationships/image" Target="../media/image34.jpeg"/><Relationship Id="rId6" Type="http://schemas.openxmlformats.org/officeDocument/2006/relationships/image" Target="../media/image35.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6.jpeg"/><Relationship Id="rId4" Type="http://schemas.openxmlformats.org/officeDocument/2006/relationships/image" Target="../media/image37.jpeg"/><Relationship Id="rId5" Type="http://schemas.openxmlformats.org/officeDocument/2006/relationships/image" Target="../media/image38.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9.jpeg"/><Relationship Id="rId4" Type="http://schemas.openxmlformats.org/officeDocument/2006/relationships/image" Target="../media/image40.jpeg"/><Relationship Id="rId5" Type="http://schemas.openxmlformats.org/officeDocument/2006/relationships/image" Target="../media/image41.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2.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3.jpeg"/><Relationship Id="rId4" Type="http://schemas.openxmlformats.org/officeDocument/2006/relationships/image" Target="../media/image44.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5.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6.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7.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6.png"/><Relationship Id="rId4" Type="http://schemas.openxmlformats.org/officeDocument/2006/relationships/image" Target="../media/image48.jpeg"/><Relationship Id="rId5" Type="http://schemas.openxmlformats.org/officeDocument/2006/relationships/image" Target="../media/image49.jpeg"/><Relationship Id="rId6" Type="http://schemas.openxmlformats.org/officeDocument/2006/relationships/image" Target="../media/image50.jpeg"/><Relationship Id="rId7" Type="http://schemas.openxmlformats.org/officeDocument/2006/relationships/image" Target="../media/image51.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7.png"/><Relationship Id="rId4" Type="http://schemas.openxmlformats.org/officeDocument/2006/relationships/image" Target="../media/image52.jpeg"/><Relationship Id="rId5" Type="http://schemas.openxmlformats.org/officeDocument/2006/relationships/image" Target="../media/image53.jpeg"/><Relationship Id="rId6" Type="http://schemas.openxmlformats.org/officeDocument/2006/relationships/image" Target="../media/image54.jpeg"/><Relationship Id="rId7" Type="http://schemas.openxmlformats.org/officeDocument/2006/relationships/image" Target="../media/image55.jpeg"/><Relationship Id="rId8" Type="http://schemas.openxmlformats.org/officeDocument/2006/relationships/image" Target="../media/image56.jpeg"/><Relationship Id="rId9" Type="http://schemas.openxmlformats.org/officeDocument/2006/relationships/image" Target="../media/image57.jpeg"/><Relationship Id="rId10" Type="http://schemas.openxmlformats.org/officeDocument/2006/relationships/image" Target="../media/image58.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59.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60.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61.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85" name="Picture 2" descr="Picture 2"/>
          <p:cNvPicPr>
            <a:picLocks noChangeAspect="1"/>
          </p:cNvPicPr>
          <p:nvPr/>
        </p:nvPicPr>
        <p:blipFill>
          <a:blip r:embed="rId3">
            <a:extLst/>
          </a:blip>
          <a:stretch>
            <a:fillRect/>
          </a:stretch>
        </p:blipFill>
        <p:spPr>
          <a:xfrm>
            <a:off x="685800" y="502919"/>
            <a:ext cx="1928842" cy="841250"/>
          </a:xfrm>
          <a:prstGeom prst="rect">
            <a:avLst/>
          </a:prstGeom>
          <a:ln w="12700">
            <a:miter lim="400000"/>
          </a:ln>
        </p:spPr>
      </p:pic>
      <p:sp>
        <p:nvSpPr>
          <p:cNvPr id="86" name="TextBox 3"/>
          <p:cNvSpPr txBox="1"/>
          <p:nvPr/>
        </p:nvSpPr>
        <p:spPr>
          <a:xfrm>
            <a:off x="685798" y="1609344"/>
            <a:ext cx="5532123"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2E6B4F"/>
                </a:solidFill>
                <a:latin typeface="Microsoft JhengHei"/>
                <a:ea typeface="Microsoft JhengHei"/>
                <a:cs typeface="Microsoft JhengHei"/>
                <a:sym typeface="Microsoft JhengHei"/>
              </a:defRPr>
            </a:lvl1pPr>
          </a:lstStyle>
          <a:p>
            <a:pPr/>
            <a:r>
              <a:t>歡迎蒞臨</a:t>
            </a:r>
          </a:p>
        </p:txBody>
      </p:sp>
      <p:sp>
        <p:nvSpPr>
          <p:cNvPr id="87" name="TextBox 4"/>
          <p:cNvSpPr txBox="1"/>
          <p:nvPr/>
        </p:nvSpPr>
        <p:spPr>
          <a:xfrm>
            <a:off x="685798" y="2103120"/>
            <a:ext cx="5532123"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5000"/>
              </a:lnSpc>
              <a:defRPr sz="2800">
                <a:solidFill>
                  <a:srgbClr val="1B2A22"/>
                </a:solidFill>
                <a:latin typeface="Cambria"/>
                <a:ea typeface="Microsoft JhengHei"/>
                <a:cs typeface="Cambria"/>
                <a:sym typeface="Cambria"/>
              </a:defRPr>
            </a:lvl1pPr>
          </a:lstStyle>
          <a:p>
            <a:pPr/>
            <a:r>
              <a:t>Green Health Research Center</a:t>
            </a:r>
          </a:p>
        </p:txBody>
      </p:sp>
      <p:sp>
        <p:nvSpPr>
          <p:cNvPr id="88" name="TextBox 5"/>
          <p:cNvSpPr txBox="1"/>
          <p:nvPr/>
        </p:nvSpPr>
        <p:spPr>
          <a:xfrm>
            <a:off x="685798" y="2816350"/>
            <a:ext cx="5532123"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2E6B4F"/>
                </a:solidFill>
                <a:latin typeface="Microsoft JhengHei"/>
                <a:ea typeface="Microsoft JhengHei"/>
                <a:cs typeface="Microsoft JhengHei"/>
                <a:sym typeface="Microsoft JhengHei"/>
              </a:defRPr>
            </a:lvl1pPr>
          </a:lstStyle>
          <a:p>
            <a:pPr/>
            <a:r>
              <a:t>綠色健康研究中心</a:t>
            </a:r>
          </a:p>
        </p:txBody>
      </p:sp>
      <p:sp>
        <p:nvSpPr>
          <p:cNvPr id="89" name="TextBox 6"/>
          <p:cNvSpPr txBox="1"/>
          <p:nvPr/>
        </p:nvSpPr>
        <p:spPr>
          <a:xfrm>
            <a:off x="685798" y="3383279"/>
            <a:ext cx="5394964"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300"/>
              </a:spcBef>
              <a:defRPr sz="1200">
                <a:solidFill>
                  <a:srgbClr val="6F7C75"/>
                </a:solidFill>
                <a:latin typeface="Cambria"/>
                <a:ea typeface="Microsoft JhengHei"/>
                <a:cs typeface="Cambria"/>
                <a:sym typeface="Cambria"/>
              </a:defRPr>
            </a:pPr>
            <a:r>
              <a:t>College of Bioresources and Agriculture, National Taiwan University</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國立臺灣大學生物資源暨農學院</a:t>
            </a:r>
          </a:p>
        </p:txBody>
      </p:sp>
      <p:sp>
        <p:nvSpPr>
          <p:cNvPr id="90" name="Rectangle 7"/>
          <p:cNvSpPr/>
          <p:nvPr/>
        </p:nvSpPr>
        <p:spPr>
          <a:xfrm>
            <a:off x="685800" y="4133086"/>
            <a:ext cx="1005839" cy="18290"/>
          </a:xfrm>
          <a:prstGeom prst="rect">
            <a:avLst/>
          </a:prstGeom>
          <a:solidFill>
            <a:srgbClr val="2E6B4F"/>
          </a:solidFill>
          <a:ln w="12700">
            <a:miter lim="400000"/>
          </a:ln>
        </p:spPr>
        <p:txBody>
          <a:bodyPr lIns="45718" tIns="45718" rIns="45718" bIns="45718" anchor="ctr"/>
          <a:lstStyle/>
          <a:p>
            <a:pPr algn="ctr">
              <a:defRPr>
                <a:solidFill>
                  <a:srgbClr val="FFFFFF"/>
                </a:solidFill>
              </a:defRPr>
            </a:pPr>
          </a:p>
        </p:txBody>
      </p:sp>
      <p:sp>
        <p:nvSpPr>
          <p:cNvPr id="91" name="TextBox 8"/>
          <p:cNvSpPr txBox="1"/>
          <p:nvPr/>
        </p:nvSpPr>
        <p:spPr>
          <a:xfrm>
            <a:off x="685798" y="4352544"/>
            <a:ext cx="5394964" cy="62991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spcBef>
                <a:spcPts val="500"/>
              </a:spcBef>
              <a:defRPr sz="1500">
                <a:solidFill>
                  <a:srgbClr val="1B2A22"/>
                </a:solidFill>
                <a:latin typeface="Cambria"/>
                <a:ea typeface="Microsoft JhengHei"/>
                <a:cs typeface="Cambria"/>
                <a:sym typeface="Cambria"/>
              </a:defRPr>
            </a:pPr>
            <a:r>
              <a:t>Making the health benefits of nature measurable, designable, and prescribable</a:t>
            </a:r>
            <a:endParaRPr>
              <a:latin typeface="+mj-lt"/>
              <a:ea typeface="+mj-ea"/>
              <a:cs typeface="+mj-cs"/>
              <a:sym typeface="Calibri"/>
            </a:endParaRPr>
          </a:p>
          <a:p>
            <a:pPr>
              <a:defRPr sz="1200">
                <a:solidFill>
                  <a:srgbClr val="2E6B4F"/>
                </a:solidFill>
                <a:latin typeface="Microsoft JhengHei"/>
                <a:ea typeface="Microsoft JhengHei"/>
                <a:cs typeface="Microsoft JhengHei"/>
                <a:sym typeface="Microsoft JhengHei"/>
              </a:defRPr>
            </a:pPr>
            <a:r>
              <a:t>讓自然的健康效益　可量測 · 可設計 · 可處方</a:t>
            </a:r>
          </a:p>
        </p:txBody>
      </p:sp>
      <p:sp>
        <p:nvSpPr>
          <p:cNvPr id="92" name="Rounded Rectangle 9"/>
          <p:cNvSpPr/>
          <p:nvPr/>
        </p:nvSpPr>
        <p:spPr>
          <a:xfrm>
            <a:off x="685800" y="5321808"/>
            <a:ext cx="5394960" cy="109728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pic>
        <p:nvPicPr>
          <p:cNvPr id="93" name="IMG_8193.jpeg" descr="IMG_8193.jpeg"/>
          <p:cNvPicPr>
            <a:picLocks noChangeAspect="1"/>
          </p:cNvPicPr>
          <p:nvPr/>
        </p:nvPicPr>
        <p:blipFill>
          <a:blip r:embed="rId4">
            <a:extLst/>
          </a:blip>
          <a:srcRect l="0" t="11958" r="20319" b="17544"/>
          <a:stretch>
            <a:fillRect/>
          </a:stretch>
        </p:blipFill>
        <p:spPr>
          <a:xfrm>
            <a:off x="6348564" y="-15465"/>
            <a:ext cx="5839769" cy="6888931"/>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THE CENTER  ·  中心組織</a:t>
            </a:r>
          </a:p>
        </p:txBody>
      </p:sp>
      <p:sp>
        <p:nvSpPr>
          <p:cNvPr id="98"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Organisation</a:t>
            </a:r>
          </a:p>
        </p:txBody>
      </p:sp>
      <p:sp>
        <p:nvSpPr>
          <p:cNvPr id="99"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組織架構</a:t>
            </a:r>
          </a:p>
        </p:txBody>
      </p:sp>
      <p:graphicFrame>
        <p:nvGraphicFramePr>
          <p:cNvPr id="100" name="Table 4"/>
          <p:cNvGraphicFramePr/>
          <p:nvPr/>
        </p:nvGraphicFramePr>
        <p:xfrm>
          <a:off x="685800" y="1938527"/>
          <a:ext cx="7635241" cy="367589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514600"/>
                <a:gridCol w="2651760"/>
                <a:gridCol w="2468880"/>
              </a:tblGrid>
              <a:tr h="347472">
                <a:tc>
                  <a:txBody>
                    <a:bodyPr/>
                    <a:lstStyle/>
                    <a:p>
                      <a:pPr algn="l">
                        <a:defRPr sz="1200">
                          <a:solidFill>
                            <a:srgbClr val="FFFFFF"/>
                          </a:solidFill>
                          <a:latin typeface="Cambria"/>
                          <a:ea typeface="Microsoft JhengHei"/>
                          <a:cs typeface="Cambria"/>
                          <a:sym typeface="Cambria"/>
                        </a:defRPr>
                      </a:pPr>
                      <a:r>
                        <a:t>Role </a:t>
                      </a:r>
                      <a:r>
                        <a:rPr b="1">
                          <a:latin typeface="Microsoft JhengHei"/>
                          <a:ea typeface="Microsoft JhengHei"/>
                          <a:cs typeface="Microsoft JhengHei"/>
                          <a:sym typeface="Microsoft JhengHei"/>
                        </a:rPr>
                        <a:t>職務</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2E6B4F"/>
                    </a:solidFill>
                  </a:tcPr>
                </a:tc>
                <a:tc>
                  <a:txBody>
                    <a:bodyPr/>
                    <a:lstStyle/>
                    <a:p>
                      <a:pPr algn="l">
                        <a:defRPr sz="1200">
                          <a:solidFill>
                            <a:srgbClr val="FFFFFF"/>
                          </a:solidFill>
                          <a:latin typeface="Cambria"/>
                          <a:ea typeface="Microsoft JhengHei"/>
                          <a:cs typeface="Cambria"/>
                          <a:sym typeface="Cambria"/>
                        </a:defRPr>
                      </a:pPr>
                      <a:r>
                        <a:t>Name </a:t>
                      </a:r>
                      <a:r>
                        <a:rPr b="1">
                          <a:latin typeface="Microsoft JhengHei"/>
                          <a:ea typeface="Microsoft JhengHei"/>
                          <a:cs typeface="Microsoft JhengHei"/>
                          <a:sym typeface="Microsoft JhengHei"/>
                        </a:rPr>
                        <a:t>姓名</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2E6B4F"/>
                    </a:solidFill>
                  </a:tcPr>
                </a:tc>
                <a:tc>
                  <a:txBody>
                    <a:bodyPr/>
                    <a:lstStyle/>
                    <a:p>
                      <a:pPr algn="l">
                        <a:defRPr sz="1200">
                          <a:solidFill>
                            <a:srgbClr val="FFFFFF"/>
                          </a:solidFill>
                          <a:latin typeface="Cambria"/>
                          <a:ea typeface="Microsoft JhengHei"/>
                          <a:cs typeface="Cambria"/>
                          <a:sym typeface="Cambria"/>
                        </a:defRPr>
                      </a:pPr>
                      <a:r>
                        <a:t>Department </a:t>
                      </a:r>
                      <a:r>
                        <a:rPr b="1">
                          <a:latin typeface="Microsoft JhengHei"/>
                          <a:ea typeface="Microsoft JhengHei"/>
                          <a:cs typeface="Microsoft JhengHei"/>
                          <a:sym typeface="Microsoft JhengHei"/>
                        </a:rPr>
                        <a:t>單位</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2E6B4F"/>
                    </a:solidFill>
                  </a:tcPr>
                </a:tc>
              </a:tr>
              <a:tr h="475487">
                <a:tc>
                  <a:txBody>
                    <a:bodyPr/>
                    <a:lstStyle/>
                    <a:p>
                      <a:pPr algn="l">
                        <a:defRPr sz="1000">
                          <a:solidFill>
                            <a:srgbClr val="1B2A22"/>
                          </a:solidFill>
                          <a:latin typeface="Cambria"/>
                          <a:ea typeface="Microsoft JhengHei"/>
                          <a:cs typeface="Cambria"/>
                          <a:sym typeface="Cambria"/>
                        </a:defRPr>
                      </a:pPr>
                      <a:r>
                        <a:t>Director </a:t>
                      </a:r>
                      <a:r>
                        <a:rPr>
                          <a:latin typeface="Microsoft JhengHei"/>
                          <a:ea typeface="Microsoft JhengHei"/>
                          <a:cs typeface="Microsoft JhengHei"/>
                          <a:sym typeface="Microsoft JhengHei"/>
                        </a:rPr>
                        <a:t>中心主任</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FFFFFF"/>
                    </a:solidFill>
                  </a:tcPr>
                </a:tc>
                <a:tc>
                  <a:txBody>
                    <a:bodyPr/>
                    <a:lstStyle/>
                    <a:p>
                      <a:pPr algn="l">
                        <a:defRPr sz="1000">
                          <a:solidFill>
                            <a:srgbClr val="1B2A22"/>
                          </a:solidFill>
                          <a:latin typeface="Cambria"/>
                          <a:ea typeface="Microsoft JhengHei"/>
                          <a:cs typeface="Cambria"/>
                          <a:sym typeface="Cambria"/>
                        </a:defRPr>
                      </a:pPr>
                      <a:r>
                        <a:t>Chun-Yen Chang</a:t>
                      </a:r>
                      <a:r>
                        <a:rPr>
                          <a:latin typeface="Microsoft JhengHei"/>
                          <a:ea typeface="Microsoft JhengHei"/>
                          <a:cs typeface="Microsoft JhengHei"/>
                          <a:sym typeface="Microsoft JhengHei"/>
                        </a:rPr>
                        <a:t>　張俊彥　特聘教授</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FFFFFF"/>
                    </a:solidFill>
                  </a:tcPr>
                </a:tc>
                <a:tc>
                  <a:txBody>
                    <a:bodyPr/>
                    <a:lstStyle/>
                    <a:p>
                      <a:pPr algn="l">
                        <a:defRPr sz="1000">
                          <a:solidFill>
                            <a:srgbClr val="1B2A22"/>
                          </a:solidFill>
                          <a:latin typeface="Cambria"/>
                          <a:ea typeface="Microsoft JhengHei"/>
                          <a:cs typeface="Cambria"/>
                          <a:sym typeface="Cambria"/>
                        </a:defRPr>
                      </a:pPr>
                      <a:r>
                        <a:t>Horticulture and Landscape Architecture </a:t>
                      </a:r>
                      <a:r>
                        <a:rPr>
                          <a:latin typeface="Microsoft JhengHei"/>
                          <a:ea typeface="Microsoft JhengHei"/>
                          <a:cs typeface="Microsoft JhengHei"/>
                          <a:sym typeface="Microsoft JhengHei"/>
                        </a:rPr>
                        <a:t>園藝暨景觀學系</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FFFFFF"/>
                    </a:solidFill>
                  </a:tcPr>
                </a:tc>
              </a:tr>
              <a:tr h="475487">
                <a:tc>
                  <a:txBody>
                    <a:bodyPr/>
                    <a:lstStyle/>
                    <a:p>
                      <a:pPr algn="l">
                        <a:defRPr sz="1000">
                          <a:solidFill>
                            <a:srgbClr val="1B2A22"/>
                          </a:solidFill>
                          <a:latin typeface="Cambria"/>
                          <a:ea typeface="Microsoft JhengHei"/>
                          <a:cs typeface="Cambria"/>
                          <a:sym typeface="Cambria"/>
                        </a:defRPr>
                      </a:pPr>
                      <a:r>
                        <a:t>Head, Horticultural Therapy </a:t>
                      </a:r>
                      <a:r>
                        <a:rPr>
                          <a:latin typeface="Microsoft JhengHei"/>
                          <a:ea typeface="Microsoft JhengHei"/>
                          <a:cs typeface="Microsoft JhengHei"/>
                          <a:sym typeface="Microsoft JhengHei"/>
                        </a:rPr>
                        <a:t>園藝療癒組</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EEF3EF"/>
                    </a:solidFill>
                  </a:tcPr>
                </a:tc>
                <a:tc>
                  <a:txBody>
                    <a:bodyPr/>
                    <a:lstStyle/>
                    <a:p>
                      <a:pPr algn="l">
                        <a:defRPr sz="1000">
                          <a:solidFill>
                            <a:srgbClr val="1B2A22"/>
                          </a:solidFill>
                          <a:latin typeface="Cambria"/>
                          <a:ea typeface="Microsoft JhengHei"/>
                          <a:cs typeface="Cambria"/>
                          <a:sym typeface="Cambria"/>
                        </a:defRPr>
                      </a:pPr>
                      <a:r>
                        <a:t>Po-Ju Chang</a:t>
                      </a:r>
                      <a:r>
                        <a:rPr>
                          <a:latin typeface="Microsoft JhengHei"/>
                          <a:ea typeface="Microsoft JhengHei"/>
                          <a:cs typeface="Microsoft JhengHei"/>
                          <a:sym typeface="Microsoft JhengHei"/>
                        </a:rPr>
                        <a:t>　張伯茹　副教授</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EEF3EF"/>
                    </a:solidFill>
                  </a:tcPr>
                </a:tc>
                <a:tc>
                  <a:txBody>
                    <a:bodyPr/>
                    <a:lstStyle/>
                    <a:p>
                      <a:pPr algn="l">
                        <a:defRPr sz="1000">
                          <a:solidFill>
                            <a:srgbClr val="1B2A22"/>
                          </a:solidFill>
                          <a:latin typeface="Cambria"/>
                          <a:ea typeface="Microsoft JhengHei"/>
                          <a:cs typeface="Cambria"/>
                          <a:sym typeface="Cambria"/>
                        </a:defRPr>
                      </a:pPr>
                      <a:r>
                        <a:t>Horticulture and Landscape Architecture </a:t>
                      </a:r>
                      <a:r>
                        <a:rPr>
                          <a:latin typeface="Microsoft JhengHei"/>
                          <a:ea typeface="Microsoft JhengHei"/>
                          <a:cs typeface="Microsoft JhengHei"/>
                          <a:sym typeface="Microsoft JhengHei"/>
                        </a:rPr>
                        <a:t>園藝暨景觀學系</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EEF3EF"/>
                    </a:solidFill>
                  </a:tcPr>
                </a:tc>
              </a:tr>
              <a:tr h="475487">
                <a:tc>
                  <a:txBody>
                    <a:bodyPr/>
                    <a:lstStyle/>
                    <a:p>
                      <a:pPr algn="l">
                        <a:defRPr sz="1000">
                          <a:solidFill>
                            <a:srgbClr val="1B2A22"/>
                          </a:solidFill>
                          <a:latin typeface="Cambria"/>
                          <a:ea typeface="Microsoft JhengHei"/>
                          <a:cs typeface="Cambria"/>
                          <a:sym typeface="Cambria"/>
                        </a:defRPr>
                      </a:pPr>
                      <a:r>
                        <a:t>Head, Forest Therapy </a:t>
                      </a:r>
                      <a:r>
                        <a:rPr>
                          <a:latin typeface="Microsoft JhengHei"/>
                          <a:ea typeface="Microsoft JhengHei"/>
                          <a:cs typeface="Microsoft JhengHei"/>
                          <a:sym typeface="Microsoft JhengHei"/>
                        </a:rPr>
                        <a:t>森林療癒組</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FFFFFF"/>
                    </a:solidFill>
                  </a:tcPr>
                </a:tc>
                <a:tc>
                  <a:txBody>
                    <a:bodyPr/>
                    <a:lstStyle/>
                    <a:p>
                      <a:pPr algn="l">
                        <a:defRPr sz="1000">
                          <a:solidFill>
                            <a:srgbClr val="1B2A22"/>
                          </a:solidFill>
                          <a:latin typeface="Cambria"/>
                          <a:ea typeface="Microsoft JhengHei"/>
                          <a:cs typeface="Cambria"/>
                          <a:sym typeface="Cambria"/>
                        </a:defRPr>
                      </a:pPr>
                      <a:r>
                        <a:t>Chia-Pin Yu</a:t>
                      </a:r>
                      <a:r>
                        <a:rPr>
                          <a:latin typeface="Microsoft JhengHei"/>
                          <a:ea typeface="Microsoft JhengHei"/>
                          <a:cs typeface="Microsoft JhengHei"/>
                          <a:sym typeface="Microsoft JhengHei"/>
                        </a:rPr>
                        <a:t>　余家斌　教授</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FFFFFF"/>
                    </a:solidFill>
                  </a:tcPr>
                </a:tc>
                <a:tc>
                  <a:txBody>
                    <a:bodyPr/>
                    <a:lstStyle/>
                    <a:p>
                      <a:pPr algn="l">
                        <a:defRPr sz="1000">
                          <a:solidFill>
                            <a:srgbClr val="1B2A22"/>
                          </a:solidFill>
                          <a:latin typeface="Cambria"/>
                          <a:ea typeface="Microsoft JhengHei"/>
                          <a:cs typeface="Cambria"/>
                          <a:sym typeface="Cambria"/>
                        </a:defRPr>
                      </a:pPr>
                      <a:r>
                        <a:t>Forestry and Resource Conservation </a:t>
                      </a:r>
                      <a:r>
                        <a:rPr>
                          <a:latin typeface="Microsoft JhengHei"/>
                          <a:ea typeface="Microsoft JhengHei"/>
                          <a:cs typeface="Microsoft JhengHei"/>
                          <a:sym typeface="Microsoft JhengHei"/>
                        </a:rPr>
                        <a:t>森林環境暨資源學系</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FFFFFF"/>
                    </a:solidFill>
                  </a:tcPr>
                </a:tc>
              </a:tr>
              <a:tr h="475487">
                <a:tc>
                  <a:txBody>
                    <a:bodyPr/>
                    <a:lstStyle/>
                    <a:p>
                      <a:pPr algn="l">
                        <a:defRPr sz="1000">
                          <a:solidFill>
                            <a:srgbClr val="1B2A22"/>
                          </a:solidFill>
                          <a:latin typeface="Cambria"/>
                          <a:ea typeface="Microsoft JhengHei"/>
                          <a:cs typeface="Cambria"/>
                          <a:sym typeface="Cambria"/>
                        </a:defRPr>
                      </a:pPr>
                      <a:r>
                        <a:t>Head, Landscape Therapy </a:t>
                      </a:r>
                      <a:r>
                        <a:rPr>
                          <a:latin typeface="Microsoft JhengHei"/>
                          <a:ea typeface="Microsoft JhengHei"/>
                          <a:cs typeface="Microsoft JhengHei"/>
                          <a:sym typeface="Microsoft JhengHei"/>
                        </a:rPr>
                        <a:t>景觀療癒組</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EEF3EF"/>
                    </a:solidFill>
                  </a:tcPr>
                </a:tc>
                <a:tc>
                  <a:txBody>
                    <a:bodyPr/>
                    <a:lstStyle/>
                    <a:p>
                      <a:pPr algn="l">
                        <a:defRPr sz="1000">
                          <a:solidFill>
                            <a:srgbClr val="1B2A22"/>
                          </a:solidFill>
                          <a:latin typeface="Cambria"/>
                          <a:ea typeface="Microsoft JhengHei"/>
                          <a:cs typeface="Cambria"/>
                          <a:sym typeface="Cambria"/>
                        </a:defRPr>
                      </a:pPr>
                      <a:r>
                        <a:t>Chia-Kuen Cheng</a:t>
                      </a:r>
                      <a:r>
                        <a:rPr>
                          <a:latin typeface="Microsoft JhengHei"/>
                          <a:ea typeface="Microsoft JhengHei"/>
                          <a:cs typeface="Microsoft JhengHei"/>
                          <a:sym typeface="Microsoft JhengHei"/>
                        </a:rPr>
                        <a:t>　鄭佳昆　副教授</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EEF3EF"/>
                    </a:solidFill>
                  </a:tcPr>
                </a:tc>
                <a:tc>
                  <a:txBody>
                    <a:bodyPr/>
                    <a:lstStyle/>
                    <a:p>
                      <a:pPr algn="l">
                        <a:defRPr sz="1000">
                          <a:solidFill>
                            <a:srgbClr val="1B2A22"/>
                          </a:solidFill>
                          <a:latin typeface="Cambria"/>
                          <a:ea typeface="Microsoft JhengHei"/>
                          <a:cs typeface="Cambria"/>
                          <a:sym typeface="Cambria"/>
                        </a:defRPr>
                      </a:pPr>
                      <a:r>
                        <a:t>Horticulture and Landscape Architecture </a:t>
                      </a:r>
                      <a:r>
                        <a:rPr>
                          <a:latin typeface="Microsoft JhengHei"/>
                          <a:ea typeface="Microsoft JhengHei"/>
                          <a:cs typeface="Microsoft JhengHei"/>
                          <a:sym typeface="Microsoft JhengHei"/>
                        </a:rPr>
                        <a:t>園藝暨景觀學系</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EEF3EF"/>
                    </a:solidFill>
                  </a:tcPr>
                </a:tc>
              </a:tr>
              <a:tr h="475487">
                <a:tc>
                  <a:txBody>
                    <a:bodyPr/>
                    <a:lstStyle/>
                    <a:p>
                      <a:pPr algn="l">
                        <a:defRPr sz="1000">
                          <a:solidFill>
                            <a:srgbClr val="1B2A22"/>
                          </a:solidFill>
                          <a:latin typeface="Cambria"/>
                          <a:ea typeface="Microsoft JhengHei"/>
                          <a:cs typeface="Cambria"/>
                          <a:sym typeface="Cambria"/>
                        </a:defRPr>
                      </a:pPr>
                      <a:r>
                        <a:t>Head, Green Health Tourism </a:t>
                      </a:r>
                      <a:r>
                        <a:rPr>
                          <a:latin typeface="Microsoft JhengHei"/>
                          <a:ea typeface="Microsoft JhengHei"/>
                          <a:cs typeface="Microsoft JhengHei"/>
                          <a:sym typeface="Microsoft JhengHei"/>
                        </a:rPr>
                        <a:t>綠色健康旅遊組</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FFFFFF"/>
                    </a:solidFill>
                  </a:tcPr>
                </a:tc>
                <a:tc>
                  <a:txBody>
                    <a:bodyPr/>
                    <a:lstStyle/>
                    <a:p>
                      <a:pPr algn="l">
                        <a:defRPr sz="1000">
                          <a:solidFill>
                            <a:srgbClr val="1B2A22"/>
                          </a:solidFill>
                          <a:latin typeface="Cambria"/>
                          <a:ea typeface="Microsoft JhengHei"/>
                          <a:cs typeface="Cambria"/>
                          <a:sym typeface="Cambria"/>
                        </a:defRPr>
                      </a:pPr>
                      <a:r>
                        <a:t>Bau-Show Lin</a:t>
                      </a:r>
                      <a:r>
                        <a:rPr>
                          <a:latin typeface="Microsoft JhengHei"/>
                          <a:ea typeface="Microsoft JhengHei"/>
                          <a:cs typeface="Microsoft JhengHei"/>
                          <a:sym typeface="Microsoft JhengHei"/>
                        </a:rPr>
                        <a:t>　林寶秀　教授</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FFFFFF"/>
                    </a:solidFill>
                  </a:tcPr>
                </a:tc>
                <a:tc>
                  <a:txBody>
                    <a:bodyPr/>
                    <a:lstStyle/>
                    <a:p>
                      <a:pPr algn="l">
                        <a:defRPr sz="1000">
                          <a:solidFill>
                            <a:srgbClr val="1B2A22"/>
                          </a:solidFill>
                          <a:latin typeface="Cambria"/>
                          <a:ea typeface="Microsoft JhengHei"/>
                          <a:cs typeface="Cambria"/>
                          <a:sym typeface="Cambria"/>
                        </a:defRPr>
                      </a:pPr>
                      <a:r>
                        <a:t>Horticulture and Landscape Architecture </a:t>
                      </a:r>
                      <a:r>
                        <a:rPr>
                          <a:latin typeface="Microsoft JhengHei"/>
                          <a:ea typeface="Microsoft JhengHei"/>
                          <a:cs typeface="Microsoft JhengHei"/>
                          <a:sym typeface="Microsoft JhengHei"/>
                        </a:rPr>
                        <a:t>園藝暨景觀學系</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FFFFFF"/>
                    </a:solidFill>
                  </a:tcPr>
                </a:tc>
              </a:tr>
              <a:tr h="475487">
                <a:tc>
                  <a:txBody>
                    <a:bodyPr/>
                    <a:lstStyle/>
                    <a:p>
                      <a:pPr algn="l">
                        <a:defRPr sz="1000">
                          <a:solidFill>
                            <a:srgbClr val="1B2A22"/>
                          </a:solidFill>
                          <a:latin typeface="Cambria"/>
                          <a:ea typeface="Microsoft JhengHei"/>
                          <a:cs typeface="Cambria"/>
                          <a:sym typeface="Cambria"/>
                        </a:defRPr>
                      </a:pPr>
                      <a:r>
                        <a:t>Head, Green Health Communication </a:t>
                      </a:r>
                      <a:r>
                        <a:rPr>
                          <a:latin typeface="Microsoft JhengHei"/>
                          <a:ea typeface="Microsoft JhengHei"/>
                          <a:cs typeface="Microsoft JhengHei"/>
                          <a:sym typeface="Microsoft JhengHei"/>
                        </a:rPr>
                        <a:t>綠色健康傳播組</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EEF3EF"/>
                    </a:solidFill>
                  </a:tcPr>
                </a:tc>
                <a:tc>
                  <a:txBody>
                    <a:bodyPr/>
                    <a:lstStyle/>
                    <a:p>
                      <a:pPr algn="l">
                        <a:defRPr sz="1000">
                          <a:solidFill>
                            <a:srgbClr val="1B2A22"/>
                          </a:solidFill>
                          <a:latin typeface="Cambria"/>
                          <a:ea typeface="Microsoft JhengHei"/>
                          <a:cs typeface="Cambria"/>
                          <a:sym typeface="Cambria"/>
                        </a:defRPr>
                      </a:pPr>
                      <a:r>
                        <a:t>Yu-Chan Chiu</a:t>
                      </a:r>
                      <a:r>
                        <a:rPr>
                          <a:latin typeface="Microsoft JhengHei"/>
                          <a:ea typeface="Microsoft JhengHei"/>
                          <a:cs typeface="Microsoft JhengHei"/>
                          <a:sym typeface="Microsoft JhengHei"/>
                        </a:rPr>
                        <a:t>　邱玉蟬　教授</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EEF3EF"/>
                    </a:solidFill>
                  </a:tcPr>
                </a:tc>
                <a:tc>
                  <a:txBody>
                    <a:bodyPr/>
                    <a:lstStyle/>
                    <a:p>
                      <a:pPr algn="l">
                        <a:defRPr sz="1000">
                          <a:solidFill>
                            <a:srgbClr val="1B2A22"/>
                          </a:solidFill>
                          <a:latin typeface="Cambria"/>
                          <a:ea typeface="Microsoft JhengHei"/>
                          <a:cs typeface="Cambria"/>
                          <a:sym typeface="Cambria"/>
                        </a:defRPr>
                      </a:pPr>
                      <a:r>
                        <a:t>Bio-Industry Communication and Development </a:t>
                      </a:r>
                      <a:r>
                        <a:rPr>
                          <a:latin typeface="Microsoft JhengHei"/>
                          <a:ea typeface="Microsoft JhengHei"/>
                          <a:cs typeface="Microsoft JhengHei"/>
                          <a:sym typeface="Microsoft JhengHei"/>
                        </a:rPr>
                        <a:t>生物產業傳播暨發展學系</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EEF3EF"/>
                    </a:solidFill>
                  </a:tcPr>
                </a:tc>
              </a:tr>
              <a:tr h="475487">
                <a:tc>
                  <a:txBody>
                    <a:bodyPr/>
                    <a:lstStyle/>
                    <a:p>
                      <a:pPr algn="l">
                        <a:defRPr sz="1000">
                          <a:solidFill>
                            <a:srgbClr val="1B2A22"/>
                          </a:solidFill>
                          <a:latin typeface="Cambria"/>
                          <a:ea typeface="Microsoft JhengHei"/>
                          <a:cs typeface="Cambria"/>
                          <a:sym typeface="Cambria"/>
                        </a:defRPr>
                      </a:pPr>
                      <a:r>
                        <a:t>Advisors </a:t>
                      </a:r>
                      <a:r>
                        <a:rPr>
                          <a:latin typeface="Microsoft JhengHei"/>
                          <a:ea typeface="Microsoft JhengHei"/>
                          <a:cs typeface="Microsoft JhengHei"/>
                          <a:sym typeface="Microsoft JhengHei"/>
                        </a:rPr>
                        <a:t>顧問</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FFFFFF"/>
                    </a:solidFill>
                  </a:tcPr>
                </a:tc>
                <a:tc>
                  <a:txBody>
                    <a:bodyPr/>
                    <a:lstStyle/>
                    <a:p>
                      <a:pPr algn="l">
                        <a:defRPr sz="1900"/>
                      </a:pPr>
                      <a:r>
                        <a:rPr sz="1000">
                          <a:solidFill>
                            <a:srgbClr val="1B2A22"/>
                          </a:solidFill>
                          <a:latin typeface="Cambria"/>
                          <a:ea typeface="Microsoft JhengHei"/>
                          <a:cs typeface="Cambria"/>
                          <a:sym typeface="Cambria"/>
                        </a:rPr>
                        <a:t>Te-Ming Yeh · Yu-Sen Chang · Ming-Jer Tsai · Hsiao-Wei Yuan · Chun-Hao Wang</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FFFFFF"/>
                    </a:solidFill>
                  </a:tcPr>
                </a:tc>
                <a:tc>
                  <a:txBody>
                    <a:bodyPr/>
                    <a:lstStyle/>
                    <a:p>
                      <a:pPr algn="l">
                        <a:defRPr sz="1900"/>
                      </a:pPr>
                      <a:r>
                        <a:rPr sz="1000">
                          <a:solidFill>
                            <a:srgbClr val="1B2A22"/>
                          </a:solidFill>
                          <a:latin typeface="Microsoft JhengHei"/>
                          <a:ea typeface="Microsoft JhengHei"/>
                          <a:cs typeface="Microsoft JhengHei"/>
                          <a:sym typeface="Microsoft JhengHei"/>
                        </a:rPr>
                        <a:t>園藝、森林、生傳</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FFFFFF"/>
                    </a:solidFill>
                  </a:tcPr>
                </a:tc>
              </a:tr>
            </a:tbl>
          </a:graphicData>
        </a:graphic>
      </p:graphicFrame>
      <p:sp>
        <p:nvSpPr>
          <p:cNvPr id="101" name="Rounded Rectangle 5"/>
          <p:cNvSpPr/>
          <p:nvPr/>
        </p:nvSpPr>
        <p:spPr>
          <a:xfrm>
            <a:off x="8549640" y="1938527"/>
            <a:ext cx="2953514" cy="3675887"/>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102" name="TextBox 6"/>
          <p:cNvSpPr txBox="1"/>
          <p:nvPr/>
        </p:nvSpPr>
        <p:spPr>
          <a:xfrm>
            <a:off x="8796528" y="2103120"/>
            <a:ext cx="2459736"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2E6B4F"/>
                </a:solidFill>
                <a:latin typeface="Cambria"/>
                <a:ea typeface="Microsoft JhengHei"/>
                <a:cs typeface="Cambria"/>
                <a:sym typeface="Cambria"/>
              </a:defRPr>
            </a:lvl1pPr>
          </a:lstStyle>
          <a:p>
            <a:pPr/>
            <a:r>
              <a:t>Laboratory leads</a:t>
            </a:r>
          </a:p>
        </p:txBody>
      </p:sp>
      <p:sp>
        <p:nvSpPr>
          <p:cNvPr id="103" name="TextBox 7"/>
          <p:cNvSpPr txBox="1"/>
          <p:nvPr/>
        </p:nvSpPr>
        <p:spPr>
          <a:xfrm>
            <a:off x="8796528" y="2377438"/>
            <a:ext cx="2459736"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6F7C75"/>
                </a:solidFill>
                <a:latin typeface="Microsoft JhengHei"/>
                <a:ea typeface="Microsoft JhengHei"/>
                <a:cs typeface="Microsoft JhengHei"/>
                <a:sym typeface="Microsoft JhengHei"/>
              </a:defRPr>
            </a:lvl1pPr>
          </a:lstStyle>
          <a:p>
            <a:pPr/>
            <a:r>
              <a:t>實驗室負責人</a:t>
            </a:r>
          </a:p>
        </p:txBody>
      </p:sp>
      <p:sp>
        <p:nvSpPr>
          <p:cNvPr id="104" name="TextBox 8"/>
          <p:cNvSpPr txBox="1"/>
          <p:nvPr/>
        </p:nvSpPr>
        <p:spPr>
          <a:xfrm>
            <a:off x="8796528" y="2724912"/>
            <a:ext cx="54864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E6B4F"/>
                </a:solidFill>
                <a:latin typeface="Cambria"/>
                <a:ea typeface="Microsoft JhengHei"/>
                <a:cs typeface="Cambria"/>
                <a:sym typeface="Cambria"/>
              </a:defRPr>
            </a:lvl1pPr>
          </a:lstStyle>
          <a:p>
            <a:pPr/>
            <a:r>
              <a:t>301</a:t>
            </a:r>
          </a:p>
        </p:txBody>
      </p:sp>
      <p:sp>
        <p:nvSpPr>
          <p:cNvPr id="105" name="TextBox 9"/>
          <p:cNvSpPr txBox="1"/>
          <p:nvPr/>
        </p:nvSpPr>
        <p:spPr>
          <a:xfrm>
            <a:off x="9372600" y="2688336"/>
            <a:ext cx="1883666" cy="3073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100"/>
              </a:spcBef>
              <a:defRPr sz="1100">
                <a:solidFill>
                  <a:srgbClr val="1B2A22"/>
                </a:solidFill>
                <a:latin typeface="Cambria"/>
                <a:ea typeface="Microsoft JhengHei"/>
                <a:cs typeface="Cambria"/>
                <a:sym typeface="Cambria"/>
              </a:defRPr>
            </a:pPr>
            <a:r>
              <a:t>Chun-Yen Chang</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張俊彥</a:t>
            </a:r>
          </a:p>
        </p:txBody>
      </p:sp>
      <p:sp>
        <p:nvSpPr>
          <p:cNvPr id="106" name="TextBox 10"/>
          <p:cNvSpPr txBox="1"/>
          <p:nvPr/>
        </p:nvSpPr>
        <p:spPr>
          <a:xfrm>
            <a:off x="8796528" y="3182112"/>
            <a:ext cx="54864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E6B4F"/>
                </a:solidFill>
                <a:latin typeface="Cambria"/>
                <a:ea typeface="Microsoft JhengHei"/>
                <a:cs typeface="Cambria"/>
                <a:sym typeface="Cambria"/>
              </a:defRPr>
            </a:lvl1pPr>
          </a:lstStyle>
          <a:p>
            <a:pPr/>
            <a:r>
              <a:t>302</a:t>
            </a:r>
          </a:p>
        </p:txBody>
      </p:sp>
      <p:sp>
        <p:nvSpPr>
          <p:cNvPr id="107" name="TextBox 11"/>
          <p:cNvSpPr txBox="1"/>
          <p:nvPr/>
        </p:nvSpPr>
        <p:spPr>
          <a:xfrm>
            <a:off x="9372600" y="3145536"/>
            <a:ext cx="1883666" cy="3073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100"/>
              </a:spcBef>
              <a:defRPr sz="1100">
                <a:solidFill>
                  <a:srgbClr val="1B2A22"/>
                </a:solidFill>
                <a:latin typeface="Cambria"/>
                <a:ea typeface="Microsoft JhengHei"/>
                <a:cs typeface="Cambria"/>
                <a:sym typeface="Cambria"/>
              </a:defRPr>
            </a:pPr>
            <a:r>
              <a:t>Bau-Show Lin</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林寶秀</a:t>
            </a:r>
          </a:p>
        </p:txBody>
      </p:sp>
      <p:sp>
        <p:nvSpPr>
          <p:cNvPr id="108" name="TextBox 12"/>
          <p:cNvSpPr txBox="1"/>
          <p:nvPr/>
        </p:nvSpPr>
        <p:spPr>
          <a:xfrm>
            <a:off x="8796528" y="3639312"/>
            <a:ext cx="54864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E6B4F"/>
                </a:solidFill>
                <a:latin typeface="Cambria"/>
                <a:ea typeface="Microsoft JhengHei"/>
                <a:cs typeface="Cambria"/>
                <a:sym typeface="Cambria"/>
              </a:defRPr>
            </a:lvl1pPr>
          </a:lstStyle>
          <a:p>
            <a:pPr/>
            <a:r>
              <a:t>303</a:t>
            </a:r>
          </a:p>
        </p:txBody>
      </p:sp>
      <p:sp>
        <p:nvSpPr>
          <p:cNvPr id="109" name="TextBox 13"/>
          <p:cNvSpPr txBox="1"/>
          <p:nvPr/>
        </p:nvSpPr>
        <p:spPr>
          <a:xfrm>
            <a:off x="9372600" y="3602736"/>
            <a:ext cx="1883666" cy="5120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100"/>
              </a:spcBef>
              <a:defRPr sz="1100">
                <a:solidFill>
                  <a:srgbClr val="1B2A22"/>
                </a:solidFill>
                <a:latin typeface="Cambria"/>
                <a:ea typeface="Microsoft JhengHei"/>
                <a:cs typeface="Cambria"/>
                <a:sym typeface="Cambria"/>
              </a:defRPr>
            </a:pPr>
            <a:r>
              <a:t>Hui-Mei Chen · Chia-Kuen Cheng</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陳惠美・鄭佳昆</a:t>
            </a:r>
          </a:p>
        </p:txBody>
      </p:sp>
      <p:sp>
        <p:nvSpPr>
          <p:cNvPr id="110" name="TextBox 14"/>
          <p:cNvSpPr txBox="1"/>
          <p:nvPr/>
        </p:nvSpPr>
        <p:spPr>
          <a:xfrm>
            <a:off x="8796528" y="4389120"/>
            <a:ext cx="54864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E6B4F"/>
                </a:solidFill>
                <a:latin typeface="Cambria"/>
                <a:ea typeface="Microsoft JhengHei"/>
                <a:cs typeface="Cambria"/>
                <a:sym typeface="Cambria"/>
              </a:defRPr>
            </a:lvl1pPr>
          </a:lstStyle>
          <a:p>
            <a:pPr/>
            <a:r>
              <a:t>304</a:t>
            </a:r>
          </a:p>
        </p:txBody>
      </p:sp>
      <p:sp>
        <p:nvSpPr>
          <p:cNvPr id="111" name="TextBox 15"/>
          <p:cNvSpPr txBox="1"/>
          <p:nvPr/>
        </p:nvSpPr>
        <p:spPr>
          <a:xfrm>
            <a:off x="9372600" y="4352544"/>
            <a:ext cx="1883666" cy="3073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100"/>
              </a:spcBef>
              <a:defRPr sz="1100">
                <a:solidFill>
                  <a:srgbClr val="1B2A22"/>
                </a:solidFill>
                <a:latin typeface="Cambria"/>
                <a:ea typeface="Microsoft JhengHei"/>
                <a:cs typeface="Cambria"/>
                <a:sym typeface="Cambria"/>
              </a:defRPr>
            </a:pPr>
            <a:r>
              <a:t>Po-Ju Chang</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張伯茹</a:t>
            </a:r>
          </a:p>
        </p:txBody>
      </p:sp>
      <p:sp>
        <p:nvSpPr>
          <p:cNvPr id="112" name="TextBox 16"/>
          <p:cNvSpPr txBox="1"/>
          <p:nvPr/>
        </p:nvSpPr>
        <p:spPr>
          <a:xfrm>
            <a:off x="8796528" y="5248656"/>
            <a:ext cx="2459736" cy="30035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15000"/>
              </a:lnSpc>
              <a:defRPr sz="1000">
                <a:solidFill>
                  <a:srgbClr val="6F7C75"/>
                </a:solidFill>
                <a:latin typeface="Cambria"/>
                <a:ea typeface="Microsoft JhengHei"/>
                <a:cs typeface="Cambria"/>
                <a:sym typeface="Cambria"/>
              </a:defRPr>
            </a:lvl1pPr>
          </a:lstStyle>
          <a:p>
            <a:pPr/>
            <a:r>
              <a:t>Each lead also handles scheduling and external enquiries for that room.</a:t>
            </a:r>
          </a:p>
        </p:txBody>
      </p:sp>
      <p:sp>
        <p:nvSpPr>
          <p:cNvPr id="113" name="TextBox 17"/>
          <p:cNvSpPr txBox="1"/>
          <p:nvPr/>
        </p:nvSpPr>
        <p:spPr>
          <a:xfrm>
            <a:off x="685799" y="5760720"/>
            <a:ext cx="10820097" cy="5156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300"/>
              </a:spcBef>
              <a:defRPr sz="1100">
                <a:solidFill>
                  <a:srgbClr val="1B2A22"/>
                </a:solidFill>
                <a:latin typeface="Cambria"/>
                <a:ea typeface="Microsoft JhengHei"/>
                <a:cs typeface="Cambria"/>
                <a:sym typeface="Cambria"/>
              </a:defRPr>
            </a:pPr>
            <a:r>
              <a:t>Under the charter the director is nominated by the Dean and appointed by the President; division heads are selected by the director. Professor Hui-Mei Chen, Founding Director.</a:t>
            </a:r>
            <a:endParaRPr>
              <a:latin typeface="+mj-lt"/>
              <a:ea typeface="+mj-ea"/>
              <a:cs typeface="+mj-cs"/>
              <a:sym typeface="Calibri"/>
            </a:endParaRPr>
          </a:p>
          <a:p>
            <a:pPr>
              <a:lnSpc>
                <a:spcPct val="115000"/>
              </a:lnSpc>
              <a:defRPr sz="1000">
                <a:solidFill>
                  <a:srgbClr val="6F7C75"/>
                </a:solidFill>
                <a:latin typeface="Microsoft JhengHei"/>
                <a:ea typeface="Microsoft JhengHei"/>
                <a:cs typeface="Microsoft JhengHei"/>
                <a:sym typeface="Microsoft JhengHei"/>
              </a:defRPr>
            </a:pPr>
            <a:r>
              <a:t>依設置辦法，中心主任由院長遴選；前任（首任）主任陳惠美特聘教授　Founding Director。</a:t>
            </a:r>
          </a:p>
        </p:txBody>
      </p:sp>
      <p:sp>
        <p:nvSpPr>
          <p:cNvPr id="114" name="TextBox 18"/>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115" name="TextBox 19"/>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2</a:t>
            </a:r>
          </a:p>
        </p:txBody>
      </p:sp>
      <p:sp>
        <p:nvSpPr>
          <p:cNvPr id="110" name="TextBox 14"/>
          <p:cNvSpPr txBox="1"/>
          <p:nvPr/>
        </p:nvSpPr>
        <p:spPr>
          <a:xfrm>
            <a:off x="8796528" y="4846320"/>
            <a:ext cx="54864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E6B4F"/>
                </a:solidFill>
                <a:latin typeface="Cambria"/>
                <a:ea typeface="Microsoft JhengHei"/>
                <a:cs typeface="Cambria"/>
                <a:sym typeface="Cambria"/>
              </a:defRPr>
            </a:lvl1pPr>
          </a:lstStyle>
          <a:p>
            <a:pPr/>
            <a:r>
              <a:t>305</a:t>
            </a:r>
          </a:p>
        </p:txBody>
      </p:sp>
      <p:sp>
        <p:nvSpPr>
          <p:cNvPr id="111" name="TextBox 15"/>
          <p:cNvSpPr txBox="1"/>
          <p:nvPr/>
        </p:nvSpPr>
        <p:spPr>
          <a:xfrm>
            <a:off x="9372600" y="4809744"/>
            <a:ext cx="1883666" cy="3073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100"/>
              </a:spcBef>
              <a:defRPr sz="1100">
                <a:solidFill>
                  <a:srgbClr val="1B2A22"/>
                </a:solidFill>
                <a:latin typeface="Cambria"/>
                <a:ea typeface="Microsoft JhengHei"/>
                <a:cs typeface="Cambria"/>
                <a:sym typeface="Cambria"/>
              </a:defRPr>
            </a:pPr>
            <a:r>
              <a:t>Chia-Kuen Cheng</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鄭佳昆</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Rectangle 1"/>
          <p:cNvSpPr/>
          <p:nvPr/>
        </p:nvSpPr>
        <p:spPr>
          <a:xfrm>
            <a:off x="-54866" y="-54865"/>
            <a:ext cx="12301427" cy="6967729"/>
          </a:xfrm>
          <a:prstGeom prst="rect">
            <a:avLst/>
          </a:prstGeom>
          <a:solidFill>
            <a:srgbClr val="143529"/>
          </a:solidFill>
          <a:ln w="12700">
            <a:miter lim="400000"/>
          </a:ln>
        </p:spPr>
        <p:txBody>
          <a:bodyPr lIns="45718" tIns="45718" rIns="45718" bIns="45718" anchor="ctr"/>
          <a:lstStyle/>
          <a:p>
            <a:pPr algn="ctr">
              <a:defRPr>
                <a:solidFill>
                  <a:srgbClr val="FFFFFF"/>
                </a:solidFill>
              </a:defRPr>
            </a:pPr>
          </a:p>
        </p:txBody>
      </p:sp>
      <p:sp>
        <p:nvSpPr>
          <p:cNvPr id="120" name="TextBox 2"/>
          <p:cNvSpPr txBox="1"/>
          <p:nvPr/>
        </p:nvSpPr>
        <p:spPr>
          <a:xfrm>
            <a:off x="685800" y="1691638"/>
            <a:ext cx="2743200" cy="1092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7400">
                <a:solidFill>
                  <a:srgbClr val="2A5A44"/>
                </a:solidFill>
                <a:latin typeface="Cambria"/>
                <a:ea typeface="Microsoft JhengHei"/>
                <a:cs typeface="Cambria"/>
                <a:sym typeface="Cambria"/>
              </a:defRPr>
            </a:lvl1pPr>
          </a:lstStyle>
          <a:p>
            <a:pPr/>
            <a:r>
              <a:t>01</a:t>
            </a:r>
          </a:p>
        </p:txBody>
      </p:sp>
      <p:sp>
        <p:nvSpPr>
          <p:cNvPr id="121" name="TextBox 3"/>
          <p:cNvSpPr txBox="1"/>
          <p:nvPr/>
        </p:nvSpPr>
        <p:spPr>
          <a:xfrm>
            <a:off x="685799" y="3063238"/>
            <a:ext cx="10820097" cy="596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4000">
                <a:solidFill>
                  <a:srgbClr val="FFFFFF"/>
                </a:solidFill>
                <a:latin typeface="Cambria"/>
                <a:ea typeface="Microsoft JhengHei"/>
                <a:cs typeface="Cambria"/>
                <a:sym typeface="Cambria"/>
              </a:defRPr>
            </a:lvl1pPr>
          </a:lstStyle>
          <a:p>
            <a:pPr/>
            <a:r>
              <a:t>Why Now</a:t>
            </a:r>
          </a:p>
        </p:txBody>
      </p:sp>
      <p:sp>
        <p:nvSpPr>
          <p:cNvPr id="122" name="TextBox 4"/>
          <p:cNvSpPr txBox="1"/>
          <p:nvPr/>
        </p:nvSpPr>
        <p:spPr>
          <a:xfrm>
            <a:off x="685799" y="3913632"/>
            <a:ext cx="10820097"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200">
                <a:solidFill>
                  <a:srgbClr val="8FB09C"/>
                </a:solidFill>
                <a:latin typeface="Microsoft JhengHei"/>
                <a:ea typeface="Microsoft JhengHei"/>
                <a:cs typeface="Microsoft JhengHei"/>
                <a:sym typeface="Microsoft JhengHei"/>
              </a:defRPr>
            </a:lvl1pPr>
          </a:lstStyle>
          <a:p>
            <a:pPr/>
            <a:r>
              <a:t>為什麼是現在</a:t>
            </a:r>
          </a:p>
        </p:txBody>
      </p:sp>
      <p:sp>
        <p:nvSpPr>
          <p:cNvPr id="123" name="TextBox 5"/>
          <p:cNvSpPr txBox="1"/>
          <p:nvPr/>
        </p:nvSpPr>
        <p:spPr>
          <a:xfrm>
            <a:off x="685799" y="4709159"/>
            <a:ext cx="7863841"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400">
                <a:solidFill>
                  <a:srgbClr val="C6D5CB"/>
                </a:solidFill>
                <a:latin typeface="Cambria"/>
                <a:ea typeface="Microsoft JhengHei"/>
                <a:cs typeface="Cambria"/>
                <a:sym typeface="Cambria"/>
              </a:defRPr>
            </a:pPr>
            <a:r>
              <a:t>Three policy currents and one scientific shift converge.</a:t>
            </a:r>
            <a:endParaRPr>
              <a:latin typeface="+mj-lt"/>
              <a:ea typeface="+mj-ea"/>
              <a:cs typeface="+mj-cs"/>
              <a:sym typeface="Calibri"/>
            </a:endParaRPr>
          </a:p>
          <a:p>
            <a:pPr>
              <a:defRPr sz="1200">
                <a:solidFill>
                  <a:srgbClr val="8FB09C"/>
                </a:solidFill>
                <a:latin typeface="Microsoft JhengHei"/>
                <a:ea typeface="Microsoft JhengHei"/>
                <a:cs typeface="Microsoft JhengHei"/>
                <a:sym typeface="Microsoft JhengHei"/>
              </a:defRPr>
            </a:pPr>
            <a:r>
              <a:t>三條政策線與一條學術線交會。</a:t>
            </a:r>
          </a:p>
        </p:txBody>
      </p:sp>
      <p:sp>
        <p:nvSpPr>
          <p:cNvPr id="124" name="TextBox 6"/>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8FB09C"/>
                </a:solidFill>
                <a:latin typeface="Cambria"/>
                <a:ea typeface="Microsoft JhengHei"/>
                <a:cs typeface="Cambria"/>
                <a:sym typeface="Cambria"/>
              </a:defRPr>
            </a:lvl1pPr>
          </a:lstStyle>
          <a:p>
            <a:pPr/>
            <a:r>
              <a:t>Green Health Research Center  ·  NTU College of Bioresources and Agriculture</a:t>
            </a:r>
          </a:p>
        </p:txBody>
      </p:sp>
      <p:sp>
        <p:nvSpPr>
          <p:cNvPr id="125" name="TextBox 7"/>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8FB09C"/>
                </a:solidFill>
                <a:latin typeface="Cambria"/>
                <a:ea typeface="Microsoft JhengHei"/>
                <a:cs typeface="Cambria"/>
                <a:sym typeface="Cambria"/>
              </a:defRPr>
            </a:lvl1pPr>
          </a:lstStyle>
          <a:p>
            <a:pPr/>
            <a:r>
              <a:t>3</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01  ·  WHY NOW  ·  為什麼是現在</a:t>
            </a:r>
          </a:p>
        </p:txBody>
      </p:sp>
      <p:sp>
        <p:nvSpPr>
          <p:cNvPr id="130" name="TextBox 2"/>
          <p:cNvSpPr txBox="1"/>
          <p:nvPr/>
        </p:nvSpPr>
        <p:spPr>
          <a:xfrm>
            <a:off x="685799" y="603504"/>
            <a:ext cx="10820097"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2700">
                <a:solidFill>
                  <a:srgbClr val="1B2A22"/>
                </a:solidFill>
                <a:latin typeface="Cambria"/>
                <a:ea typeface="Microsoft JhengHei"/>
                <a:cs typeface="Cambria"/>
                <a:sym typeface="Cambria"/>
              </a:defRPr>
            </a:lvl1pPr>
          </a:lstStyle>
          <a:p>
            <a:pPr/>
            <a:r>
              <a:t>Three Policy Currents and One Scientific Shift Converge</a:t>
            </a:r>
          </a:p>
        </p:txBody>
      </p:sp>
      <p:sp>
        <p:nvSpPr>
          <p:cNvPr id="131"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三條政策線與一條學術線交會</a:t>
            </a:r>
          </a:p>
        </p:txBody>
      </p:sp>
      <p:sp>
        <p:nvSpPr>
          <p:cNvPr id="132" name="Rounded Rectangle 4"/>
          <p:cNvSpPr/>
          <p:nvPr/>
        </p:nvSpPr>
        <p:spPr>
          <a:xfrm>
            <a:off x="685800" y="1938527"/>
            <a:ext cx="2533575" cy="3730755"/>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grpSp>
        <p:nvGrpSpPr>
          <p:cNvPr id="135" name="Oval 5"/>
          <p:cNvGrpSpPr/>
          <p:nvPr/>
        </p:nvGrpSpPr>
        <p:grpSpPr>
          <a:xfrm>
            <a:off x="996695" y="2212847"/>
            <a:ext cx="365765" cy="365765"/>
            <a:chOff x="0" y="0"/>
            <a:chExt cx="365763" cy="365763"/>
          </a:xfrm>
        </p:grpSpPr>
        <p:sp>
          <p:nvSpPr>
            <p:cNvPr id="133" name="Circle"/>
            <p:cNvSpPr/>
            <p:nvPr/>
          </p:nvSpPr>
          <p:spPr>
            <a:xfrm>
              <a:off x="-1" y="-1"/>
              <a:ext cx="365764" cy="365764"/>
            </a:xfrm>
            <a:prstGeom prst="ellipse">
              <a:avLst/>
            </a:prstGeom>
            <a:solidFill>
              <a:srgbClr val="2E6B4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134" name="1"/>
            <p:cNvSpPr txBox="1"/>
            <p:nvPr/>
          </p:nvSpPr>
          <p:spPr>
            <a:xfrm>
              <a:off x="53563" y="93979"/>
              <a:ext cx="258635" cy="177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300">
                  <a:solidFill>
                    <a:srgbClr val="FFFFFF"/>
                  </a:solidFill>
                  <a:latin typeface="Cambria"/>
                  <a:ea typeface="Microsoft JhengHei"/>
                  <a:cs typeface="Cambria"/>
                  <a:sym typeface="Cambria"/>
                </a:defRPr>
              </a:lvl1pPr>
            </a:lstStyle>
            <a:p>
              <a:pPr/>
              <a:r>
                <a:t>1</a:t>
              </a:r>
            </a:p>
          </p:txBody>
        </p:sp>
      </p:grpSp>
      <p:sp>
        <p:nvSpPr>
          <p:cNvPr id="136" name="TextBox 6"/>
          <p:cNvSpPr txBox="1"/>
          <p:nvPr/>
        </p:nvSpPr>
        <p:spPr>
          <a:xfrm>
            <a:off x="996696" y="2743200"/>
            <a:ext cx="1911782" cy="406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1B2A22"/>
                </a:solidFill>
                <a:latin typeface="Cambria"/>
                <a:ea typeface="Microsoft JhengHei"/>
                <a:cs typeface="Cambria"/>
                <a:sym typeface="Cambria"/>
              </a:defRPr>
            </a:lvl1pPr>
          </a:lstStyle>
          <a:p>
            <a:pPr/>
            <a:r>
              <a:t>Ageing and Long-term Care 2.0</a:t>
            </a:r>
          </a:p>
        </p:txBody>
      </p:sp>
      <p:sp>
        <p:nvSpPr>
          <p:cNvPr id="137" name="TextBox 7"/>
          <p:cNvSpPr txBox="1"/>
          <p:nvPr/>
        </p:nvSpPr>
        <p:spPr>
          <a:xfrm>
            <a:off x="996696" y="3364991"/>
            <a:ext cx="191178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2E6B4F"/>
                </a:solidFill>
                <a:latin typeface="Microsoft JhengHei"/>
                <a:ea typeface="Microsoft JhengHei"/>
                <a:cs typeface="Microsoft JhengHei"/>
                <a:sym typeface="Microsoft JhengHei"/>
              </a:defRPr>
            </a:lvl1pPr>
          </a:lstStyle>
          <a:p>
            <a:pPr/>
            <a:r>
              <a:t>高齡化與長照 2.0</a:t>
            </a:r>
          </a:p>
        </p:txBody>
      </p:sp>
      <p:sp>
        <p:nvSpPr>
          <p:cNvPr id="138" name="TextBox 8"/>
          <p:cNvSpPr txBox="1"/>
          <p:nvPr/>
        </p:nvSpPr>
        <p:spPr>
          <a:xfrm>
            <a:off x="996696" y="3730752"/>
            <a:ext cx="1911782" cy="939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20000"/>
              </a:lnSpc>
              <a:spcBef>
                <a:spcPts val="500"/>
              </a:spcBef>
              <a:defRPr sz="1100">
                <a:solidFill>
                  <a:srgbClr val="1B2A22"/>
                </a:solidFill>
                <a:latin typeface="Cambria"/>
                <a:ea typeface="Microsoft JhengHei"/>
                <a:cs typeface="Cambria"/>
                <a:sym typeface="Cambria"/>
              </a:defRPr>
            </a:pPr>
            <a:r>
              <a:t>Non-pharmacological demand is growing fast; the health system needs affordable, scalable options.</a:t>
            </a:r>
            <a:endParaRPr>
              <a:latin typeface="+mj-lt"/>
              <a:ea typeface="+mj-ea"/>
              <a:cs typeface="+mj-cs"/>
              <a:sym typeface="Calibri"/>
            </a:endParaRPr>
          </a:p>
          <a:p>
            <a:pPr>
              <a:lnSpc>
                <a:spcPct val="120000"/>
              </a:lnSpc>
              <a:defRPr sz="1100">
                <a:solidFill>
                  <a:srgbClr val="6F7C75"/>
                </a:solidFill>
                <a:latin typeface="Microsoft JhengHei"/>
                <a:ea typeface="Microsoft JhengHei"/>
                <a:cs typeface="Microsoft JhengHei"/>
                <a:sym typeface="Microsoft JhengHei"/>
              </a:defRPr>
            </a:pPr>
            <a:r>
              <a:t>非藥物介入需求擴大，醫療體系尋找可負擔、可規模化的方案。</a:t>
            </a:r>
          </a:p>
        </p:txBody>
      </p:sp>
      <p:sp>
        <p:nvSpPr>
          <p:cNvPr id="139" name="Rounded Rectangle 9"/>
          <p:cNvSpPr/>
          <p:nvPr/>
        </p:nvSpPr>
        <p:spPr>
          <a:xfrm>
            <a:off x="3447972" y="1938527"/>
            <a:ext cx="2533575" cy="3730755"/>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grpSp>
        <p:nvGrpSpPr>
          <p:cNvPr id="142" name="Oval 10"/>
          <p:cNvGrpSpPr/>
          <p:nvPr/>
        </p:nvGrpSpPr>
        <p:grpSpPr>
          <a:xfrm>
            <a:off x="3758868" y="2212847"/>
            <a:ext cx="365764" cy="365765"/>
            <a:chOff x="0" y="0"/>
            <a:chExt cx="365763" cy="365763"/>
          </a:xfrm>
        </p:grpSpPr>
        <p:sp>
          <p:nvSpPr>
            <p:cNvPr id="140" name="Circle"/>
            <p:cNvSpPr/>
            <p:nvPr/>
          </p:nvSpPr>
          <p:spPr>
            <a:xfrm>
              <a:off x="-1" y="-1"/>
              <a:ext cx="365764" cy="365764"/>
            </a:xfrm>
            <a:prstGeom prst="ellipse">
              <a:avLst/>
            </a:prstGeom>
            <a:solidFill>
              <a:srgbClr val="2E6B4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141" name="2"/>
            <p:cNvSpPr txBox="1"/>
            <p:nvPr/>
          </p:nvSpPr>
          <p:spPr>
            <a:xfrm>
              <a:off x="53563" y="93979"/>
              <a:ext cx="258635" cy="177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300">
                  <a:solidFill>
                    <a:srgbClr val="FFFFFF"/>
                  </a:solidFill>
                  <a:latin typeface="Cambria"/>
                  <a:ea typeface="Microsoft JhengHei"/>
                  <a:cs typeface="Cambria"/>
                  <a:sym typeface="Cambria"/>
                </a:defRPr>
              </a:lvl1pPr>
            </a:lstStyle>
            <a:p>
              <a:pPr/>
              <a:r>
                <a:t>2</a:t>
              </a:r>
            </a:p>
          </p:txBody>
        </p:sp>
      </p:grpSp>
      <p:sp>
        <p:nvSpPr>
          <p:cNvPr id="143" name="TextBox 11"/>
          <p:cNvSpPr txBox="1"/>
          <p:nvPr/>
        </p:nvSpPr>
        <p:spPr>
          <a:xfrm>
            <a:off x="3758869" y="2743200"/>
            <a:ext cx="1911781"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1B2A22"/>
                </a:solidFill>
                <a:latin typeface="Cambria"/>
                <a:ea typeface="Microsoft JhengHei"/>
                <a:cs typeface="Cambria"/>
                <a:sym typeface="Cambria"/>
              </a:defRPr>
            </a:lvl1pPr>
          </a:lstStyle>
          <a:p>
            <a:pPr/>
            <a:r>
              <a:t>Rural Regeneration 2.0</a:t>
            </a:r>
          </a:p>
        </p:txBody>
      </p:sp>
      <p:sp>
        <p:nvSpPr>
          <p:cNvPr id="144" name="TextBox 12"/>
          <p:cNvSpPr txBox="1"/>
          <p:nvPr/>
        </p:nvSpPr>
        <p:spPr>
          <a:xfrm>
            <a:off x="3758869" y="3364991"/>
            <a:ext cx="191178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2E6B4F"/>
                </a:solidFill>
                <a:latin typeface="Microsoft JhengHei"/>
                <a:ea typeface="Microsoft JhengHei"/>
                <a:cs typeface="Microsoft JhengHei"/>
                <a:sym typeface="Microsoft JhengHei"/>
              </a:defRPr>
            </a:lvl1pPr>
          </a:lstStyle>
          <a:p>
            <a:pPr/>
            <a:r>
              <a:t>農村再生 2.0</a:t>
            </a:r>
          </a:p>
        </p:txBody>
      </p:sp>
      <p:sp>
        <p:nvSpPr>
          <p:cNvPr id="145" name="TextBox 13"/>
          <p:cNvSpPr txBox="1"/>
          <p:nvPr/>
        </p:nvSpPr>
        <p:spPr>
          <a:xfrm>
            <a:off x="3758869" y="3730752"/>
            <a:ext cx="1911781" cy="11226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20000"/>
              </a:lnSpc>
              <a:spcBef>
                <a:spcPts val="500"/>
              </a:spcBef>
              <a:defRPr sz="1100">
                <a:solidFill>
                  <a:srgbClr val="1B2A22"/>
                </a:solidFill>
                <a:latin typeface="Cambria"/>
                <a:ea typeface="Microsoft JhengHei"/>
                <a:cs typeface="Cambria"/>
                <a:sym typeface="Cambria"/>
              </a:defRPr>
            </a:pPr>
            <a:r>
              <a:t>Green-care demonstration schemes mean rural sites need service models grounded in evidence.</a:t>
            </a:r>
            <a:endParaRPr>
              <a:latin typeface="+mj-lt"/>
              <a:ea typeface="+mj-ea"/>
              <a:cs typeface="+mj-cs"/>
              <a:sym typeface="Calibri"/>
            </a:endParaRPr>
          </a:p>
          <a:p>
            <a:pPr>
              <a:lnSpc>
                <a:spcPct val="120000"/>
              </a:lnSpc>
              <a:defRPr sz="1100">
                <a:solidFill>
                  <a:srgbClr val="6F7C75"/>
                </a:solidFill>
                <a:latin typeface="Microsoft JhengHei"/>
                <a:ea typeface="Microsoft JhengHei"/>
                <a:cs typeface="Microsoft JhengHei"/>
                <a:sym typeface="Microsoft JhengHei"/>
              </a:defRPr>
            </a:pPr>
            <a:r>
              <a:t>綠色照顧示範計畫推動，農村場域需要有實證基礎的服務模型。</a:t>
            </a:r>
          </a:p>
        </p:txBody>
      </p:sp>
      <p:sp>
        <p:nvSpPr>
          <p:cNvPr id="146" name="Rounded Rectangle 14"/>
          <p:cNvSpPr/>
          <p:nvPr/>
        </p:nvSpPr>
        <p:spPr>
          <a:xfrm>
            <a:off x="6210146" y="1938527"/>
            <a:ext cx="2533575" cy="3730755"/>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grpSp>
        <p:nvGrpSpPr>
          <p:cNvPr id="149" name="Oval 15"/>
          <p:cNvGrpSpPr/>
          <p:nvPr/>
        </p:nvGrpSpPr>
        <p:grpSpPr>
          <a:xfrm>
            <a:off x="6521042" y="2212847"/>
            <a:ext cx="365765" cy="365765"/>
            <a:chOff x="0" y="0"/>
            <a:chExt cx="365763" cy="365763"/>
          </a:xfrm>
        </p:grpSpPr>
        <p:sp>
          <p:nvSpPr>
            <p:cNvPr id="147" name="Circle"/>
            <p:cNvSpPr/>
            <p:nvPr/>
          </p:nvSpPr>
          <p:spPr>
            <a:xfrm>
              <a:off x="-1" y="-1"/>
              <a:ext cx="365764" cy="365764"/>
            </a:xfrm>
            <a:prstGeom prst="ellipse">
              <a:avLst/>
            </a:prstGeom>
            <a:solidFill>
              <a:srgbClr val="2E6B4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148" name="3"/>
            <p:cNvSpPr txBox="1"/>
            <p:nvPr/>
          </p:nvSpPr>
          <p:spPr>
            <a:xfrm>
              <a:off x="53563" y="93979"/>
              <a:ext cx="258635" cy="177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300">
                  <a:solidFill>
                    <a:srgbClr val="FFFFFF"/>
                  </a:solidFill>
                  <a:latin typeface="Cambria"/>
                  <a:ea typeface="Microsoft JhengHei"/>
                  <a:cs typeface="Cambria"/>
                  <a:sym typeface="Cambria"/>
                </a:defRPr>
              </a:lvl1pPr>
            </a:lstStyle>
            <a:p>
              <a:pPr/>
              <a:r>
                <a:t>3</a:t>
              </a:r>
            </a:p>
          </p:txBody>
        </p:sp>
      </p:grpSp>
      <p:sp>
        <p:nvSpPr>
          <p:cNvPr id="150" name="TextBox 16"/>
          <p:cNvSpPr txBox="1"/>
          <p:nvPr/>
        </p:nvSpPr>
        <p:spPr>
          <a:xfrm>
            <a:off x="6521043" y="2743200"/>
            <a:ext cx="1911782"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1B2A22"/>
                </a:solidFill>
                <a:latin typeface="Cambria"/>
                <a:ea typeface="Microsoft JhengHei"/>
                <a:cs typeface="Cambria"/>
                <a:sym typeface="Cambria"/>
              </a:defRPr>
            </a:lvl1pPr>
          </a:lstStyle>
          <a:p>
            <a:pPr/>
            <a:r>
              <a:t>Precision Health Talent</a:t>
            </a:r>
          </a:p>
        </p:txBody>
      </p:sp>
      <p:sp>
        <p:nvSpPr>
          <p:cNvPr id="151" name="TextBox 17"/>
          <p:cNvSpPr txBox="1"/>
          <p:nvPr/>
        </p:nvSpPr>
        <p:spPr>
          <a:xfrm>
            <a:off x="6521043" y="3364991"/>
            <a:ext cx="191178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2E6B4F"/>
                </a:solidFill>
                <a:latin typeface="Microsoft JhengHei"/>
                <a:ea typeface="Microsoft JhengHei"/>
                <a:cs typeface="Microsoft JhengHei"/>
                <a:sym typeface="Microsoft JhengHei"/>
              </a:defRPr>
            </a:lvl1pPr>
          </a:lstStyle>
          <a:p>
            <a:pPr/>
            <a:r>
              <a:t>精準健康人才培育</a:t>
            </a:r>
          </a:p>
        </p:txBody>
      </p:sp>
      <p:sp>
        <p:nvSpPr>
          <p:cNvPr id="152" name="TextBox 18"/>
          <p:cNvSpPr txBox="1"/>
          <p:nvPr/>
        </p:nvSpPr>
        <p:spPr>
          <a:xfrm>
            <a:off x="6521043" y="3730752"/>
            <a:ext cx="1911782" cy="11226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20000"/>
              </a:lnSpc>
              <a:spcBef>
                <a:spcPts val="500"/>
              </a:spcBef>
              <a:defRPr sz="1100">
                <a:solidFill>
                  <a:srgbClr val="1B2A22"/>
                </a:solidFill>
                <a:latin typeface="Cambria"/>
                <a:ea typeface="Microsoft JhengHei"/>
                <a:cs typeface="Cambria"/>
                <a:sym typeface="Cambria"/>
              </a:defRPr>
            </a:pPr>
            <a:r>
              <a:t>Ministry of Education cross-disciplinary programmes link health to agriculture and environment.</a:t>
            </a:r>
            <a:endParaRPr>
              <a:latin typeface="+mj-lt"/>
              <a:ea typeface="+mj-ea"/>
              <a:cs typeface="+mj-cs"/>
              <a:sym typeface="Calibri"/>
            </a:endParaRPr>
          </a:p>
          <a:p>
            <a:pPr>
              <a:lnSpc>
                <a:spcPct val="120000"/>
              </a:lnSpc>
              <a:defRPr sz="1100">
                <a:solidFill>
                  <a:srgbClr val="6F7C75"/>
                </a:solidFill>
                <a:latin typeface="Microsoft JhengHei"/>
                <a:ea typeface="Microsoft JhengHei"/>
                <a:cs typeface="Microsoft JhengHei"/>
                <a:sym typeface="Microsoft JhengHei"/>
              </a:defRPr>
            </a:pPr>
            <a:r>
              <a:t>教育部跨領域計畫，將健康與農業、環境專業接軌。</a:t>
            </a:r>
          </a:p>
        </p:txBody>
      </p:sp>
      <p:sp>
        <p:nvSpPr>
          <p:cNvPr id="153" name="Rounded Rectangle 19"/>
          <p:cNvSpPr/>
          <p:nvPr/>
        </p:nvSpPr>
        <p:spPr>
          <a:xfrm>
            <a:off x="8972321" y="1938527"/>
            <a:ext cx="2533575" cy="3730755"/>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grpSp>
        <p:nvGrpSpPr>
          <p:cNvPr id="156" name="Oval 20"/>
          <p:cNvGrpSpPr/>
          <p:nvPr/>
        </p:nvGrpSpPr>
        <p:grpSpPr>
          <a:xfrm>
            <a:off x="9283216" y="2212847"/>
            <a:ext cx="365765" cy="365765"/>
            <a:chOff x="0" y="0"/>
            <a:chExt cx="365763" cy="365763"/>
          </a:xfrm>
        </p:grpSpPr>
        <p:sp>
          <p:nvSpPr>
            <p:cNvPr id="154" name="Circle"/>
            <p:cNvSpPr/>
            <p:nvPr/>
          </p:nvSpPr>
          <p:spPr>
            <a:xfrm>
              <a:off x="-1" y="-1"/>
              <a:ext cx="365764" cy="365764"/>
            </a:xfrm>
            <a:prstGeom prst="ellipse">
              <a:avLst/>
            </a:prstGeom>
            <a:solidFill>
              <a:srgbClr val="2E6B4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155" name="4"/>
            <p:cNvSpPr txBox="1"/>
            <p:nvPr/>
          </p:nvSpPr>
          <p:spPr>
            <a:xfrm>
              <a:off x="53563" y="93979"/>
              <a:ext cx="258635" cy="177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300">
                  <a:solidFill>
                    <a:srgbClr val="FFFFFF"/>
                  </a:solidFill>
                  <a:latin typeface="Cambria"/>
                  <a:ea typeface="Microsoft JhengHei"/>
                  <a:cs typeface="Cambria"/>
                  <a:sym typeface="Cambria"/>
                </a:defRPr>
              </a:lvl1pPr>
            </a:lstStyle>
            <a:p>
              <a:pPr/>
              <a:r>
                <a:t>4</a:t>
              </a:r>
            </a:p>
          </p:txBody>
        </p:sp>
      </p:grpSp>
      <p:sp>
        <p:nvSpPr>
          <p:cNvPr id="157" name="TextBox 21"/>
          <p:cNvSpPr txBox="1"/>
          <p:nvPr/>
        </p:nvSpPr>
        <p:spPr>
          <a:xfrm>
            <a:off x="9283217" y="2743200"/>
            <a:ext cx="1911783"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1B2A22"/>
                </a:solidFill>
                <a:latin typeface="Cambria"/>
                <a:ea typeface="Microsoft JhengHei"/>
                <a:cs typeface="Cambria"/>
                <a:sym typeface="Cambria"/>
              </a:defRPr>
            </a:lvl1pPr>
          </a:lstStyle>
          <a:p>
            <a:pPr/>
            <a:r>
              <a:t>A Scientific Shift</a:t>
            </a:r>
          </a:p>
        </p:txBody>
      </p:sp>
      <p:sp>
        <p:nvSpPr>
          <p:cNvPr id="158" name="TextBox 22"/>
          <p:cNvSpPr txBox="1"/>
          <p:nvPr/>
        </p:nvSpPr>
        <p:spPr>
          <a:xfrm>
            <a:off x="9283217" y="3364991"/>
            <a:ext cx="1911783"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2E6B4F"/>
                </a:solidFill>
                <a:latin typeface="Microsoft JhengHei"/>
                <a:ea typeface="Microsoft JhengHei"/>
                <a:cs typeface="Microsoft JhengHei"/>
                <a:sym typeface="Microsoft JhengHei"/>
              </a:defRPr>
            </a:lvl1pPr>
          </a:lstStyle>
          <a:p>
            <a:pPr/>
            <a:r>
              <a:t>研究典範轉移</a:t>
            </a:r>
          </a:p>
        </p:txBody>
      </p:sp>
      <p:sp>
        <p:nvSpPr>
          <p:cNvPr id="159" name="TextBox 23"/>
          <p:cNvSpPr txBox="1"/>
          <p:nvPr/>
        </p:nvSpPr>
        <p:spPr>
          <a:xfrm>
            <a:off x="9283217" y="3730752"/>
            <a:ext cx="1911783" cy="11226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20000"/>
              </a:lnSpc>
              <a:spcBef>
                <a:spcPts val="500"/>
              </a:spcBef>
              <a:defRPr sz="1100">
                <a:solidFill>
                  <a:srgbClr val="1B2A22"/>
                </a:solidFill>
                <a:latin typeface="Cambria"/>
                <a:ea typeface="Microsoft JhengHei"/>
                <a:cs typeface="Cambria"/>
                <a:sym typeface="Cambria"/>
              </a:defRPr>
            </a:pPr>
            <a:r>
              <a:t>From correlation to causal and dose-response evidence — which needs precise measurement and controlled settings.</a:t>
            </a:r>
            <a:endParaRPr>
              <a:latin typeface="+mj-lt"/>
              <a:ea typeface="+mj-ea"/>
              <a:cs typeface="+mj-cs"/>
              <a:sym typeface="Calibri"/>
            </a:endParaRPr>
          </a:p>
          <a:p>
            <a:pPr>
              <a:lnSpc>
                <a:spcPct val="120000"/>
              </a:lnSpc>
              <a:defRPr sz="1100">
                <a:solidFill>
                  <a:srgbClr val="6F7C75"/>
                </a:solidFill>
                <a:latin typeface="Microsoft JhengHei"/>
                <a:ea typeface="Microsoft JhengHei"/>
                <a:cs typeface="Microsoft JhengHei"/>
                <a:sym typeface="Microsoft JhengHei"/>
              </a:defRPr>
            </a:pPr>
            <a:r>
              <a:t>從相關性走向因果與劑量反應，需要精準量測與可控環境。</a:t>
            </a:r>
          </a:p>
        </p:txBody>
      </p:sp>
      <p:sp>
        <p:nvSpPr>
          <p:cNvPr id="160" name="TextBox 24"/>
          <p:cNvSpPr txBox="1"/>
          <p:nvPr/>
        </p:nvSpPr>
        <p:spPr>
          <a:xfrm>
            <a:off x="685799" y="5815584"/>
            <a:ext cx="10820097" cy="3530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sz="1200">
                <a:solidFill>
                  <a:srgbClr val="1B2A22"/>
                </a:solidFill>
                <a:latin typeface="Cambria"/>
                <a:ea typeface="Microsoft JhengHei"/>
                <a:cs typeface="Cambria"/>
                <a:sym typeface="Cambria"/>
              </a:defRPr>
            </a:pPr>
            <a:r>
              <a:t>The center sits exactly where the four currents cross — the college's field sites, the horticultural and forestry expertise, and the health-technology toolkit.</a:t>
            </a:r>
            <a:endParaRPr>
              <a:latin typeface="+mj-lt"/>
              <a:ea typeface="+mj-ea"/>
              <a:cs typeface="+mj-cs"/>
              <a:sym typeface="Calibri"/>
            </a:endParaRPr>
          </a:p>
          <a:p>
            <a:pPr>
              <a:lnSpc>
                <a:spcPct val="115000"/>
              </a:lnSpc>
              <a:defRPr sz="1100">
                <a:solidFill>
                  <a:srgbClr val="6F7C75"/>
                </a:solidFill>
                <a:latin typeface="Microsoft JhengHei"/>
                <a:ea typeface="Microsoft JhengHei"/>
                <a:cs typeface="Microsoft JhengHei"/>
                <a:sym typeface="Microsoft JhengHei"/>
              </a:defRPr>
            </a:pPr>
            <a:r>
              <a:t>中心正好座落在這四條線的交點：農學院的場域、園藝與森林的專業、健康科技的工具，缺一不可。</a:t>
            </a:r>
          </a:p>
        </p:txBody>
      </p:sp>
      <p:sp>
        <p:nvSpPr>
          <p:cNvPr id="161" name="TextBox 25"/>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162" name="TextBox 26"/>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4</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01  ·  WHY NOW  ·  為什麼是現在</a:t>
            </a:r>
          </a:p>
        </p:txBody>
      </p:sp>
      <p:sp>
        <p:nvSpPr>
          <p:cNvPr id="167"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Three Missions in the Center's Charter</a:t>
            </a:r>
          </a:p>
        </p:txBody>
      </p:sp>
      <p:sp>
        <p:nvSpPr>
          <p:cNvPr id="168"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中心三大任務</a:t>
            </a:r>
          </a:p>
        </p:txBody>
      </p:sp>
      <p:sp>
        <p:nvSpPr>
          <p:cNvPr id="169" name="Rounded Rectangle 4"/>
          <p:cNvSpPr/>
          <p:nvPr/>
        </p:nvSpPr>
        <p:spPr>
          <a:xfrm>
            <a:off x="685800" y="1920238"/>
            <a:ext cx="3423819" cy="3785618"/>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grpSp>
        <p:nvGrpSpPr>
          <p:cNvPr id="172" name="Oval 5"/>
          <p:cNvGrpSpPr/>
          <p:nvPr/>
        </p:nvGrpSpPr>
        <p:grpSpPr>
          <a:xfrm>
            <a:off x="1069847" y="2157983"/>
            <a:ext cx="384051" cy="384051"/>
            <a:chOff x="0" y="0"/>
            <a:chExt cx="384050" cy="384050"/>
          </a:xfrm>
        </p:grpSpPr>
        <p:sp>
          <p:nvSpPr>
            <p:cNvPr id="170" name="Circle"/>
            <p:cNvSpPr/>
            <p:nvPr/>
          </p:nvSpPr>
          <p:spPr>
            <a:xfrm>
              <a:off x="-1" y="-1"/>
              <a:ext cx="384052" cy="384052"/>
            </a:xfrm>
            <a:prstGeom prst="ellipse">
              <a:avLst/>
            </a:prstGeom>
            <a:solidFill>
              <a:srgbClr val="2E6B4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171" name="1"/>
            <p:cNvSpPr txBox="1"/>
            <p:nvPr/>
          </p:nvSpPr>
          <p:spPr>
            <a:xfrm>
              <a:off x="56242" y="103124"/>
              <a:ext cx="271566" cy="177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300">
                  <a:solidFill>
                    <a:srgbClr val="FFFFFF"/>
                  </a:solidFill>
                  <a:latin typeface="Cambria"/>
                  <a:ea typeface="Microsoft JhengHei"/>
                  <a:cs typeface="Cambria"/>
                  <a:sym typeface="Cambria"/>
                </a:defRPr>
              </a:lvl1pPr>
            </a:lstStyle>
            <a:p>
              <a:pPr/>
              <a:r>
                <a:t>1</a:t>
              </a:r>
            </a:p>
          </p:txBody>
        </p:sp>
      </p:grpSp>
      <p:sp>
        <p:nvSpPr>
          <p:cNvPr id="173" name="TextBox 6"/>
          <p:cNvSpPr txBox="1"/>
          <p:nvPr/>
        </p:nvSpPr>
        <p:spPr>
          <a:xfrm>
            <a:off x="1069847" y="2670048"/>
            <a:ext cx="2655723"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1B2A22"/>
                </a:solidFill>
                <a:latin typeface="Cambria"/>
                <a:ea typeface="Microsoft JhengHei"/>
                <a:cs typeface="Cambria"/>
                <a:sym typeface="Cambria"/>
              </a:defRPr>
            </a:lvl1pPr>
          </a:lstStyle>
          <a:p>
            <a:pPr/>
            <a:r>
              <a:t>Research and Industry Collaboration</a:t>
            </a:r>
          </a:p>
        </p:txBody>
      </p:sp>
      <p:sp>
        <p:nvSpPr>
          <p:cNvPr id="174" name="TextBox 7"/>
          <p:cNvSpPr txBox="1"/>
          <p:nvPr/>
        </p:nvSpPr>
        <p:spPr>
          <a:xfrm>
            <a:off x="1069847" y="3310128"/>
            <a:ext cx="2655723"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E6B4F"/>
                </a:solidFill>
                <a:latin typeface="Microsoft JhengHei"/>
                <a:ea typeface="Microsoft JhengHei"/>
                <a:cs typeface="Microsoft JhengHei"/>
                <a:sym typeface="Microsoft JhengHei"/>
              </a:defRPr>
            </a:lvl1pPr>
          </a:lstStyle>
          <a:p>
            <a:pPr/>
            <a:r>
              <a:t>參與農業療癒與健康環境研究計畫</a:t>
            </a:r>
          </a:p>
        </p:txBody>
      </p:sp>
      <p:sp>
        <p:nvSpPr>
          <p:cNvPr id="175" name="TextBox 8"/>
          <p:cNvSpPr txBox="1"/>
          <p:nvPr/>
        </p:nvSpPr>
        <p:spPr>
          <a:xfrm>
            <a:off x="1069847" y="3657600"/>
            <a:ext cx="2655723" cy="137895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7999"/>
              </a:lnSpc>
              <a:spcBef>
                <a:spcPts val="500"/>
              </a:spcBef>
              <a:defRPr sz="1000">
                <a:solidFill>
                  <a:srgbClr val="1B2A22"/>
                </a:solidFill>
                <a:latin typeface="Cambria"/>
                <a:ea typeface="Microsoft JhengHei"/>
                <a:cs typeface="Cambria"/>
                <a:sym typeface="Cambria"/>
              </a:defRPr>
            </a:pPr>
            <a:r>
              <a:t>Take part in university, inter-university and government research and industry projects on agricultural therapy and healthy environments, and turn the results into social service — the university's social responsibility in practice.</a:t>
            </a:r>
            <a:endParaRPr>
              <a:latin typeface="+mj-lt"/>
              <a:ea typeface="+mj-ea"/>
              <a:cs typeface="+mj-cs"/>
              <a:sym typeface="Calibri"/>
            </a:endParaRPr>
          </a:p>
          <a:p>
            <a:pPr>
              <a:lnSpc>
                <a:spcPct val="117999"/>
              </a:lnSpc>
              <a:defRPr sz="1000">
                <a:solidFill>
                  <a:srgbClr val="6F7C75"/>
                </a:solidFill>
                <a:latin typeface="Microsoft JhengHei"/>
                <a:ea typeface="Microsoft JhengHei"/>
                <a:cs typeface="Microsoft JhengHei"/>
                <a:sym typeface="Microsoft JhengHei"/>
              </a:defRPr>
            </a:pPr>
            <a:r>
              <a:t>積極參與校內、校際、政府推動之農業療癒與健康環境之學術研究或產學合作相關計畫，並將研究成果轉為社會服務，實踐大學社會責任。</a:t>
            </a:r>
          </a:p>
        </p:txBody>
      </p:sp>
      <p:sp>
        <p:nvSpPr>
          <p:cNvPr id="176" name="Rounded Rectangle 9"/>
          <p:cNvSpPr/>
          <p:nvPr/>
        </p:nvSpPr>
        <p:spPr>
          <a:xfrm>
            <a:off x="4383937" y="1920238"/>
            <a:ext cx="3423819" cy="3785618"/>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grpSp>
        <p:nvGrpSpPr>
          <p:cNvPr id="179" name="Oval 10"/>
          <p:cNvGrpSpPr/>
          <p:nvPr/>
        </p:nvGrpSpPr>
        <p:grpSpPr>
          <a:xfrm>
            <a:off x="4767986" y="2157983"/>
            <a:ext cx="384051" cy="384051"/>
            <a:chOff x="0" y="0"/>
            <a:chExt cx="384050" cy="384050"/>
          </a:xfrm>
        </p:grpSpPr>
        <p:sp>
          <p:nvSpPr>
            <p:cNvPr id="177" name="Circle"/>
            <p:cNvSpPr/>
            <p:nvPr/>
          </p:nvSpPr>
          <p:spPr>
            <a:xfrm>
              <a:off x="-1" y="-1"/>
              <a:ext cx="384052" cy="384052"/>
            </a:xfrm>
            <a:prstGeom prst="ellipse">
              <a:avLst/>
            </a:prstGeom>
            <a:solidFill>
              <a:srgbClr val="2E6B4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178" name="2"/>
            <p:cNvSpPr txBox="1"/>
            <p:nvPr/>
          </p:nvSpPr>
          <p:spPr>
            <a:xfrm>
              <a:off x="56242" y="103124"/>
              <a:ext cx="271566" cy="177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300">
                  <a:solidFill>
                    <a:srgbClr val="FFFFFF"/>
                  </a:solidFill>
                  <a:latin typeface="Cambria"/>
                  <a:ea typeface="Microsoft JhengHei"/>
                  <a:cs typeface="Cambria"/>
                  <a:sym typeface="Cambria"/>
                </a:defRPr>
              </a:lvl1pPr>
            </a:lstStyle>
            <a:p>
              <a:pPr/>
              <a:r>
                <a:t>2</a:t>
              </a:r>
            </a:p>
          </p:txBody>
        </p:sp>
      </p:grpSp>
      <p:sp>
        <p:nvSpPr>
          <p:cNvPr id="180" name="TextBox 11"/>
          <p:cNvSpPr txBox="1"/>
          <p:nvPr/>
        </p:nvSpPr>
        <p:spPr>
          <a:xfrm>
            <a:off x="4767986" y="2670048"/>
            <a:ext cx="2655724"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1B2A22"/>
                </a:solidFill>
                <a:latin typeface="Cambria"/>
                <a:ea typeface="Microsoft JhengHei"/>
                <a:cs typeface="Cambria"/>
                <a:sym typeface="Cambria"/>
              </a:defRPr>
            </a:lvl1pPr>
          </a:lstStyle>
          <a:p>
            <a:pPr/>
            <a:r>
              <a:t>Talent Cultivation</a:t>
            </a:r>
          </a:p>
        </p:txBody>
      </p:sp>
      <p:sp>
        <p:nvSpPr>
          <p:cNvPr id="181" name="TextBox 12"/>
          <p:cNvSpPr txBox="1"/>
          <p:nvPr/>
        </p:nvSpPr>
        <p:spPr>
          <a:xfrm>
            <a:off x="4767986" y="3310128"/>
            <a:ext cx="2655724"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E6B4F"/>
                </a:solidFill>
                <a:latin typeface="Microsoft JhengHei"/>
                <a:ea typeface="Microsoft JhengHei"/>
                <a:cs typeface="Microsoft JhengHei"/>
                <a:sym typeface="Microsoft JhengHei"/>
              </a:defRPr>
            </a:lvl1pPr>
          </a:lstStyle>
          <a:p>
            <a:pPr/>
            <a:r>
              <a:t>培育農業療癒與健康環境專長人才</a:t>
            </a:r>
          </a:p>
        </p:txBody>
      </p:sp>
      <p:sp>
        <p:nvSpPr>
          <p:cNvPr id="182" name="TextBox 13"/>
          <p:cNvSpPr txBox="1"/>
          <p:nvPr/>
        </p:nvSpPr>
        <p:spPr>
          <a:xfrm>
            <a:off x="4767986" y="3657600"/>
            <a:ext cx="2655724" cy="12141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7999"/>
              </a:lnSpc>
              <a:spcBef>
                <a:spcPts val="500"/>
              </a:spcBef>
              <a:defRPr sz="1000">
                <a:solidFill>
                  <a:srgbClr val="1B2A22"/>
                </a:solidFill>
                <a:latin typeface="Cambria"/>
                <a:ea typeface="Microsoft JhengHei"/>
                <a:cs typeface="Cambria"/>
                <a:sym typeface="Cambria"/>
              </a:defRPr>
            </a:pPr>
            <a:r>
              <a:t>Build curricula and creative teaching that bring students into government programmes and social needs, raising their awareness of policy and their ability to take part in it and deliver.</a:t>
            </a:r>
            <a:endParaRPr>
              <a:latin typeface="+mj-lt"/>
              <a:ea typeface="+mj-ea"/>
              <a:cs typeface="+mj-cs"/>
              <a:sym typeface="Calibri"/>
            </a:endParaRPr>
          </a:p>
          <a:p>
            <a:pPr>
              <a:lnSpc>
                <a:spcPct val="117999"/>
              </a:lnSpc>
              <a:defRPr sz="1000">
                <a:solidFill>
                  <a:srgbClr val="6F7C75"/>
                </a:solidFill>
                <a:latin typeface="Microsoft JhengHei"/>
                <a:ea typeface="Microsoft JhengHei"/>
                <a:cs typeface="Microsoft JhengHei"/>
                <a:sym typeface="Microsoft JhengHei"/>
              </a:defRPr>
            </a:pPr>
            <a:r>
              <a:t>結合課程設計，運用創意教學帶領學生參與政府相關計畫並支援社會需求，提升學生對政策之關注、參與和執行能力，培養農業療癒與健康環境領域人才。</a:t>
            </a:r>
          </a:p>
        </p:txBody>
      </p:sp>
      <p:sp>
        <p:nvSpPr>
          <p:cNvPr id="183" name="Rounded Rectangle 14"/>
          <p:cNvSpPr/>
          <p:nvPr/>
        </p:nvSpPr>
        <p:spPr>
          <a:xfrm>
            <a:off x="8082074" y="1920238"/>
            <a:ext cx="3423820" cy="3785618"/>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grpSp>
        <p:nvGrpSpPr>
          <p:cNvPr id="186" name="Oval 15"/>
          <p:cNvGrpSpPr/>
          <p:nvPr/>
        </p:nvGrpSpPr>
        <p:grpSpPr>
          <a:xfrm>
            <a:off x="8466124" y="2157983"/>
            <a:ext cx="384051" cy="384051"/>
            <a:chOff x="0" y="0"/>
            <a:chExt cx="384050" cy="384050"/>
          </a:xfrm>
        </p:grpSpPr>
        <p:sp>
          <p:nvSpPr>
            <p:cNvPr id="184" name="Circle"/>
            <p:cNvSpPr/>
            <p:nvPr/>
          </p:nvSpPr>
          <p:spPr>
            <a:xfrm>
              <a:off x="-1" y="-1"/>
              <a:ext cx="384052" cy="384052"/>
            </a:xfrm>
            <a:prstGeom prst="ellipse">
              <a:avLst/>
            </a:prstGeom>
            <a:solidFill>
              <a:srgbClr val="2E6B4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185" name="3"/>
            <p:cNvSpPr txBox="1"/>
            <p:nvPr/>
          </p:nvSpPr>
          <p:spPr>
            <a:xfrm>
              <a:off x="56242" y="103124"/>
              <a:ext cx="271566" cy="177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300">
                  <a:solidFill>
                    <a:srgbClr val="FFFFFF"/>
                  </a:solidFill>
                  <a:latin typeface="Cambria"/>
                  <a:ea typeface="Microsoft JhengHei"/>
                  <a:cs typeface="Cambria"/>
                  <a:sym typeface="Cambria"/>
                </a:defRPr>
              </a:lvl1pPr>
            </a:lstStyle>
            <a:p>
              <a:pPr/>
              <a:r>
                <a:t>3</a:t>
              </a:r>
            </a:p>
          </p:txBody>
        </p:sp>
      </p:grpSp>
      <p:sp>
        <p:nvSpPr>
          <p:cNvPr id="187" name="TextBox 16"/>
          <p:cNvSpPr txBox="1"/>
          <p:nvPr/>
        </p:nvSpPr>
        <p:spPr>
          <a:xfrm>
            <a:off x="8466124" y="2670048"/>
            <a:ext cx="2655724"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1B2A22"/>
                </a:solidFill>
                <a:latin typeface="Cambria"/>
                <a:ea typeface="Microsoft JhengHei"/>
                <a:cs typeface="Cambria"/>
                <a:sym typeface="Cambria"/>
              </a:defRPr>
            </a:lvl1pPr>
          </a:lstStyle>
          <a:p>
            <a:pPr/>
            <a:r>
              <a:t>International Platform</a:t>
            </a:r>
          </a:p>
        </p:txBody>
      </p:sp>
      <p:sp>
        <p:nvSpPr>
          <p:cNvPr id="188" name="TextBox 17"/>
          <p:cNvSpPr txBox="1"/>
          <p:nvPr/>
        </p:nvSpPr>
        <p:spPr>
          <a:xfrm>
            <a:off x="8466124" y="3310128"/>
            <a:ext cx="2655724"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E6B4F"/>
                </a:solidFill>
                <a:latin typeface="Microsoft JhengHei"/>
                <a:ea typeface="Microsoft JhengHei"/>
                <a:cs typeface="Microsoft JhengHei"/>
                <a:sym typeface="Microsoft JhengHei"/>
              </a:defRPr>
            </a:lvl1pPr>
          </a:lstStyle>
          <a:p>
            <a:pPr/>
            <a:r>
              <a:t>建立農業療癒與健康環境國際平台</a:t>
            </a:r>
          </a:p>
        </p:txBody>
      </p:sp>
      <p:sp>
        <p:nvSpPr>
          <p:cNvPr id="189" name="TextBox 18"/>
          <p:cNvSpPr txBox="1"/>
          <p:nvPr/>
        </p:nvSpPr>
        <p:spPr>
          <a:xfrm>
            <a:off x="8466124" y="3657600"/>
            <a:ext cx="2655724" cy="10492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7999"/>
              </a:lnSpc>
              <a:spcBef>
                <a:spcPts val="500"/>
              </a:spcBef>
              <a:defRPr sz="1000">
                <a:solidFill>
                  <a:srgbClr val="1B2A22"/>
                </a:solidFill>
                <a:latin typeface="Cambria"/>
                <a:ea typeface="Microsoft JhengHei"/>
                <a:cs typeface="Cambria"/>
                <a:sym typeface="Cambria"/>
              </a:defRPr>
            </a:pPr>
            <a:r>
              <a:t>Act as an integrating hub, widening the network of scholars, professionals and organisations at home and abroad for joint research and shared agendas.</a:t>
            </a:r>
            <a:endParaRPr>
              <a:latin typeface="+mj-lt"/>
              <a:ea typeface="+mj-ea"/>
              <a:cs typeface="+mj-cs"/>
              <a:sym typeface="Calibri"/>
            </a:endParaRPr>
          </a:p>
          <a:p>
            <a:pPr>
              <a:lnSpc>
                <a:spcPct val="117999"/>
              </a:lnSpc>
              <a:defRPr sz="1000">
                <a:solidFill>
                  <a:srgbClr val="6F7C75"/>
                </a:solidFill>
                <a:latin typeface="Microsoft JhengHei"/>
                <a:ea typeface="Microsoft JhengHei"/>
                <a:cs typeface="Microsoft JhengHei"/>
                <a:sym typeface="Microsoft JhengHei"/>
              </a:defRPr>
            </a:pPr>
            <a:r>
              <a:t>整合資源合作核心，擴大連結農業療癒與健康環境相關領域之學者、專業人士及國內外組織，進行研究合作及議題探討。</a:t>
            </a:r>
          </a:p>
        </p:txBody>
      </p:sp>
      <p:sp>
        <p:nvSpPr>
          <p:cNvPr id="190" name="TextBox 19"/>
          <p:cNvSpPr txBox="1"/>
          <p:nvPr/>
        </p:nvSpPr>
        <p:spPr>
          <a:xfrm>
            <a:off x="685799" y="5833871"/>
            <a:ext cx="10820097" cy="3530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sz="1200">
                <a:solidFill>
                  <a:srgbClr val="1B2A22"/>
                </a:solidFill>
                <a:latin typeface="Cambria"/>
                <a:ea typeface="Microsoft JhengHei"/>
                <a:cs typeface="Cambria"/>
                <a:sym typeface="Cambria"/>
              </a:defRPr>
            </a:pPr>
            <a:r>
              <a:t>The Landscape and Human Health platform is already running, with joint conferences held; its eight member universities are listed in section 06.</a:t>
            </a:r>
            <a:endParaRPr>
              <a:latin typeface="+mj-lt"/>
              <a:ea typeface="+mj-ea"/>
              <a:cs typeface="+mj-cs"/>
              <a:sym typeface="Calibri"/>
            </a:endParaRPr>
          </a:p>
          <a:p>
            <a:pPr>
              <a:lnSpc>
                <a:spcPct val="115000"/>
              </a:lnSpc>
              <a:defRPr sz="1100">
                <a:solidFill>
                  <a:srgbClr val="6F7C75"/>
                </a:solidFill>
                <a:latin typeface="Microsoft JhengHei"/>
                <a:ea typeface="Microsoft JhengHei"/>
                <a:cs typeface="Microsoft JhengHei"/>
                <a:sym typeface="Microsoft JhengHei"/>
              </a:defRPr>
            </a:pPr>
            <a:r>
              <a:t>已建立 Landscape and Human Health 國際合作研究平台，合作交流並舉辦國際研討會（八校成員名單見第 06 章）。</a:t>
            </a:r>
          </a:p>
        </p:txBody>
      </p:sp>
      <p:sp>
        <p:nvSpPr>
          <p:cNvPr id="191" name="TextBox 20"/>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192" name="TextBox 21"/>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5</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6" name="TextBox 1"/>
          <p:cNvSpPr txBox="1"/>
          <p:nvPr/>
        </p:nvSpPr>
        <p:spPr>
          <a:xfrm>
            <a:off x="685799" y="365758"/>
            <a:ext cx="10820097"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E6B4F"/>
                </a:solidFill>
                <a:latin typeface="Cambria"/>
                <a:ea typeface="Microsoft JhengHei"/>
                <a:cs typeface="Cambria"/>
                <a:sym typeface="Cambria"/>
              </a:defRPr>
            </a:lvl1pPr>
          </a:lstStyle>
          <a:p>
            <a:pPr/>
            <a:r>
              <a:t>01  ·  WHY NOW  ·  Charter, Article 2</a:t>
            </a:r>
          </a:p>
        </p:txBody>
      </p:sp>
      <p:sp>
        <p:nvSpPr>
          <p:cNvPr id="197"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Seven Mandated Tasks</a:t>
            </a:r>
          </a:p>
        </p:txBody>
      </p:sp>
      <p:sp>
        <p:nvSpPr>
          <p:cNvPr id="198"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設置辦法第二條　七項任務</a:t>
            </a:r>
          </a:p>
        </p:txBody>
      </p:sp>
      <p:grpSp>
        <p:nvGrpSpPr>
          <p:cNvPr id="201" name="Oval 4"/>
          <p:cNvGrpSpPr/>
          <p:nvPr/>
        </p:nvGrpSpPr>
        <p:grpSpPr>
          <a:xfrm>
            <a:off x="685800" y="1984248"/>
            <a:ext cx="310898" cy="310899"/>
            <a:chOff x="0" y="0"/>
            <a:chExt cx="310897" cy="310898"/>
          </a:xfrm>
        </p:grpSpPr>
        <p:sp>
          <p:nvSpPr>
            <p:cNvPr id="199" name="Circle"/>
            <p:cNvSpPr/>
            <p:nvPr/>
          </p:nvSpPr>
          <p:spPr>
            <a:xfrm>
              <a:off x="0" y="0"/>
              <a:ext cx="310898" cy="310899"/>
            </a:xfrm>
            <a:prstGeom prst="ellipse">
              <a:avLst/>
            </a:prstGeom>
            <a:solidFill>
              <a:srgbClr val="EEF3E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200" name="1"/>
            <p:cNvSpPr txBox="1"/>
            <p:nvPr/>
          </p:nvSpPr>
          <p:spPr>
            <a:xfrm>
              <a:off x="45530" y="79247"/>
              <a:ext cx="219838"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200">
                  <a:solidFill>
                    <a:srgbClr val="2E6B4F"/>
                  </a:solidFill>
                  <a:latin typeface="Cambria"/>
                  <a:ea typeface="Microsoft JhengHei"/>
                  <a:cs typeface="Cambria"/>
                  <a:sym typeface="Cambria"/>
                </a:defRPr>
              </a:lvl1pPr>
            </a:lstStyle>
            <a:p>
              <a:pPr/>
              <a:r>
                <a:t>1</a:t>
              </a:r>
            </a:p>
          </p:txBody>
        </p:sp>
      </p:grpSp>
      <p:sp>
        <p:nvSpPr>
          <p:cNvPr id="202" name="TextBox 5"/>
          <p:cNvSpPr txBox="1"/>
          <p:nvPr/>
        </p:nvSpPr>
        <p:spPr>
          <a:xfrm>
            <a:off x="1142999" y="1920238"/>
            <a:ext cx="5989323" cy="3454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200">
                <a:solidFill>
                  <a:srgbClr val="1B2A22"/>
                </a:solidFill>
                <a:latin typeface="Cambria"/>
                <a:ea typeface="Microsoft JhengHei"/>
                <a:cs typeface="Cambria"/>
                <a:sym typeface="Cambria"/>
              </a:defRPr>
            </a:pPr>
            <a:r>
              <a:t>Planning and integration of teaching, curricula, facilities and funding</a:t>
            </a:r>
            <a:endParaRPr>
              <a:latin typeface="+mj-lt"/>
              <a:ea typeface="+mj-ea"/>
              <a:cs typeface="+mj-cs"/>
              <a:sym typeface="Calibri"/>
            </a:endParaRPr>
          </a:p>
          <a:p>
            <a:pPr>
              <a:lnSpc>
                <a:spcPct val="110000"/>
              </a:lnSpc>
              <a:defRPr sz="1100">
                <a:solidFill>
                  <a:srgbClr val="6F7C75"/>
                </a:solidFill>
                <a:latin typeface="Microsoft JhengHei"/>
                <a:ea typeface="Microsoft JhengHei"/>
                <a:cs typeface="Microsoft JhengHei"/>
                <a:sym typeface="Microsoft JhengHei"/>
              </a:defRPr>
            </a:pPr>
            <a:r>
              <a:t>規劃、整合、執行教學、課程、設備及經費之運用</a:t>
            </a:r>
          </a:p>
        </p:txBody>
      </p:sp>
      <p:grpSp>
        <p:nvGrpSpPr>
          <p:cNvPr id="205" name="Oval 6"/>
          <p:cNvGrpSpPr/>
          <p:nvPr/>
        </p:nvGrpSpPr>
        <p:grpSpPr>
          <a:xfrm>
            <a:off x="685800" y="2578606"/>
            <a:ext cx="310898" cy="310899"/>
            <a:chOff x="0" y="0"/>
            <a:chExt cx="310897" cy="310898"/>
          </a:xfrm>
        </p:grpSpPr>
        <p:sp>
          <p:nvSpPr>
            <p:cNvPr id="203" name="Circle"/>
            <p:cNvSpPr/>
            <p:nvPr/>
          </p:nvSpPr>
          <p:spPr>
            <a:xfrm>
              <a:off x="0" y="0"/>
              <a:ext cx="310898" cy="310899"/>
            </a:xfrm>
            <a:prstGeom prst="ellipse">
              <a:avLst/>
            </a:prstGeom>
            <a:solidFill>
              <a:srgbClr val="EEF3E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204" name="2"/>
            <p:cNvSpPr txBox="1"/>
            <p:nvPr/>
          </p:nvSpPr>
          <p:spPr>
            <a:xfrm>
              <a:off x="45530" y="79247"/>
              <a:ext cx="219838"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200">
                  <a:solidFill>
                    <a:srgbClr val="2E6B4F"/>
                  </a:solidFill>
                  <a:latin typeface="Cambria"/>
                  <a:ea typeface="Microsoft JhengHei"/>
                  <a:cs typeface="Cambria"/>
                  <a:sym typeface="Cambria"/>
                </a:defRPr>
              </a:lvl1pPr>
            </a:lstStyle>
            <a:p>
              <a:pPr/>
              <a:r>
                <a:t>2</a:t>
              </a:r>
            </a:p>
          </p:txBody>
        </p:sp>
      </p:grpSp>
      <p:sp>
        <p:nvSpPr>
          <p:cNvPr id="206" name="TextBox 7"/>
          <p:cNvSpPr txBox="1"/>
          <p:nvPr/>
        </p:nvSpPr>
        <p:spPr>
          <a:xfrm>
            <a:off x="1142999" y="2514600"/>
            <a:ext cx="5989323" cy="3454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200">
                <a:solidFill>
                  <a:srgbClr val="1B2A22"/>
                </a:solidFill>
                <a:latin typeface="Cambria"/>
                <a:ea typeface="Microsoft JhengHei"/>
                <a:cs typeface="Cambria"/>
                <a:sym typeface="Cambria"/>
              </a:defRPr>
            </a:pPr>
            <a:r>
              <a:t>Managing research and teaching facilities as a service</a:t>
            </a:r>
            <a:endParaRPr>
              <a:latin typeface="+mj-lt"/>
              <a:ea typeface="+mj-ea"/>
              <a:cs typeface="+mj-cs"/>
              <a:sym typeface="Calibri"/>
            </a:endParaRPr>
          </a:p>
          <a:p>
            <a:pPr>
              <a:lnSpc>
                <a:spcPct val="110000"/>
              </a:lnSpc>
              <a:defRPr sz="1100">
                <a:solidFill>
                  <a:srgbClr val="6F7C75"/>
                </a:solidFill>
                <a:latin typeface="Microsoft JhengHei"/>
                <a:ea typeface="Microsoft JhengHei"/>
                <a:cs typeface="Microsoft JhengHei"/>
                <a:sym typeface="Microsoft JhengHei"/>
              </a:defRPr>
            </a:pPr>
            <a:r>
              <a:t>整合研究與教學設備，提供有效管理與服務</a:t>
            </a:r>
          </a:p>
        </p:txBody>
      </p:sp>
      <p:grpSp>
        <p:nvGrpSpPr>
          <p:cNvPr id="209" name="Oval 8"/>
          <p:cNvGrpSpPr/>
          <p:nvPr/>
        </p:nvGrpSpPr>
        <p:grpSpPr>
          <a:xfrm>
            <a:off x="685800" y="3172966"/>
            <a:ext cx="310898" cy="310899"/>
            <a:chOff x="0" y="0"/>
            <a:chExt cx="310897" cy="310898"/>
          </a:xfrm>
        </p:grpSpPr>
        <p:sp>
          <p:nvSpPr>
            <p:cNvPr id="207" name="Circle"/>
            <p:cNvSpPr/>
            <p:nvPr/>
          </p:nvSpPr>
          <p:spPr>
            <a:xfrm>
              <a:off x="0" y="0"/>
              <a:ext cx="310898" cy="310899"/>
            </a:xfrm>
            <a:prstGeom prst="ellipse">
              <a:avLst/>
            </a:prstGeom>
            <a:solidFill>
              <a:srgbClr val="EEF3E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208" name="3"/>
            <p:cNvSpPr txBox="1"/>
            <p:nvPr/>
          </p:nvSpPr>
          <p:spPr>
            <a:xfrm>
              <a:off x="45530" y="79247"/>
              <a:ext cx="219838"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200">
                  <a:solidFill>
                    <a:srgbClr val="2E6B4F"/>
                  </a:solidFill>
                  <a:latin typeface="Cambria"/>
                  <a:ea typeface="Microsoft JhengHei"/>
                  <a:cs typeface="Cambria"/>
                  <a:sym typeface="Cambria"/>
                </a:defRPr>
              </a:lvl1pPr>
            </a:lstStyle>
            <a:p>
              <a:pPr/>
              <a:r>
                <a:t>3</a:t>
              </a:r>
            </a:p>
          </p:txBody>
        </p:sp>
      </p:grpSp>
      <p:sp>
        <p:nvSpPr>
          <p:cNvPr id="210" name="TextBox 9"/>
          <p:cNvSpPr txBox="1"/>
          <p:nvPr/>
        </p:nvSpPr>
        <p:spPr>
          <a:xfrm>
            <a:off x="1142999" y="3108960"/>
            <a:ext cx="5989323" cy="3454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200">
                <a:solidFill>
                  <a:srgbClr val="1B2A22"/>
                </a:solidFill>
                <a:latin typeface="Cambria"/>
                <a:ea typeface="Microsoft JhengHei"/>
                <a:cs typeface="Cambria"/>
                <a:sym typeface="Cambria"/>
              </a:defRPr>
            </a:pPr>
            <a:r>
              <a:t>Hosting lectures, workshops and training programmes</a:t>
            </a:r>
            <a:endParaRPr>
              <a:latin typeface="+mj-lt"/>
              <a:ea typeface="+mj-ea"/>
              <a:cs typeface="+mj-cs"/>
              <a:sym typeface="Calibri"/>
            </a:endParaRPr>
          </a:p>
          <a:p>
            <a:pPr>
              <a:lnSpc>
                <a:spcPct val="110000"/>
              </a:lnSpc>
              <a:defRPr sz="1100">
                <a:solidFill>
                  <a:srgbClr val="6F7C75"/>
                </a:solidFill>
                <a:latin typeface="Microsoft JhengHei"/>
                <a:ea typeface="Microsoft JhengHei"/>
                <a:cs typeface="Microsoft JhengHei"/>
                <a:sym typeface="Microsoft JhengHei"/>
              </a:defRPr>
            </a:pPr>
            <a:r>
              <a:t>舉辦學術演講、講習會及訓練班</a:t>
            </a:r>
          </a:p>
        </p:txBody>
      </p:sp>
      <p:grpSp>
        <p:nvGrpSpPr>
          <p:cNvPr id="213" name="Oval 10"/>
          <p:cNvGrpSpPr/>
          <p:nvPr/>
        </p:nvGrpSpPr>
        <p:grpSpPr>
          <a:xfrm>
            <a:off x="685800" y="3767328"/>
            <a:ext cx="310898" cy="310899"/>
            <a:chOff x="0" y="0"/>
            <a:chExt cx="310897" cy="310898"/>
          </a:xfrm>
        </p:grpSpPr>
        <p:sp>
          <p:nvSpPr>
            <p:cNvPr id="211" name="Circle"/>
            <p:cNvSpPr/>
            <p:nvPr/>
          </p:nvSpPr>
          <p:spPr>
            <a:xfrm>
              <a:off x="0" y="0"/>
              <a:ext cx="310898" cy="310899"/>
            </a:xfrm>
            <a:prstGeom prst="ellipse">
              <a:avLst/>
            </a:prstGeom>
            <a:solidFill>
              <a:srgbClr val="EEF3E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212" name="4"/>
            <p:cNvSpPr txBox="1"/>
            <p:nvPr/>
          </p:nvSpPr>
          <p:spPr>
            <a:xfrm>
              <a:off x="45530" y="79247"/>
              <a:ext cx="219838"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200">
                  <a:solidFill>
                    <a:srgbClr val="2E6B4F"/>
                  </a:solidFill>
                  <a:latin typeface="Cambria"/>
                  <a:ea typeface="Microsoft JhengHei"/>
                  <a:cs typeface="Cambria"/>
                  <a:sym typeface="Cambria"/>
                </a:defRPr>
              </a:lvl1pPr>
            </a:lstStyle>
            <a:p>
              <a:pPr/>
              <a:r>
                <a:t>4</a:t>
              </a:r>
            </a:p>
          </p:txBody>
        </p:sp>
      </p:grpSp>
      <p:sp>
        <p:nvSpPr>
          <p:cNvPr id="214" name="TextBox 11"/>
          <p:cNvSpPr txBox="1"/>
          <p:nvPr/>
        </p:nvSpPr>
        <p:spPr>
          <a:xfrm>
            <a:off x="1142999" y="3703320"/>
            <a:ext cx="5989323" cy="3454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200">
                <a:solidFill>
                  <a:srgbClr val="1B2A22"/>
                </a:solidFill>
                <a:latin typeface="Cambria"/>
                <a:ea typeface="Microsoft JhengHei"/>
                <a:cs typeface="Cambria"/>
                <a:sym typeface="Cambria"/>
              </a:defRPr>
            </a:pPr>
            <a:r>
              <a:t>Cultivating talent in agricultural therapy and green health</a:t>
            </a:r>
            <a:endParaRPr>
              <a:latin typeface="+mj-lt"/>
              <a:ea typeface="+mj-ea"/>
              <a:cs typeface="+mj-cs"/>
              <a:sym typeface="Calibri"/>
            </a:endParaRPr>
          </a:p>
          <a:p>
            <a:pPr>
              <a:lnSpc>
                <a:spcPct val="110000"/>
              </a:lnSpc>
              <a:defRPr sz="1100">
                <a:solidFill>
                  <a:srgbClr val="6F7C75"/>
                </a:solidFill>
                <a:latin typeface="Microsoft JhengHei"/>
                <a:ea typeface="Microsoft JhengHei"/>
                <a:cs typeface="Microsoft JhengHei"/>
                <a:sym typeface="Microsoft JhengHei"/>
              </a:defRPr>
            </a:pPr>
            <a:r>
              <a:t>培育農業療癒與綠色健康人才</a:t>
            </a:r>
          </a:p>
        </p:txBody>
      </p:sp>
      <p:grpSp>
        <p:nvGrpSpPr>
          <p:cNvPr id="217" name="Oval 12"/>
          <p:cNvGrpSpPr/>
          <p:nvPr/>
        </p:nvGrpSpPr>
        <p:grpSpPr>
          <a:xfrm>
            <a:off x="685800" y="4361688"/>
            <a:ext cx="310898" cy="310899"/>
            <a:chOff x="0" y="0"/>
            <a:chExt cx="310897" cy="310898"/>
          </a:xfrm>
        </p:grpSpPr>
        <p:sp>
          <p:nvSpPr>
            <p:cNvPr id="215" name="Circle"/>
            <p:cNvSpPr/>
            <p:nvPr/>
          </p:nvSpPr>
          <p:spPr>
            <a:xfrm>
              <a:off x="0" y="0"/>
              <a:ext cx="310898" cy="310899"/>
            </a:xfrm>
            <a:prstGeom prst="ellipse">
              <a:avLst/>
            </a:prstGeom>
            <a:solidFill>
              <a:srgbClr val="EEF3E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216" name="5"/>
            <p:cNvSpPr txBox="1"/>
            <p:nvPr/>
          </p:nvSpPr>
          <p:spPr>
            <a:xfrm>
              <a:off x="45530" y="79247"/>
              <a:ext cx="219838"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200">
                  <a:solidFill>
                    <a:srgbClr val="2E6B4F"/>
                  </a:solidFill>
                  <a:latin typeface="Cambria"/>
                  <a:ea typeface="Microsoft JhengHei"/>
                  <a:cs typeface="Cambria"/>
                  <a:sym typeface="Cambria"/>
                </a:defRPr>
              </a:lvl1pPr>
            </a:lstStyle>
            <a:p>
              <a:pPr/>
              <a:r>
                <a:t>5</a:t>
              </a:r>
            </a:p>
          </p:txBody>
        </p:sp>
      </p:grpSp>
      <p:sp>
        <p:nvSpPr>
          <p:cNvPr id="218" name="TextBox 13"/>
          <p:cNvSpPr txBox="1"/>
          <p:nvPr/>
        </p:nvSpPr>
        <p:spPr>
          <a:xfrm>
            <a:off x="1142999" y="4297679"/>
            <a:ext cx="5989323" cy="3454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200">
                <a:solidFill>
                  <a:srgbClr val="1B2A22"/>
                </a:solidFill>
                <a:latin typeface="Cambria"/>
                <a:ea typeface="Microsoft JhengHei"/>
                <a:cs typeface="Cambria"/>
                <a:sym typeface="Cambria"/>
              </a:defRPr>
            </a:pPr>
            <a:r>
              <a:t>Promoting domestic and international exchange</a:t>
            </a:r>
            <a:endParaRPr>
              <a:latin typeface="+mj-lt"/>
              <a:ea typeface="+mj-ea"/>
              <a:cs typeface="+mj-cs"/>
              <a:sym typeface="Calibri"/>
            </a:endParaRPr>
          </a:p>
          <a:p>
            <a:pPr>
              <a:lnSpc>
                <a:spcPct val="110000"/>
              </a:lnSpc>
              <a:defRPr sz="1100">
                <a:solidFill>
                  <a:srgbClr val="6F7C75"/>
                </a:solidFill>
                <a:latin typeface="Microsoft JhengHei"/>
                <a:ea typeface="Microsoft JhengHei"/>
                <a:cs typeface="Microsoft JhengHei"/>
                <a:sym typeface="Microsoft JhengHei"/>
              </a:defRPr>
            </a:pPr>
            <a:r>
              <a:t>促進與國內外相關科系及團體之交流</a:t>
            </a:r>
          </a:p>
        </p:txBody>
      </p:sp>
      <p:grpSp>
        <p:nvGrpSpPr>
          <p:cNvPr id="221" name="Oval 14"/>
          <p:cNvGrpSpPr/>
          <p:nvPr/>
        </p:nvGrpSpPr>
        <p:grpSpPr>
          <a:xfrm>
            <a:off x="685800" y="4956047"/>
            <a:ext cx="310898" cy="310899"/>
            <a:chOff x="0" y="0"/>
            <a:chExt cx="310897" cy="310898"/>
          </a:xfrm>
        </p:grpSpPr>
        <p:sp>
          <p:nvSpPr>
            <p:cNvPr id="219" name="Circle"/>
            <p:cNvSpPr/>
            <p:nvPr/>
          </p:nvSpPr>
          <p:spPr>
            <a:xfrm>
              <a:off x="0" y="0"/>
              <a:ext cx="310898" cy="310899"/>
            </a:xfrm>
            <a:prstGeom prst="ellipse">
              <a:avLst/>
            </a:prstGeom>
            <a:solidFill>
              <a:srgbClr val="EEF3E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220" name="6"/>
            <p:cNvSpPr txBox="1"/>
            <p:nvPr/>
          </p:nvSpPr>
          <p:spPr>
            <a:xfrm>
              <a:off x="45530" y="79247"/>
              <a:ext cx="219838"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200">
                  <a:solidFill>
                    <a:srgbClr val="2E6B4F"/>
                  </a:solidFill>
                  <a:latin typeface="Cambria"/>
                  <a:ea typeface="Microsoft JhengHei"/>
                  <a:cs typeface="Cambria"/>
                  <a:sym typeface="Cambria"/>
                </a:defRPr>
              </a:lvl1pPr>
            </a:lstStyle>
            <a:p>
              <a:pPr/>
              <a:r>
                <a:t>6</a:t>
              </a:r>
            </a:p>
          </p:txBody>
        </p:sp>
      </p:grpSp>
      <p:sp>
        <p:nvSpPr>
          <p:cNvPr id="222" name="TextBox 15"/>
          <p:cNvSpPr txBox="1"/>
          <p:nvPr/>
        </p:nvSpPr>
        <p:spPr>
          <a:xfrm>
            <a:off x="1142999" y="4892040"/>
            <a:ext cx="5989323" cy="3454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200">
                <a:solidFill>
                  <a:srgbClr val="1B2A22"/>
                </a:solidFill>
                <a:latin typeface="Cambria"/>
                <a:ea typeface="Microsoft JhengHei"/>
                <a:cs typeface="Cambria"/>
                <a:sym typeface="Cambria"/>
              </a:defRPr>
            </a:pPr>
            <a:r>
              <a:t>Bridging industry and government collaboration</a:t>
            </a:r>
            <a:endParaRPr>
              <a:latin typeface="+mj-lt"/>
              <a:ea typeface="+mj-ea"/>
              <a:cs typeface="+mj-cs"/>
              <a:sym typeface="Calibri"/>
            </a:endParaRPr>
          </a:p>
          <a:p>
            <a:pPr>
              <a:lnSpc>
                <a:spcPct val="110000"/>
              </a:lnSpc>
              <a:defRPr sz="1100">
                <a:solidFill>
                  <a:srgbClr val="6F7C75"/>
                </a:solidFill>
                <a:latin typeface="Microsoft JhengHei"/>
                <a:ea typeface="Microsoft JhengHei"/>
                <a:cs typeface="Microsoft JhengHei"/>
                <a:sym typeface="Microsoft JhengHei"/>
              </a:defRPr>
            </a:pPr>
            <a:r>
              <a:t>連結業界與政府之合作可能</a:t>
            </a:r>
          </a:p>
        </p:txBody>
      </p:sp>
      <p:grpSp>
        <p:nvGrpSpPr>
          <p:cNvPr id="225" name="Oval 16"/>
          <p:cNvGrpSpPr/>
          <p:nvPr/>
        </p:nvGrpSpPr>
        <p:grpSpPr>
          <a:xfrm>
            <a:off x="685800" y="5550408"/>
            <a:ext cx="310898" cy="310899"/>
            <a:chOff x="0" y="0"/>
            <a:chExt cx="310897" cy="310898"/>
          </a:xfrm>
        </p:grpSpPr>
        <p:sp>
          <p:nvSpPr>
            <p:cNvPr id="223" name="Circle"/>
            <p:cNvSpPr/>
            <p:nvPr/>
          </p:nvSpPr>
          <p:spPr>
            <a:xfrm>
              <a:off x="0" y="0"/>
              <a:ext cx="310898" cy="310899"/>
            </a:xfrm>
            <a:prstGeom prst="ellipse">
              <a:avLst/>
            </a:prstGeom>
            <a:solidFill>
              <a:srgbClr val="EEF3E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224" name="7"/>
            <p:cNvSpPr txBox="1"/>
            <p:nvPr/>
          </p:nvSpPr>
          <p:spPr>
            <a:xfrm>
              <a:off x="45530" y="79247"/>
              <a:ext cx="219838"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200">
                  <a:solidFill>
                    <a:srgbClr val="2E6B4F"/>
                  </a:solidFill>
                  <a:latin typeface="Cambria"/>
                  <a:ea typeface="Microsoft JhengHei"/>
                  <a:cs typeface="Cambria"/>
                  <a:sym typeface="Cambria"/>
                </a:defRPr>
              </a:lvl1pPr>
            </a:lstStyle>
            <a:p>
              <a:pPr/>
              <a:r>
                <a:t>7</a:t>
              </a:r>
            </a:p>
          </p:txBody>
        </p:sp>
      </p:grpSp>
      <p:sp>
        <p:nvSpPr>
          <p:cNvPr id="226" name="TextBox 17"/>
          <p:cNvSpPr txBox="1"/>
          <p:nvPr/>
        </p:nvSpPr>
        <p:spPr>
          <a:xfrm>
            <a:off x="1142999" y="5486400"/>
            <a:ext cx="5989323" cy="3454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200">
                <a:solidFill>
                  <a:srgbClr val="1B2A22"/>
                </a:solidFill>
                <a:latin typeface="Cambria"/>
                <a:ea typeface="Microsoft JhengHei"/>
                <a:cs typeface="Cambria"/>
                <a:sym typeface="Cambria"/>
              </a:defRPr>
            </a:pPr>
            <a:r>
              <a:t>Other related research and service matters</a:t>
            </a:r>
            <a:endParaRPr>
              <a:latin typeface="+mj-lt"/>
              <a:ea typeface="+mj-ea"/>
              <a:cs typeface="+mj-cs"/>
              <a:sym typeface="Calibri"/>
            </a:endParaRPr>
          </a:p>
          <a:p>
            <a:pPr>
              <a:lnSpc>
                <a:spcPct val="110000"/>
              </a:lnSpc>
              <a:defRPr sz="1100">
                <a:solidFill>
                  <a:srgbClr val="6F7C75"/>
                </a:solidFill>
                <a:latin typeface="Microsoft JhengHei"/>
                <a:ea typeface="Microsoft JhengHei"/>
                <a:cs typeface="Microsoft JhengHei"/>
                <a:sym typeface="Microsoft JhengHei"/>
              </a:defRPr>
            </a:pPr>
            <a:r>
              <a:t>其他相關研究與服務事宜</a:t>
            </a:r>
          </a:p>
        </p:txBody>
      </p:sp>
      <p:pic>
        <p:nvPicPr>
          <p:cNvPr id="227" name="Picture 18" descr="Picture 18"/>
          <p:cNvPicPr>
            <a:picLocks noChangeAspect="1"/>
          </p:cNvPicPr>
          <p:nvPr/>
        </p:nvPicPr>
        <p:blipFill>
          <a:blip r:embed="rId3">
            <a:extLst/>
          </a:blip>
          <a:srcRect l="0" t="5124" r="0" b="5124"/>
          <a:stretch>
            <a:fillRect/>
          </a:stretch>
        </p:blipFill>
        <p:spPr>
          <a:xfrm>
            <a:off x="7360918" y="1938527"/>
            <a:ext cx="4142234" cy="2788923"/>
          </a:xfrm>
          <a:prstGeom prst="rect">
            <a:avLst/>
          </a:prstGeom>
          <a:ln w="12700">
            <a:miter lim="400000"/>
          </a:ln>
        </p:spPr>
      </p:pic>
      <p:sp>
        <p:nvSpPr>
          <p:cNvPr id="228" name="Rounded Rectangle 19"/>
          <p:cNvSpPr/>
          <p:nvPr/>
        </p:nvSpPr>
        <p:spPr>
          <a:xfrm>
            <a:off x="7360918" y="4892040"/>
            <a:ext cx="4142234" cy="123444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229" name="TextBox 20"/>
          <p:cNvSpPr txBox="1"/>
          <p:nvPr/>
        </p:nvSpPr>
        <p:spPr>
          <a:xfrm>
            <a:off x="7589518" y="5102352"/>
            <a:ext cx="3685033" cy="5374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7999"/>
              </a:lnSpc>
              <a:spcBef>
                <a:spcPts val="500"/>
              </a:spcBef>
              <a:defRPr sz="1200">
                <a:solidFill>
                  <a:srgbClr val="1B2A22"/>
                </a:solidFill>
                <a:latin typeface="Cambria"/>
                <a:ea typeface="Microsoft JhengHei"/>
                <a:cs typeface="Cambria"/>
                <a:sym typeface="Cambria"/>
              </a:defRPr>
            </a:pPr>
            <a:r>
              <a:t>Articles five and six are the formal basis for the international platform and the commissioned research that follow.</a:t>
            </a:r>
            <a:endParaRPr>
              <a:latin typeface="+mj-lt"/>
              <a:ea typeface="+mj-ea"/>
              <a:cs typeface="+mj-cs"/>
              <a:sym typeface="Calibri"/>
            </a:endParaRPr>
          </a:p>
          <a:p>
            <a:pPr>
              <a:lnSpc>
                <a:spcPct val="117999"/>
              </a:lnSpc>
              <a:defRPr sz="1100">
                <a:solidFill>
                  <a:srgbClr val="6F7C75"/>
                </a:solidFill>
                <a:latin typeface="Microsoft JhengHei"/>
                <a:ea typeface="Microsoft JhengHei"/>
                <a:cs typeface="Microsoft JhengHei"/>
                <a:sym typeface="Microsoft JhengHei"/>
              </a:defRPr>
            </a:pPr>
            <a:r>
              <a:t>第五、六項任務，是後續國際平台與委託研究的正式依據。</a:t>
            </a:r>
          </a:p>
        </p:txBody>
      </p:sp>
      <p:sp>
        <p:nvSpPr>
          <p:cNvPr id="230" name="TextBox 21"/>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231" name="TextBox 22"/>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6</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5" name="Rectangle 1"/>
          <p:cNvSpPr/>
          <p:nvPr/>
        </p:nvSpPr>
        <p:spPr>
          <a:xfrm>
            <a:off x="-54866" y="-54865"/>
            <a:ext cx="12301427" cy="6967729"/>
          </a:xfrm>
          <a:prstGeom prst="rect">
            <a:avLst/>
          </a:prstGeom>
          <a:solidFill>
            <a:srgbClr val="143529"/>
          </a:solidFill>
          <a:ln w="12700">
            <a:miter lim="400000"/>
          </a:ln>
        </p:spPr>
        <p:txBody>
          <a:bodyPr lIns="45718" tIns="45718" rIns="45718" bIns="45718" anchor="ctr"/>
          <a:lstStyle/>
          <a:p>
            <a:pPr algn="ctr">
              <a:defRPr>
                <a:solidFill>
                  <a:srgbClr val="FFFFFF"/>
                </a:solidFill>
              </a:defRPr>
            </a:pPr>
          </a:p>
        </p:txBody>
      </p:sp>
      <p:sp>
        <p:nvSpPr>
          <p:cNvPr id="236" name="TextBox 2"/>
          <p:cNvSpPr txBox="1"/>
          <p:nvPr/>
        </p:nvSpPr>
        <p:spPr>
          <a:xfrm>
            <a:off x="685800" y="1717545"/>
            <a:ext cx="2743200" cy="1092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7400">
                <a:solidFill>
                  <a:srgbClr val="2A5A44"/>
                </a:solidFill>
                <a:latin typeface="Cambria"/>
                <a:ea typeface="Microsoft JhengHei"/>
                <a:cs typeface="Cambria"/>
                <a:sym typeface="Cambria"/>
              </a:defRPr>
            </a:lvl1pPr>
          </a:lstStyle>
          <a:p>
            <a:pPr/>
            <a:r>
              <a:t>02</a:t>
            </a:r>
          </a:p>
        </p:txBody>
      </p:sp>
      <p:sp>
        <p:nvSpPr>
          <p:cNvPr id="237" name="TextBox 3"/>
          <p:cNvSpPr txBox="1"/>
          <p:nvPr/>
        </p:nvSpPr>
        <p:spPr>
          <a:xfrm>
            <a:off x="685799" y="3063238"/>
            <a:ext cx="10820097" cy="596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4000">
                <a:solidFill>
                  <a:srgbClr val="FFFFFF"/>
                </a:solidFill>
                <a:latin typeface="Cambria"/>
                <a:ea typeface="Microsoft JhengHei"/>
                <a:cs typeface="Cambria"/>
                <a:sym typeface="Cambria"/>
              </a:defRPr>
            </a:lvl1pPr>
          </a:lstStyle>
          <a:p>
            <a:pPr/>
            <a:r>
              <a:t>Five Laboratories</a:t>
            </a:r>
          </a:p>
        </p:txBody>
      </p:sp>
      <p:sp>
        <p:nvSpPr>
          <p:cNvPr id="238" name="TextBox 4"/>
          <p:cNvSpPr txBox="1"/>
          <p:nvPr/>
        </p:nvSpPr>
        <p:spPr>
          <a:xfrm>
            <a:off x="685799" y="3913632"/>
            <a:ext cx="10820097"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200">
                <a:solidFill>
                  <a:srgbClr val="8FB09C"/>
                </a:solidFill>
                <a:latin typeface="Microsoft JhengHei"/>
                <a:ea typeface="Microsoft JhengHei"/>
                <a:cs typeface="Microsoft JhengHei"/>
                <a:sym typeface="Microsoft JhengHei"/>
              </a:defRPr>
            </a:lvl1pPr>
          </a:lstStyle>
          <a:p>
            <a:pPr/>
            <a:r>
              <a:t>五間實驗室</a:t>
            </a:r>
          </a:p>
        </p:txBody>
      </p:sp>
      <p:sp>
        <p:nvSpPr>
          <p:cNvPr id="239" name="TextBox 5"/>
          <p:cNvSpPr txBox="1"/>
          <p:nvPr/>
        </p:nvSpPr>
        <p:spPr>
          <a:xfrm>
            <a:off x="685799" y="4709159"/>
            <a:ext cx="7863841"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400">
                <a:solidFill>
                  <a:srgbClr val="C6D5CB"/>
                </a:solidFill>
                <a:latin typeface="Cambria"/>
                <a:ea typeface="Microsoft JhengHei"/>
                <a:cs typeface="Cambria"/>
                <a:sym typeface="Cambria"/>
              </a:defRPr>
            </a:pPr>
            <a:r>
              <a:t>Measure · Design · Validate · Prescribe.</a:t>
            </a:r>
            <a:endParaRPr>
              <a:latin typeface="+mj-lt"/>
              <a:ea typeface="+mj-ea"/>
              <a:cs typeface="+mj-cs"/>
              <a:sym typeface="Calibri"/>
            </a:endParaRPr>
          </a:p>
          <a:p>
            <a:pPr>
              <a:defRPr sz="1200">
                <a:solidFill>
                  <a:srgbClr val="8FB09C"/>
                </a:solidFill>
                <a:latin typeface="Microsoft JhengHei"/>
                <a:ea typeface="Microsoft JhengHei"/>
                <a:cs typeface="Microsoft JhengHei"/>
                <a:sym typeface="Microsoft JhengHei"/>
              </a:defRPr>
            </a:pPr>
            <a:r>
              <a:t>量測 · 設計 · 驗證 · 處方。</a:t>
            </a:r>
          </a:p>
        </p:txBody>
      </p:sp>
      <p:sp>
        <p:nvSpPr>
          <p:cNvPr id="240" name="TextBox 6"/>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8FB09C"/>
                </a:solidFill>
                <a:latin typeface="Cambria"/>
                <a:ea typeface="Microsoft JhengHei"/>
                <a:cs typeface="Cambria"/>
                <a:sym typeface="Cambria"/>
              </a:defRPr>
            </a:lvl1pPr>
          </a:lstStyle>
          <a:p>
            <a:pPr/>
            <a:r>
              <a:t>Green Health Research Center  ·  NTU College of Bioresources and Agriculture</a:t>
            </a:r>
          </a:p>
        </p:txBody>
      </p:sp>
      <p:sp>
        <p:nvSpPr>
          <p:cNvPr id="241" name="TextBox 7"/>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8FB09C"/>
                </a:solidFill>
                <a:latin typeface="Cambria"/>
                <a:ea typeface="Microsoft JhengHei"/>
                <a:cs typeface="Cambria"/>
                <a:sym typeface="Cambria"/>
              </a:defRPr>
            </a:lvl1pPr>
          </a:lstStyle>
          <a:p>
            <a:pPr/>
            <a:r>
              <a:t>7</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5"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FIVE LABORATORIES  ·  01 MEASURE  ·  量測</a:t>
            </a:r>
          </a:p>
        </p:txBody>
      </p:sp>
      <p:sp>
        <p:nvSpPr>
          <p:cNvPr id="246"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Lab 301 — Health Landscape Intelligence Lab</a:t>
            </a:r>
          </a:p>
        </p:txBody>
      </p:sp>
      <p:sp>
        <p:nvSpPr>
          <p:cNvPr id="247"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301 健康景觀智能室　·　負責人　張俊彥　Lead: Chun-Yen Chang</a:t>
            </a:r>
          </a:p>
        </p:txBody>
      </p:sp>
      <p:sp>
        <p:nvSpPr>
          <p:cNvPr id="248" name="Rounded Rectangle 4"/>
          <p:cNvSpPr/>
          <p:nvPr/>
        </p:nvSpPr>
        <p:spPr>
          <a:xfrm>
            <a:off x="685800" y="1965960"/>
            <a:ext cx="3401568" cy="1170434"/>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249" name="TextBox 5"/>
          <p:cNvSpPr txBox="1"/>
          <p:nvPr/>
        </p:nvSpPr>
        <p:spPr>
          <a:xfrm>
            <a:off x="941832" y="2203704"/>
            <a:ext cx="2944368" cy="3454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300"/>
              </a:spcBef>
              <a:defRPr sz="1200">
                <a:solidFill>
                  <a:srgbClr val="1B2A22"/>
                </a:solidFill>
                <a:latin typeface="Cambria"/>
                <a:ea typeface="Microsoft JhengHei"/>
                <a:cs typeface="Cambria"/>
                <a:sym typeface="Cambria"/>
              </a:defRPr>
            </a:pPr>
            <a:r>
              <a:t>AI-workstation measurement array</a:t>
            </a:r>
            <a:endParaRPr>
              <a:latin typeface="+mj-lt"/>
              <a:ea typeface="+mj-ea"/>
              <a:cs typeface="+mj-cs"/>
              <a:sym typeface="Calibri"/>
            </a:endParaRPr>
          </a:p>
          <a:p>
            <a:pPr>
              <a:lnSpc>
                <a:spcPct val="110000"/>
              </a:lnSpc>
              <a:defRPr sz="1100">
                <a:solidFill>
                  <a:srgbClr val="6F7C75"/>
                </a:solidFill>
                <a:latin typeface="Microsoft JhengHei"/>
                <a:ea typeface="Microsoft JhengHei"/>
                <a:cs typeface="Microsoft JhengHei"/>
                <a:sym typeface="Microsoft JhengHei"/>
              </a:defRPr>
            </a:pPr>
            <a:r>
              <a:t>AI 健康景觀智能系統</a:t>
            </a:r>
          </a:p>
        </p:txBody>
      </p:sp>
      <p:sp>
        <p:nvSpPr>
          <p:cNvPr id="250" name="Rounded Rectangle 6"/>
          <p:cNvSpPr/>
          <p:nvPr/>
        </p:nvSpPr>
        <p:spPr>
          <a:xfrm>
            <a:off x="4288535" y="1965960"/>
            <a:ext cx="3401570" cy="1170434"/>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251" name="TextBox 7"/>
          <p:cNvSpPr txBox="1"/>
          <p:nvPr/>
        </p:nvSpPr>
        <p:spPr>
          <a:xfrm>
            <a:off x="4544567" y="2203704"/>
            <a:ext cx="2944370" cy="3454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300"/>
              </a:spcBef>
              <a:defRPr sz="1200">
                <a:solidFill>
                  <a:srgbClr val="1B2A22"/>
                </a:solidFill>
                <a:latin typeface="Cambria"/>
                <a:ea typeface="Microsoft JhengHei"/>
                <a:cs typeface="Cambria"/>
                <a:sym typeface="Cambria"/>
              </a:defRPr>
            </a:pPr>
            <a:r>
              <a:t>Landscape image feature extraction</a:t>
            </a:r>
            <a:endParaRPr>
              <a:latin typeface="+mj-lt"/>
              <a:ea typeface="+mj-ea"/>
              <a:cs typeface="+mj-cs"/>
              <a:sym typeface="Calibri"/>
            </a:endParaRPr>
          </a:p>
          <a:p>
            <a:pPr>
              <a:lnSpc>
                <a:spcPct val="110000"/>
              </a:lnSpc>
              <a:defRPr sz="1100">
                <a:solidFill>
                  <a:srgbClr val="6F7C75"/>
                </a:solidFill>
                <a:latin typeface="Microsoft JhengHei"/>
                <a:ea typeface="Microsoft JhengHei"/>
                <a:cs typeface="Microsoft JhengHei"/>
                <a:sym typeface="Microsoft JhengHei"/>
              </a:defRPr>
            </a:pPr>
            <a:r>
              <a:t>健康影像處理系統</a:t>
            </a:r>
          </a:p>
        </p:txBody>
      </p:sp>
      <p:sp>
        <p:nvSpPr>
          <p:cNvPr id="252" name="Rounded Rectangle 8"/>
          <p:cNvSpPr/>
          <p:nvPr/>
        </p:nvSpPr>
        <p:spPr>
          <a:xfrm>
            <a:off x="685800" y="3291837"/>
            <a:ext cx="3401568" cy="1170435"/>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253" name="TextBox 9"/>
          <p:cNvSpPr txBox="1"/>
          <p:nvPr/>
        </p:nvSpPr>
        <p:spPr>
          <a:xfrm>
            <a:off x="941832" y="3529583"/>
            <a:ext cx="2944368" cy="3454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300"/>
              </a:spcBef>
              <a:defRPr sz="1200">
                <a:solidFill>
                  <a:srgbClr val="1B2A22"/>
                </a:solidFill>
                <a:latin typeface="Cambria"/>
                <a:ea typeface="Microsoft JhengHei"/>
                <a:cs typeface="Cambria"/>
                <a:sym typeface="Cambria"/>
              </a:defRPr>
            </a:pPr>
            <a:r>
              <a:t>Continuous physiological data capture</a:t>
            </a:r>
            <a:endParaRPr>
              <a:latin typeface="+mj-lt"/>
              <a:ea typeface="+mj-ea"/>
              <a:cs typeface="+mj-cs"/>
              <a:sym typeface="Calibri"/>
            </a:endParaRPr>
          </a:p>
          <a:p>
            <a:pPr>
              <a:lnSpc>
                <a:spcPct val="110000"/>
              </a:lnSpc>
              <a:defRPr sz="1100">
                <a:solidFill>
                  <a:srgbClr val="6F7C75"/>
                </a:solidFill>
                <a:latin typeface="Microsoft JhengHei"/>
                <a:ea typeface="Microsoft JhengHei"/>
                <a:cs typeface="Microsoft JhengHei"/>
                <a:sym typeface="Microsoft JhengHei"/>
              </a:defRPr>
            </a:pPr>
            <a:r>
              <a:t>長期即時生理資料收集系統</a:t>
            </a:r>
          </a:p>
        </p:txBody>
      </p:sp>
      <p:sp>
        <p:nvSpPr>
          <p:cNvPr id="254" name="Rounded Rectangle 10"/>
          <p:cNvSpPr/>
          <p:nvPr/>
        </p:nvSpPr>
        <p:spPr>
          <a:xfrm>
            <a:off x="4288535" y="3291837"/>
            <a:ext cx="3401570" cy="1170435"/>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255" name="TextBox 11"/>
          <p:cNvSpPr txBox="1"/>
          <p:nvPr/>
        </p:nvSpPr>
        <p:spPr>
          <a:xfrm>
            <a:off x="4544567" y="3529583"/>
            <a:ext cx="2944370" cy="3454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300"/>
              </a:spcBef>
              <a:defRPr sz="1200">
                <a:solidFill>
                  <a:srgbClr val="1B2A22"/>
                </a:solidFill>
                <a:latin typeface="Cambria"/>
                <a:ea typeface="Microsoft JhengHei"/>
                <a:cs typeface="Cambria"/>
                <a:sym typeface="Cambria"/>
              </a:defRPr>
            </a:pPr>
            <a:r>
              <a:t>Standardised stimulus library</a:t>
            </a:r>
            <a:endParaRPr>
              <a:latin typeface="+mj-lt"/>
              <a:ea typeface="+mj-ea"/>
              <a:cs typeface="+mj-cs"/>
              <a:sym typeface="Calibri"/>
            </a:endParaRPr>
          </a:p>
          <a:p>
            <a:pPr>
              <a:lnSpc>
                <a:spcPct val="110000"/>
              </a:lnSpc>
              <a:defRPr sz="1100">
                <a:solidFill>
                  <a:srgbClr val="6F7C75"/>
                </a:solidFill>
                <a:latin typeface="Microsoft JhengHei"/>
                <a:ea typeface="Microsoft JhengHei"/>
                <a:cs typeface="Microsoft JhengHei"/>
                <a:sym typeface="Microsoft JhengHei"/>
              </a:defRPr>
            </a:pPr>
            <a:r>
              <a:t>健康景觀影音資料庫</a:t>
            </a:r>
          </a:p>
        </p:txBody>
      </p:sp>
      <p:sp>
        <p:nvSpPr>
          <p:cNvPr id="256" name="Rounded Rectangle 12"/>
          <p:cNvSpPr/>
          <p:nvPr/>
        </p:nvSpPr>
        <p:spPr>
          <a:xfrm>
            <a:off x="685800" y="4617720"/>
            <a:ext cx="3401568" cy="1170434"/>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257" name="TextBox 13"/>
          <p:cNvSpPr txBox="1"/>
          <p:nvPr/>
        </p:nvSpPr>
        <p:spPr>
          <a:xfrm>
            <a:off x="941832" y="4855464"/>
            <a:ext cx="2944368" cy="3454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300"/>
              </a:spcBef>
              <a:defRPr sz="1200">
                <a:solidFill>
                  <a:srgbClr val="1B2A22"/>
                </a:solidFill>
                <a:latin typeface="Cambria"/>
                <a:ea typeface="Microsoft JhengHei"/>
                <a:cs typeface="Cambria"/>
                <a:sym typeface="Cambria"/>
              </a:defRPr>
            </a:pPr>
            <a:r>
              <a:t>Therapeutic environment case archive</a:t>
            </a:r>
            <a:endParaRPr>
              <a:latin typeface="+mj-lt"/>
              <a:ea typeface="+mj-ea"/>
              <a:cs typeface="+mj-cs"/>
              <a:sym typeface="Calibri"/>
            </a:endParaRPr>
          </a:p>
          <a:p>
            <a:pPr>
              <a:lnSpc>
                <a:spcPct val="110000"/>
              </a:lnSpc>
              <a:defRPr sz="1100">
                <a:solidFill>
                  <a:srgbClr val="6F7C75"/>
                </a:solidFill>
                <a:latin typeface="Microsoft JhengHei"/>
                <a:ea typeface="Microsoft JhengHei"/>
                <a:cs typeface="Microsoft JhengHei"/>
                <a:sym typeface="Microsoft JhengHei"/>
              </a:defRPr>
            </a:pPr>
            <a:r>
              <a:t>健康景觀案例資料庫</a:t>
            </a:r>
          </a:p>
        </p:txBody>
      </p:sp>
      <p:sp>
        <p:nvSpPr>
          <p:cNvPr id="258" name="Rounded Rectangle 14"/>
          <p:cNvSpPr/>
          <p:nvPr/>
        </p:nvSpPr>
        <p:spPr>
          <a:xfrm>
            <a:off x="4288535" y="4617720"/>
            <a:ext cx="3401570" cy="1170434"/>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259" name="TextBox 15"/>
          <p:cNvSpPr txBox="1"/>
          <p:nvPr/>
        </p:nvSpPr>
        <p:spPr>
          <a:xfrm>
            <a:off x="4544567" y="4855464"/>
            <a:ext cx="2944370" cy="3454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300"/>
              </a:spcBef>
              <a:defRPr sz="1200">
                <a:solidFill>
                  <a:srgbClr val="1B2A22"/>
                </a:solidFill>
                <a:latin typeface="Cambria"/>
                <a:ea typeface="Microsoft JhengHei"/>
                <a:cs typeface="Cambria"/>
                <a:sym typeface="Cambria"/>
              </a:defRPr>
            </a:pPr>
            <a:r>
              <a:t>Qualitative content analysis</a:t>
            </a:r>
            <a:endParaRPr>
              <a:latin typeface="+mj-lt"/>
              <a:ea typeface="+mj-ea"/>
              <a:cs typeface="+mj-cs"/>
              <a:sym typeface="Calibri"/>
            </a:endParaRPr>
          </a:p>
          <a:p>
            <a:pPr>
              <a:lnSpc>
                <a:spcPct val="110000"/>
              </a:lnSpc>
              <a:defRPr sz="1100">
                <a:solidFill>
                  <a:srgbClr val="6F7C75"/>
                </a:solidFill>
                <a:latin typeface="Microsoft JhengHei"/>
                <a:ea typeface="Microsoft JhengHei"/>
                <a:cs typeface="Microsoft JhengHei"/>
                <a:sym typeface="Microsoft JhengHei"/>
              </a:defRPr>
            </a:pPr>
            <a:r>
              <a:t>文字內容分析系統</a:t>
            </a:r>
          </a:p>
        </p:txBody>
      </p:sp>
      <p:pic>
        <p:nvPicPr>
          <p:cNvPr id="260" name="Picture 16" descr="Picture 16"/>
          <p:cNvPicPr>
            <a:picLocks noChangeAspect="1"/>
          </p:cNvPicPr>
          <p:nvPr/>
        </p:nvPicPr>
        <p:blipFill>
          <a:blip r:embed="rId3">
            <a:extLst/>
          </a:blip>
          <a:srcRect l="0" t="4158" r="0" b="4158"/>
          <a:stretch>
            <a:fillRect/>
          </a:stretch>
        </p:blipFill>
        <p:spPr>
          <a:xfrm>
            <a:off x="7818118" y="1965960"/>
            <a:ext cx="3685034" cy="2606040"/>
          </a:xfrm>
          <a:prstGeom prst="rect">
            <a:avLst/>
          </a:prstGeom>
          <a:ln w="12700">
            <a:miter lim="400000"/>
          </a:ln>
        </p:spPr>
      </p:pic>
      <p:sp>
        <p:nvSpPr>
          <p:cNvPr id="261" name="Rounded Rectangle 17"/>
          <p:cNvSpPr/>
          <p:nvPr/>
        </p:nvSpPr>
        <p:spPr>
          <a:xfrm>
            <a:off x="7818118" y="4626864"/>
            <a:ext cx="3685034" cy="1517906"/>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262" name="TextBox 18"/>
          <p:cNvSpPr txBox="1"/>
          <p:nvPr/>
        </p:nvSpPr>
        <p:spPr>
          <a:xfrm>
            <a:off x="8046718" y="4791454"/>
            <a:ext cx="3227834" cy="9575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500"/>
              </a:spcBef>
              <a:defRPr sz="1300">
                <a:solidFill>
                  <a:srgbClr val="2E6B4F"/>
                </a:solidFill>
                <a:latin typeface="Cambria"/>
                <a:ea typeface="Microsoft JhengHei"/>
                <a:cs typeface="Cambria"/>
                <a:sym typeface="Cambria"/>
              </a:defRPr>
            </a:pPr>
            <a:r>
              <a:t>Six systems form the data source of the entire center</a:t>
            </a:r>
            <a:endParaRPr>
              <a:latin typeface="+mj-lt"/>
              <a:ea typeface="+mj-ea"/>
              <a:cs typeface="+mj-cs"/>
              <a:sym typeface="Calibri"/>
            </a:endParaRPr>
          </a:p>
          <a:p>
            <a:pPr>
              <a:lnSpc>
                <a:spcPct val="115000"/>
              </a:lnSpc>
              <a:spcBef>
                <a:spcPts val="400"/>
              </a:spcBef>
              <a:defRPr sz="1100">
                <a:solidFill>
                  <a:srgbClr val="1B2A22"/>
                </a:solidFill>
                <a:latin typeface="Cambria"/>
                <a:ea typeface="Microsoft JhengHei"/>
                <a:cs typeface="Cambria"/>
                <a:sym typeface="Cambria"/>
              </a:defRPr>
            </a:pPr>
            <a:r>
              <a:t>Every design claim and clinical argument comes back to what is measured here.</a:t>
            </a:r>
            <a:endParaRPr>
              <a:latin typeface="+mj-lt"/>
              <a:ea typeface="+mj-ea"/>
              <a:cs typeface="+mj-cs"/>
              <a:sym typeface="Calibri"/>
            </a:endParaRPr>
          </a:p>
          <a:p>
            <a:pPr>
              <a:lnSpc>
                <a:spcPct val="115000"/>
              </a:lnSpc>
              <a:defRPr sz="1000">
                <a:solidFill>
                  <a:srgbClr val="6F7C75"/>
                </a:solidFill>
                <a:latin typeface="Microsoft JhengHei"/>
                <a:ea typeface="Microsoft JhengHei"/>
                <a:cs typeface="Microsoft JhengHei"/>
                <a:sym typeface="Microsoft JhengHei"/>
              </a:defRPr>
            </a:pPr>
            <a:r>
              <a:t>所有設計主張與臨床論證，最終都要回到這裡的量測結果。</a:t>
            </a:r>
          </a:p>
        </p:txBody>
      </p:sp>
      <p:sp>
        <p:nvSpPr>
          <p:cNvPr id="263" name="TextBox 19"/>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264" name="TextBox 20"/>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8</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8"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FIVE LABORATORIES  ·  01 MEASURE  ·  量測</a:t>
            </a:r>
          </a:p>
        </p:txBody>
      </p:sp>
      <p:sp>
        <p:nvSpPr>
          <p:cNvPr id="269"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Lab 301 — Facility and Measurement Interface</a:t>
            </a:r>
          </a:p>
        </p:txBody>
      </p:sp>
      <p:sp>
        <p:nvSpPr>
          <p:cNvPr id="270"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301 實驗室環境與健康量測分析介面</a:t>
            </a:r>
          </a:p>
        </p:txBody>
      </p:sp>
      <p:pic>
        <p:nvPicPr>
          <p:cNvPr id="271" name="Picture 4" descr="Picture 4"/>
          <p:cNvPicPr>
            <a:picLocks noChangeAspect="1"/>
          </p:cNvPicPr>
          <p:nvPr/>
        </p:nvPicPr>
        <p:blipFill>
          <a:blip r:embed="rId3">
            <a:extLst/>
          </a:blip>
          <a:srcRect l="0" t="18303" r="0" b="18303"/>
          <a:stretch>
            <a:fillRect/>
          </a:stretch>
        </p:blipFill>
        <p:spPr>
          <a:xfrm>
            <a:off x="685800" y="1938527"/>
            <a:ext cx="3460394" cy="1691641"/>
          </a:xfrm>
          <a:prstGeom prst="rect">
            <a:avLst/>
          </a:prstGeom>
          <a:ln w="12700">
            <a:miter lim="400000"/>
          </a:ln>
        </p:spPr>
      </p:pic>
      <p:sp>
        <p:nvSpPr>
          <p:cNvPr id="272" name="TextBox 5"/>
          <p:cNvSpPr txBox="1"/>
          <p:nvPr/>
        </p:nvSpPr>
        <p:spPr>
          <a:xfrm>
            <a:off x="685800" y="3712464"/>
            <a:ext cx="3460394"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1B2A22"/>
                </a:solidFill>
                <a:latin typeface="Cambria"/>
                <a:ea typeface="Microsoft JhengHei"/>
                <a:cs typeface="Cambria"/>
                <a:sym typeface="Cambria"/>
              </a:defRPr>
            </a:pPr>
            <a:r>
              <a:t>Data-analysis workstations</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健康數據分析工作站</a:t>
            </a:r>
          </a:p>
        </p:txBody>
      </p:sp>
      <p:pic>
        <p:nvPicPr>
          <p:cNvPr id="273" name="Picture 6" descr="Picture 6"/>
          <p:cNvPicPr>
            <a:picLocks noChangeAspect="1"/>
          </p:cNvPicPr>
          <p:nvPr/>
        </p:nvPicPr>
        <p:blipFill>
          <a:blip r:embed="rId4">
            <a:extLst/>
          </a:blip>
          <a:srcRect l="0" t="17386" r="0" b="17385"/>
          <a:stretch>
            <a:fillRect/>
          </a:stretch>
        </p:blipFill>
        <p:spPr>
          <a:xfrm>
            <a:off x="4365650" y="1938526"/>
            <a:ext cx="3460396" cy="1691643"/>
          </a:xfrm>
          <a:prstGeom prst="rect">
            <a:avLst/>
          </a:prstGeom>
          <a:ln w="12700">
            <a:miter lim="400000"/>
          </a:ln>
        </p:spPr>
      </p:pic>
      <p:sp>
        <p:nvSpPr>
          <p:cNvPr id="274" name="TextBox 7"/>
          <p:cNvSpPr txBox="1"/>
          <p:nvPr/>
        </p:nvSpPr>
        <p:spPr>
          <a:xfrm>
            <a:off x="4365650" y="3712464"/>
            <a:ext cx="3460394"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1B2A22"/>
                </a:solidFill>
                <a:latin typeface="Cambria"/>
                <a:ea typeface="Microsoft JhengHei"/>
                <a:cs typeface="Cambria"/>
                <a:sym typeface="Cambria"/>
              </a:defRPr>
            </a:pPr>
            <a:r>
              <a:t>Intelligence Lab Working Procedure</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智能室工作流程</a:t>
            </a:r>
          </a:p>
        </p:txBody>
      </p:sp>
      <p:sp>
        <p:nvSpPr>
          <p:cNvPr id="275" name="Rectangle 8"/>
          <p:cNvSpPr/>
          <p:nvPr/>
        </p:nvSpPr>
        <p:spPr>
          <a:xfrm>
            <a:off x="8045500" y="1938527"/>
            <a:ext cx="3460394" cy="1691640"/>
          </a:xfrm>
          <a:prstGeom prst="rect">
            <a:avLst/>
          </a:prstGeom>
          <a:solidFill>
            <a:srgbClr val="EEF3EF"/>
          </a:solidFill>
          <a:ln w="12700">
            <a:miter lim="400000"/>
          </a:ln>
        </p:spPr>
        <p:txBody>
          <a:bodyPr lIns="45718" tIns="45718" rIns="45718" bIns="45718" anchor="ctr"/>
          <a:lstStyle/>
          <a:p>
            <a:pPr algn="ctr">
              <a:defRPr>
                <a:solidFill>
                  <a:srgbClr val="FFFFFF"/>
                </a:solidFill>
              </a:defRPr>
            </a:pPr>
          </a:p>
        </p:txBody>
      </p:sp>
      <p:pic>
        <p:nvPicPr>
          <p:cNvPr id="276" name="Picture 9" descr="Picture 9"/>
          <p:cNvPicPr>
            <a:picLocks noChangeAspect="1"/>
          </p:cNvPicPr>
          <p:nvPr/>
        </p:nvPicPr>
        <p:blipFill>
          <a:blip r:embed="rId5">
            <a:extLst/>
          </a:blip>
          <a:stretch>
            <a:fillRect/>
          </a:stretch>
        </p:blipFill>
        <p:spPr>
          <a:xfrm>
            <a:off x="8443724" y="1993392"/>
            <a:ext cx="2663946" cy="1581914"/>
          </a:xfrm>
          <a:prstGeom prst="rect">
            <a:avLst/>
          </a:prstGeom>
          <a:ln w="12700">
            <a:miter lim="400000"/>
          </a:ln>
        </p:spPr>
      </p:pic>
      <p:sp>
        <p:nvSpPr>
          <p:cNvPr id="277" name="TextBox 10"/>
          <p:cNvSpPr txBox="1"/>
          <p:nvPr/>
        </p:nvSpPr>
        <p:spPr>
          <a:xfrm>
            <a:off x="8045500" y="3712464"/>
            <a:ext cx="3460394"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1B2A22"/>
                </a:solidFill>
                <a:latin typeface="Cambria"/>
                <a:ea typeface="Microsoft JhengHei"/>
                <a:cs typeface="Cambria"/>
                <a:sym typeface="Cambria"/>
              </a:defRPr>
            </a:pPr>
            <a:r>
              <a:t>HealthCloud analytics</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Health Cloud 健康量測分析</a:t>
            </a:r>
          </a:p>
        </p:txBody>
      </p:sp>
      <p:sp>
        <p:nvSpPr>
          <p:cNvPr id="278" name="Rectangle 11"/>
          <p:cNvSpPr/>
          <p:nvPr/>
        </p:nvSpPr>
        <p:spPr>
          <a:xfrm>
            <a:off x="685800" y="4151376"/>
            <a:ext cx="3460394" cy="1691641"/>
          </a:xfrm>
          <a:prstGeom prst="rect">
            <a:avLst/>
          </a:prstGeom>
          <a:solidFill>
            <a:srgbClr val="EEF3EF"/>
          </a:solidFill>
          <a:ln w="12700">
            <a:miter lim="400000"/>
          </a:ln>
        </p:spPr>
        <p:txBody>
          <a:bodyPr lIns="45718" tIns="45718" rIns="45718" bIns="45718" anchor="ctr"/>
          <a:lstStyle/>
          <a:p>
            <a:pPr algn="ctr">
              <a:defRPr>
                <a:solidFill>
                  <a:srgbClr val="FFFFFF"/>
                </a:solidFill>
              </a:defRPr>
            </a:pPr>
          </a:p>
        </p:txBody>
      </p:sp>
      <p:pic>
        <p:nvPicPr>
          <p:cNvPr id="279" name="Picture 12" descr="Picture 12"/>
          <p:cNvPicPr>
            <a:picLocks noChangeAspect="1"/>
          </p:cNvPicPr>
          <p:nvPr/>
        </p:nvPicPr>
        <p:blipFill>
          <a:blip r:embed="rId6">
            <a:extLst/>
          </a:blip>
          <a:stretch>
            <a:fillRect/>
          </a:stretch>
        </p:blipFill>
        <p:spPr>
          <a:xfrm>
            <a:off x="937532" y="4206240"/>
            <a:ext cx="2956930" cy="1581914"/>
          </a:xfrm>
          <a:prstGeom prst="rect">
            <a:avLst/>
          </a:prstGeom>
          <a:ln w="12700">
            <a:miter lim="400000"/>
          </a:ln>
        </p:spPr>
      </p:pic>
      <p:sp>
        <p:nvSpPr>
          <p:cNvPr id="280" name="TextBox 13"/>
          <p:cNvSpPr txBox="1"/>
          <p:nvPr/>
        </p:nvSpPr>
        <p:spPr>
          <a:xfrm>
            <a:off x="685800" y="5925310"/>
            <a:ext cx="3460394"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1B2A22"/>
                </a:solidFill>
                <a:latin typeface="Cambria"/>
                <a:ea typeface="Microsoft JhengHei"/>
                <a:cs typeface="Cambria"/>
                <a:sym typeface="Cambria"/>
              </a:defRPr>
            </a:pPr>
            <a:r>
              <a:t>Measurement review</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量測結果檢視</a:t>
            </a:r>
          </a:p>
        </p:txBody>
      </p:sp>
      <p:sp>
        <p:nvSpPr>
          <p:cNvPr id="281" name="Rectangle 14"/>
          <p:cNvSpPr/>
          <p:nvPr/>
        </p:nvSpPr>
        <p:spPr>
          <a:xfrm>
            <a:off x="4365650" y="4151376"/>
            <a:ext cx="3460394" cy="1691641"/>
          </a:xfrm>
          <a:prstGeom prst="rect">
            <a:avLst/>
          </a:prstGeom>
          <a:solidFill>
            <a:srgbClr val="EEF3EF"/>
          </a:solidFill>
          <a:ln w="12700">
            <a:miter lim="400000"/>
          </a:ln>
        </p:spPr>
        <p:txBody>
          <a:bodyPr lIns="45718" tIns="45718" rIns="45718" bIns="45718" anchor="ctr"/>
          <a:lstStyle/>
          <a:p>
            <a:pPr algn="ctr">
              <a:defRPr>
                <a:solidFill>
                  <a:srgbClr val="FFFFFF"/>
                </a:solidFill>
              </a:defRPr>
            </a:pPr>
          </a:p>
        </p:txBody>
      </p:sp>
      <p:pic>
        <p:nvPicPr>
          <p:cNvPr id="282" name="Picture 15" descr="Picture 15"/>
          <p:cNvPicPr>
            <a:picLocks noChangeAspect="1"/>
          </p:cNvPicPr>
          <p:nvPr/>
        </p:nvPicPr>
        <p:blipFill>
          <a:blip r:embed="rId7">
            <a:extLst/>
          </a:blip>
          <a:stretch>
            <a:fillRect/>
          </a:stretch>
        </p:blipFill>
        <p:spPr>
          <a:xfrm>
            <a:off x="5040724" y="4206240"/>
            <a:ext cx="2110247" cy="1581914"/>
          </a:xfrm>
          <a:prstGeom prst="rect">
            <a:avLst/>
          </a:prstGeom>
          <a:ln w="12700">
            <a:miter lim="400000"/>
          </a:ln>
        </p:spPr>
      </p:pic>
      <p:sp>
        <p:nvSpPr>
          <p:cNvPr id="283" name="TextBox 16"/>
          <p:cNvSpPr txBox="1"/>
          <p:nvPr/>
        </p:nvSpPr>
        <p:spPr>
          <a:xfrm>
            <a:off x="4365650" y="5925310"/>
            <a:ext cx="3460394"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1B2A22"/>
                </a:solidFill>
                <a:latin typeface="Cambria"/>
                <a:ea typeface="Microsoft JhengHei"/>
                <a:cs typeface="Cambria"/>
                <a:sym typeface="Cambria"/>
              </a:defRPr>
            </a:pPr>
            <a:r>
              <a:t>Psycho-Physiological dashboard</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心生理資料儀表板</a:t>
            </a:r>
          </a:p>
        </p:txBody>
      </p:sp>
      <p:sp>
        <p:nvSpPr>
          <p:cNvPr id="284" name="Rectangle 17"/>
          <p:cNvSpPr/>
          <p:nvPr/>
        </p:nvSpPr>
        <p:spPr>
          <a:xfrm>
            <a:off x="8045500" y="4151376"/>
            <a:ext cx="3460394" cy="1691641"/>
          </a:xfrm>
          <a:prstGeom prst="rect">
            <a:avLst/>
          </a:prstGeom>
          <a:solidFill>
            <a:srgbClr val="EEF3EF"/>
          </a:solidFill>
          <a:ln w="12700">
            <a:miter lim="400000"/>
          </a:ln>
        </p:spPr>
        <p:txBody>
          <a:bodyPr lIns="45718" tIns="45718" rIns="45718" bIns="45718" anchor="ctr"/>
          <a:lstStyle/>
          <a:p>
            <a:pPr algn="ctr">
              <a:defRPr>
                <a:solidFill>
                  <a:srgbClr val="FFFFFF"/>
                </a:solidFill>
              </a:defRPr>
            </a:pPr>
          </a:p>
        </p:txBody>
      </p:sp>
      <p:pic>
        <p:nvPicPr>
          <p:cNvPr id="285" name="Picture 18" descr="Picture 18"/>
          <p:cNvPicPr>
            <a:picLocks noChangeAspect="1"/>
          </p:cNvPicPr>
          <p:nvPr/>
        </p:nvPicPr>
        <p:blipFill>
          <a:blip r:embed="rId8">
            <a:extLst/>
          </a:blip>
          <a:stretch>
            <a:fillRect/>
          </a:stretch>
        </p:blipFill>
        <p:spPr>
          <a:xfrm>
            <a:off x="8720573" y="4206240"/>
            <a:ext cx="2110247" cy="1581914"/>
          </a:xfrm>
          <a:prstGeom prst="rect">
            <a:avLst/>
          </a:prstGeom>
          <a:ln w="12700">
            <a:miter lim="400000"/>
          </a:ln>
        </p:spPr>
      </p:pic>
      <p:sp>
        <p:nvSpPr>
          <p:cNvPr id="286" name="TextBox 19"/>
          <p:cNvSpPr txBox="1"/>
          <p:nvPr/>
        </p:nvSpPr>
        <p:spPr>
          <a:xfrm>
            <a:off x="8045500" y="5925310"/>
            <a:ext cx="3460394"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1B2A22"/>
                </a:solidFill>
                <a:latin typeface="Cambria"/>
                <a:ea typeface="Microsoft JhengHei"/>
                <a:cs typeface="Cambria"/>
                <a:sym typeface="Cambria"/>
              </a:defRPr>
            </a:pPr>
            <a:r>
              <a:t>Real-Time review entry</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即時量表作答</a:t>
            </a:r>
          </a:p>
        </p:txBody>
      </p:sp>
      <p:sp>
        <p:nvSpPr>
          <p:cNvPr id="287" name="TextBox 20"/>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288" name="TextBox 21"/>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9</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2"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FIVE LABORATORIES  ·  01 MEASURE  ·  方法論</a:t>
            </a:r>
          </a:p>
        </p:txBody>
      </p:sp>
      <p:sp>
        <p:nvSpPr>
          <p:cNvPr id="293" name="TextBox 2"/>
          <p:cNvSpPr txBox="1"/>
          <p:nvPr/>
        </p:nvSpPr>
        <p:spPr>
          <a:xfrm>
            <a:off x="685799" y="603504"/>
            <a:ext cx="10820097"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2700">
                <a:solidFill>
                  <a:srgbClr val="1B2A22"/>
                </a:solidFill>
                <a:latin typeface="Cambria"/>
                <a:ea typeface="Microsoft JhengHei"/>
                <a:cs typeface="Cambria"/>
                <a:sym typeface="Cambria"/>
              </a:defRPr>
            </a:lvl1pPr>
          </a:lstStyle>
          <a:p>
            <a:pPr/>
            <a:r>
              <a:t>A Landscape-Planning Journey in Seven Stations</a:t>
            </a:r>
          </a:p>
        </p:txBody>
      </p:sp>
      <p:sp>
        <p:nvSpPr>
          <p:cNvPr id="294"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景觀規劃打卡之旅　·　七站工具鏈</a:t>
            </a:r>
          </a:p>
        </p:txBody>
      </p:sp>
      <p:sp>
        <p:nvSpPr>
          <p:cNvPr id="295" name="TextBox 4"/>
          <p:cNvSpPr txBox="1"/>
          <p:nvPr/>
        </p:nvSpPr>
        <p:spPr>
          <a:xfrm>
            <a:off x="685799" y="1847088"/>
            <a:ext cx="10820097"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2E6B4F"/>
                </a:solidFill>
                <a:latin typeface="Microsoft JhengHei"/>
                <a:ea typeface="Microsoft JhengHei"/>
                <a:cs typeface="Microsoft JhengHei"/>
                <a:sym typeface="Microsoft JhengHei"/>
              </a:defRPr>
            </a:lvl1pPr>
          </a:lstStyle>
          <a:p>
            <a:pPr/>
            <a:r>
              <a:t>From reading the land to costing the plan — one growing project file　·　從讀地到估價，一份會長大的專案檔</a:t>
            </a:r>
          </a:p>
        </p:txBody>
      </p:sp>
      <p:sp>
        <p:nvSpPr>
          <p:cNvPr id="296" name="Rounded Rectangle 5"/>
          <p:cNvSpPr/>
          <p:nvPr/>
        </p:nvSpPr>
        <p:spPr>
          <a:xfrm>
            <a:off x="685800" y="2468878"/>
            <a:ext cx="1420324" cy="214884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grpSp>
        <p:nvGrpSpPr>
          <p:cNvPr id="299" name="Oval 6"/>
          <p:cNvGrpSpPr/>
          <p:nvPr/>
        </p:nvGrpSpPr>
        <p:grpSpPr>
          <a:xfrm>
            <a:off x="1139930" y="2743199"/>
            <a:ext cx="512067" cy="512068"/>
            <a:chOff x="0" y="0"/>
            <a:chExt cx="512066" cy="512066"/>
          </a:xfrm>
        </p:grpSpPr>
        <p:sp>
          <p:nvSpPr>
            <p:cNvPr id="297" name="Circle"/>
            <p:cNvSpPr/>
            <p:nvPr/>
          </p:nvSpPr>
          <p:spPr>
            <a:xfrm>
              <a:off x="0" y="-1"/>
              <a:ext cx="512067" cy="512068"/>
            </a:xfrm>
            <a:prstGeom prst="ellipse">
              <a:avLst/>
            </a:prstGeom>
            <a:solidFill>
              <a:srgbClr val="2E6B4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298" name="基"/>
            <p:cNvSpPr txBox="1"/>
            <p:nvPr/>
          </p:nvSpPr>
          <p:spPr>
            <a:xfrm>
              <a:off x="74989" y="97281"/>
              <a:ext cx="362087"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FFFFFF"/>
                  </a:solidFill>
                  <a:latin typeface="Microsoft JhengHei"/>
                  <a:ea typeface="Microsoft JhengHei"/>
                  <a:cs typeface="Microsoft JhengHei"/>
                  <a:sym typeface="Microsoft JhengHei"/>
                </a:defRPr>
              </a:lvl1pPr>
            </a:lstStyle>
            <a:p>
              <a:pPr/>
              <a:r>
                <a:t>基</a:t>
              </a:r>
            </a:p>
          </p:txBody>
        </p:sp>
      </p:grpSp>
      <p:sp>
        <p:nvSpPr>
          <p:cNvPr id="300" name="TextBox 7"/>
          <p:cNvSpPr txBox="1"/>
          <p:nvPr/>
        </p:nvSpPr>
        <p:spPr>
          <a:xfrm>
            <a:off x="685798" y="3401567"/>
            <a:ext cx="1420327"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10000"/>
              </a:lnSpc>
              <a:defRPr sz="1100">
                <a:solidFill>
                  <a:srgbClr val="1B2A22"/>
                </a:solidFill>
                <a:latin typeface="Cambria"/>
                <a:ea typeface="Microsoft JhengHei"/>
                <a:cs typeface="Cambria"/>
                <a:sym typeface="Cambria"/>
              </a:defRPr>
            </a:lvl1pPr>
          </a:lstStyle>
          <a:p>
            <a:pPr/>
            <a:r>
              <a:t>Site Reading</a:t>
            </a:r>
          </a:p>
        </p:txBody>
      </p:sp>
      <p:sp>
        <p:nvSpPr>
          <p:cNvPr id="301" name="TextBox 8"/>
          <p:cNvSpPr txBox="1"/>
          <p:nvPr/>
        </p:nvSpPr>
        <p:spPr>
          <a:xfrm>
            <a:off x="685798" y="4059935"/>
            <a:ext cx="142032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6F7C75"/>
                </a:solidFill>
                <a:latin typeface="Microsoft JhengHei"/>
                <a:ea typeface="Microsoft JhengHei"/>
                <a:cs typeface="Microsoft JhengHei"/>
                <a:sym typeface="Microsoft JhengHei"/>
              </a:defRPr>
            </a:lvl1pPr>
          </a:lstStyle>
          <a:p>
            <a:pPr/>
            <a:r>
              <a:t>讀地</a:t>
            </a:r>
          </a:p>
        </p:txBody>
      </p:sp>
      <p:sp>
        <p:nvSpPr>
          <p:cNvPr id="302" name="TextBox 9"/>
          <p:cNvSpPr txBox="1"/>
          <p:nvPr/>
        </p:nvSpPr>
        <p:spPr>
          <a:xfrm>
            <a:off x="2106122" y="2880360"/>
            <a:ext cx="146306"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700">
                <a:solidFill>
                  <a:srgbClr val="8FB09C"/>
                </a:solidFill>
                <a:latin typeface="Cambria"/>
                <a:ea typeface="Microsoft JhengHei"/>
                <a:cs typeface="Cambria"/>
                <a:sym typeface="Cambria"/>
              </a:defRPr>
            </a:lvl1pPr>
          </a:lstStyle>
          <a:p>
            <a:pPr/>
            <a:r>
              <a:t>›</a:t>
            </a:r>
          </a:p>
        </p:txBody>
      </p:sp>
      <p:sp>
        <p:nvSpPr>
          <p:cNvPr id="303" name="Rounded Rectangle 10"/>
          <p:cNvSpPr/>
          <p:nvPr/>
        </p:nvSpPr>
        <p:spPr>
          <a:xfrm>
            <a:off x="2252428" y="2468878"/>
            <a:ext cx="1420324" cy="214884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grpSp>
        <p:nvGrpSpPr>
          <p:cNvPr id="306" name="Oval 11"/>
          <p:cNvGrpSpPr/>
          <p:nvPr/>
        </p:nvGrpSpPr>
        <p:grpSpPr>
          <a:xfrm>
            <a:off x="2706558" y="2743199"/>
            <a:ext cx="512067" cy="512068"/>
            <a:chOff x="0" y="0"/>
            <a:chExt cx="512066" cy="512066"/>
          </a:xfrm>
        </p:grpSpPr>
        <p:sp>
          <p:nvSpPr>
            <p:cNvPr id="304" name="Circle"/>
            <p:cNvSpPr/>
            <p:nvPr/>
          </p:nvSpPr>
          <p:spPr>
            <a:xfrm>
              <a:off x="0" y="-1"/>
              <a:ext cx="512067" cy="512068"/>
            </a:xfrm>
            <a:prstGeom prst="ellipse">
              <a:avLst/>
            </a:prstGeom>
            <a:solidFill>
              <a:srgbClr val="2E6B4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305" name="人"/>
            <p:cNvSpPr txBox="1"/>
            <p:nvPr/>
          </p:nvSpPr>
          <p:spPr>
            <a:xfrm>
              <a:off x="74989" y="97281"/>
              <a:ext cx="362087"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FFFFFF"/>
                  </a:solidFill>
                  <a:latin typeface="Microsoft JhengHei"/>
                  <a:ea typeface="Microsoft JhengHei"/>
                  <a:cs typeface="Microsoft JhengHei"/>
                  <a:sym typeface="Microsoft JhengHei"/>
                </a:defRPr>
              </a:lvl1pPr>
            </a:lstStyle>
            <a:p>
              <a:pPr/>
              <a:r>
                <a:t>人</a:t>
              </a:r>
            </a:p>
          </p:txBody>
        </p:sp>
      </p:grpSp>
      <p:sp>
        <p:nvSpPr>
          <p:cNvPr id="307" name="TextBox 12"/>
          <p:cNvSpPr txBox="1"/>
          <p:nvPr/>
        </p:nvSpPr>
        <p:spPr>
          <a:xfrm>
            <a:off x="2252428" y="3401567"/>
            <a:ext cx="1420326"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10000"/>
              </a:lnSpc>
              <a:defRPr sz="1100">
                <a:solidFill>
                  <a:srgbClr val="1B2A22"/>
                </a:solidFill>
                <a:latin typeface="Cambria"/>
                <a:ea typeface="Microsoft JhengHei"/>
                <a:cs typeface="Cambria"/>
                <a:sym typeface="Cambria"/>
              </a:defRPr>
            </a:lvl1pPr>
          </a:lstStyle>
          <a:p>
            <a:pPr/>
            <a:r>
              <a:t>Psycho-Physiology</a:t>
            </a:r>
          </a:p>
        </p:txBody>
      </p:sp>
      <p:sp>
        <p:nvSpPr>
          <p:cNvPr id="308" name="TextBox 13"/>
          <p:cNvSpPr txBox="1"/>
          <p:nvPr/>
        </p:nvSpPr>
        <p:spPr>
          <a:xfrm>
            <a:off x="2252428" y="4059935"/>
            <a:ext cx="1420326"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6F7C75"/>
                </a:solidFill>
                <a:latin typeface="Microsoft JhengHei"/>
                <a:ea typeface="Microsoft JhengHei"/>
                <a:cs typeface="Microsoft JhengHei"/>
                <a:sym typeface="Microsoft JhengHei"/>
              </a:defRPr>
            </a:lvl1pPr>
          </a:lstStyle>
          <a:p>
            <a:pPr/>
            <a:r>
              <a:t>讀人</a:t>
            </a:r>
          </a:p>
        </p:txBody>
      </p:sp>
      <p:sp>
        <p:nvSpPr>
          <p:cNvPr id="309" name="TextBox 14"/>
          <p:cNvSpPr txBox="1"/>
          <p:nvPr/>
        </p:nvSpPr>
        <p:spPr>
          <a:xfrm>
            <a:off x="3672752" y="2880360"/>
            <a:ext cx="146306"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700">
                <a:solidFill>
                  <a:srgbClr val="8FB09C"/>
                </a:solidFill>
                <a:latin typeface="Cambria"/>
                <a:ea typeface="Microsoft JhengHei"/>
                <a:cs typeface="Cambria"/>
                <a:sym typeface="Cambria"/>
              </a:defRPr>
            </a:lvl1pPr>
          </a:lstStyle>
          <a:p>
            <a:pPr/>
            <a:r>
              <a:t>›</a:t>
            </a:r>
          </a:p>
        </p:txBody>
      </p:sp>
      <p:sp>
        <p:nvSpPr>
          <p:cNvPr id="310" name="Rounded Rectangle 15"/>
          <p:cNvSpPr/>
          <p:nvPr/>
        </p:nvSpPr>
        <p:spPr>
          <a:xfrm>
            <a:off x="3819056" y="2468878"/>
            <a:ext cx="1420326" cy="214884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grpSp>
        <p:nvGrpSpPr>
          <p:cNvPr id="313" name="Oval 16"/>
          <p:cNvGrpSpPr/>
          <p:nvPr/>
        </p:nvGrpSpPr>
        <p:grpSpPr>
          <a:xfrm>
            <a:off x="4273186" y="2743199"/>
            <a:ext cx="512067" cy="512068"/>
            <a:chOff x="0" y="0"/>
            <a:chExt cx="512066" cy="512066"/>
          </a:xfrm>
        </p:grpSpPr>
        <p:sp>
          <p:nvSpPr>
            <p:cNvPr id="311" name="Circle"/>
            <p:cNvSpPr/>
            <p:nvPr/>
          </p:nvSpPr>
          <p:spPr>
            <a:xfrm>
              <a:off x="0" y="-1"/>
              <a:ext cx="512067" cy="512068"/>
            </a:xfrm>
            <a:prstGeom prst="ellipse">
              <a:avLst/>
            </a:prstGeom>
            <a:solidFill>
              <a:srgbClr val="2E6B4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312" name="檢"/>
            <p:cNvSpPr txBox="1"/>
            <p:nvPr/>
          </p:nvSpPr>
          <p:spPr>
            <a:xfrm>
              <a:off x="74989" y="97281"/>
              <a:ext cx="362087"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FFFFFF"/>
                  </a:solidFill>
                  <a:latin typeface="Microsoft JhengHei"/>
                  <a:ea typeface="Microsoft JhengHei"/>
                  <a:cs typeface="Microsoft JhengHei"/>
                  <a:sym typeface="Microsoft JhengHei"/>
                </a:defRPr>
              </a:lvl1pPr>
            </a:lstStyle>
            <a:p>
              <a:pPr/>
              <a:r>
                <a:t>檢</a:t>
              </a:r>
            </a:p>
          </p:txBody>
        </p:sp>
      </p:grpSp>
      <p:sp>
        <p:nvSpPr>
          <p:cNvPr id="314" name="TextBox 17"/>
          <p:cNvSpPr txBox="1"/>
          <p:nvPr/>
        </p:nvSpPr>
        <p:spPr>
          <a:xfrm>
            <a:off x="3819056" y="3401567"/>
            <a:ext cx="1420326"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10000"/>
              </a:lnSpc>
              <a:defRPr sz="1100">
                <a:solidFill>
                  <a:srgbClr val="1B2A22"/>
                </a:solidFill>
                <a:latin typeface="Cambria"/>
                <a:ea typeface="Microsoft JhengHei"/>
                <a:cs typeface="Cambria"/>
                <a:sym typeface="Cambria"/>
              </a:defRPr>
            </a:lvl1pPr>
          </a:lstStyle>
          <a:p>
            <a:pPr/>
            <a:r>
              <a:t>Ecological Check</a:t>
            </a:r>
          </a:p>
        </p:txBody>
      </p:sp>
      <p:sp>
        <p:nvSpPr>
          <p:cNvPr id="315" name="TextBox 18"/>
          <p:cNvSpPr txBox="1"/>
          <p:nvPr/>
        </p:nvSpPr>
        <p:spPr>
          <a:xfrm>
            <a:off x="3819056" y="4059935"/>
            <a:ext cx="1420326"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6F7C75"/>
                </a:solidFill>
                <a:latin typeface="Microsoft JhengHei"/>
                <a:ea typeface="Microsoft JhengHei"/>
                <a:cs typeface="Microsoft JhengHei"/>
                <a:sym typeface="Microsoft JhengHei"/>
              </a:defRPr>
            </a:lvl1pPr>
          </a:lstStyle>
          <a:p>
            <a:pPr/>
            <a:r>
              <a:t>生態檢核</a:t>
            </a:r>
          </a:p>
        </p:txBody>
      </p:sp>
      <p:sp>
        <p:nvSpPr>
          <p:cNvPr id="316" name="TextBox 19"/>
          <p:cNvSpPr txBox="1"/>
          <p:nvPr/>
        </p:nvSpPr>
        <p:spPr>
          <a:xfrm>
            <a:off x="5239379" y="2880360"/>
            <a:ext cx="146306"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700">
                <a:solidFill>
                  <a:srgbClr val="8FB09C"/>
                </a:solidFill>
                <a:latin typeface="Cambria"/>
                <a:ea typeface="Microsoft JhengHei"/>
                <a:cs typeface="Cambria"/>
                <a:sym typeface="Cambria"/>
              </a:defRPr>
            </a:lvl1pPr>
          </a:lstStyle>
          <a:p>
            <a:pPr/>
            <a:r>
              <a:t>›</a:t>
            </a:r>
          </a:p>
        </p:txBody>
      </p:sp>
      <p:sp>
        <p:nvSpPr>
          <p:cNvPr id="317" name="Rounded Rectangle 20"/>
          <p:cNvSpPr/>
          <p:nvPr/>
        </p:nvSpPr>
        <p:spPr>
          <a:xfrm>
            <a:off x="5385684" y="2468878"/>
            <a:ext cx="1420326" cy="214884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grpSp>
        <p:nvGrpSpPr>
          <p:cNvPr id="320" name="Oval 21"/>
          <p:cNvGrpSpPr/>
          <p:nvPr/>
        </p:nvGrpSpPr>
        <p:grpSpPr>
          <a:xfrm>
            <a:off x="5839814" y="2743199"/>
            <a:ext cx="512067" cy="512068"/>
            <a:chOff x="0" y="0"/>
            <a:chExt cx="512066" cy="512066"/>
          </a:xfrm>
        </p:grpSpPr>
        <p:sp>
          <p:nvSpPr>
            <p:cNvPr id="318" name="Circle"/>
            <p:cNvSpPr/>
            <p:nvPr/>
          </p:nvSpPr>
          <p:spPr>
            <a:xfrm>
              <a:off x="0" y="-1"/>
              <a:ext cx="512067" cy="512068"/>
            </a:xfrm>
            <a:prstGeom prst="ellipse">
              <a:avLst/>
            </a:prstGeom>
            <a:solidFill>
              <a:srgbClr val="2E6B4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319" name="協"/>
            <p:cNvSpPr txBox="1"/>
            <p:nvPr/>
          </p:nvSpPr>
          <p:spPr>
            <a:xfrm>
              <a:off x="74989" y="97281"/>
              <a:ext cx="362087"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FFFFFF"/>
                  </a:solidFill>
                  <a:latin typeface="Microsoft JhengHei"/>
                  <a:ea typeface="Microsoft JhengHei"/>
                  <a:cs typeface="Microsoft JhengHei"/>
                  <a:sym typeface="Microsoft JhengHei"/>
                </a:defRPr>
              </a:lvl1pPr>
            </a:lstStyle>
            <a:p>
              <a:pPr/>
              <a:r>
                <a:t>協</a:t>
              </a:r>
            </a:p>
          </p:txBody>
        </p:sp>
      </p:grpSp>
      <p:sp>
        <p:nvSpPr>
          <p:cNvPr id="321" name="TextBox 22"/>
          <p:cNvSpPr txBox="1"/>
          <p:nvPr/>
        </p:nvSpPr>
        <p:spPr>
          <a:xfrm>
            <a:off x="5385684" y="3401567"/>
            <a:ext cx="1420326"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10000"/>
              </a:lnSpc>
              <a:defRPr sz="1100">
                <a:solidFill>
                  <a:srgbClr val="1B2A22"/>
                </a:solidFill>
                <a:latin typeface="Cambria"/>
                <a:ea typeface="Microsoft JhengHei"/>
                <a:cs typeface="Cambria"/>
                <a:sym typeface="Cambria"/>
              </a:defRPr>
            </a:lvl1pPr>
          </a:lstStyle>
          <a:p>
            <a:pPr/>
            <a:r>
              <a:t>Social Justice</a:t>
            </a:r>
          </a:p>
        </p:txBody>
      </p:sp>
      <p:sp>
        <p:nvSpPr>
          <p:cNvPr id="322" name="TextBox 23"/>
          <p:cNvSpPr txBox="1"/>
          <p:nvPr/>
        </p:nvSpPr>
        <p:spPr>
          <a:xfrm>
            <a:off x="5385684" y="4059935"/>
            <a:ext cx="1420326"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6F7C75"/>
                </a:solidFill>
                <a:latin typeface="Microsoft JhengHei"/>
                <a:ea typeface="Microsoft JhengHei"/>
                <a:cs typeface="Microsoft JhengHei"/>
                <a:sym typeface="Microsoft JhengHei"/>
              </a:defRPr>
            </a:lvl1pPr>
          </a:lstStyle>
          <a:p>
            <a:pPr/>
            <a:r>
              <a:t>社會正義</a:t>
            </a:r>
          </a:p>
        </p:txBody>
      </p:sp>
      <p:sp>
        <p:nvSpPr>
          <p:cNvPr id="323" name="TextBox 24"/>
          <p:cNvSpPr txBox="1"/>
          <p:nvPr/>
        </p:nvSpPr>
        <p:spPr>
          <a:xfrm>
            <a:off x="6806009" y="2880360"/>
            <a:ext cx="146306"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700">
                <a:solidFill>
                  <a:srgbClr val="8FB09C"/>
                </a:solidFill>
                <a:latin typeface="Cambria"/>
                <a:ea typeface="Microsoft JhengHei"/>
                <a:cs typeface="Cambria"/>
                <a:sym typeface="Cambria"/>
              </a:defRPr>
            </a:lvl1pPr>
          </a:lstStyle>
          <a:p>
            <a:pPr/>
            <a:r>
              <a:t>›</a:t>
            </a:r>
          </a:p>
        </p:txBody>
      </p:sp>
      <p:sp>
        <p:nvSpPr>
          <p:cNvPr id="324" name="Rounded Rectangle 25"/>
          <p:cNvSpPr/>
          <p:nvPr/>
        </p:nvSpPr>
        <p:spPr>
          <a:xfrm>
            <a:off x="6952312" y="2468878"/>
            <a:ext cx="1420326" cy="214884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grpSp>
        <p:nvGrpSpPr>
          <p:cNvPr id="327" name="Oval 26"/>
          <p:cNvGrpSpPr/>
          <p:nvPr/>
        </p:nvGrpSpPr>
        <p:grpSpPr>
          <a:xfrm>
            <a:off x="7406444" y="2743199"/>
            <a:ext cx="512067" cy="512068"/>
            <a:chOff x="0" y="0"/>
            <a:chExt cx="512066" cy="512066"/>
          </a:xfrm>
        </p:grpSpPr>
        <p:sp>
          <p:nvSpPr>
            <p:cNvPr id="325" name="Circle"/>
            <p:cNvSpPr/>
            <p:nvPr/>
          </p:nvSpPr>
          <p:spPr>
            <a:xfrm>
              <a:off x="0" y="-1"/>
              <a:ext cx="512067" cy="512068"/>
            </a:xfrm>
            <a:prstGeom prst="ellipse">
              <a:avLst/>
            </a:prstGeom>
            <a:solidFill>
              <a:srgbClr val="2E6B4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326" name="斂"/>
            <p:cNvSpPr txBox="1"/>
            <p:nvPr/>
          </p:nvSpPr>
          <p:spPr>
            <a:xfrm>
              <a:off x="74989" y="97281"/>
              <a:ext cx="362087"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FFFFFF"/>
                  </a:solidFill>
                  <a:latin typeface="Microsoft JhengHei"/>
                  <a:ea typeface="Microsoft JhengHei"/>
                  <a:cs typeface="Microsoft JhengHei"/>
                  <a:sym typeface="Microsoft JhengHei"/>
                </a:defRPr>
              </a:lvl1pPr>
            </a:lstStyle>
            <a:p>
              <a:pPr/>
              <a:r>
                <a:t>斂</a:t>
              </a:r>
            </a:p>
          </p:txBody>
        </p:sp>
      </p:grpSp>
      <p:sp>
        <p:nvSpPr>
          <p:cNvPr id="328" name="TextBox 27"/>
          <p:cNvSpPr txBox="1"/>
          <p:nvPr/>
        </p:nvSpPr>
        <p:spPr>
          <a:xfrm>
            <a:off x="6952312" y="3401567"/>
            <a:ext cx="1420326"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10000"/>
              </a:lnSpc>
              <a:defRPr sz="1100">
                <a:solidFill>
                  <a:srgbClr val="1B2A22"/>
                </a:solidFill>
                <a:latin typeface="Cambria"/>
                <a:ea typeface="Microsoft JhengHei"/>
                <a:cs typeface="Cambria"/>
                <a:sym typeface="Cambria"/>
              </a:defRPr>
            </a:lvl1pPr>
          </a:lstStyle>
          <a:p>
            <a:pPr/>
            <a:r>
              <a:t>Zoning and Flow</a:t>
            </a:r>
          </a:p>
        </p:txBody>
      </p:sp>
      <p:sp>
        <p:nvSpPr>
          <p:cNvPr id="329" name="TextBox 28"/>
          <p:cNvSpPr txBox="1"/>
          <p:nvPr/>
        </p:nvSpPr>
        <p:spPr>
          <a:xfrm>
            <a:off x="6952312" y="4059935"/>
            <a:ext cx="1420326"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6F7C75"/>
                </a:solidFill>
                <a:latin typeface="Microsoft JhengHei"/>
                <a:ea typeface="Microsoft JhengHei"/>
                <a:cs typeface="Microsoft JhengHei"/>
                <a:sym typeface="Microsoft JhengHei"/>
              </a:defRPr>
            </a:lvl1pPr>
          </a:lstStyle>
          <a:p>
            <a:pPr/>
            <a:r>
              <a:t>分區動線</a:t>
            </a:r>
          </a:p>
        </p:txBody>
      </p:sp>
      <p:sp>
        <p:nvSpPr>
          <p:cNvPr id="330" name="TextBox 29"/>
          <p:cNvSpPr txBox="1"/>
          <p:nvPr/>
        </p:nvSpPr>
        <p:spPr>
          <a:xfrm>
            <a:off x="8372637" y="2880360"/>
            <a:ext cx="146306"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700">
                <a:solidFill>
                  <a:srgbClr val="8FB09C"/>
                </a:solidFill>
                <a:latin typeface="Cambria"/>
                <a:ea typeface="Microsoft JhengHei"/>
                <a:cs typeface="Cambria"/>
                <a:sym typeface="Cambria"/>
              </a:defRPr>
            </a:lvl1pPr>
          </a:lstStyle>
          <a:p>
            <a:pPr/>
            <a:r>
              <a:t>›</a:t>
            </a:r>
          </a:p>
        </p:txBody>
      </p:sp>
      <p:sp>
        <p:nvSpPr>
          <p:cNvPr id="331" name="Rounded Rectangle 30"/>
          <p:cNvSpPr/>
          <p:nvPr/>
        </p:nvSpPr>
        <p:spPr>
          <a:xfrm>
            <a:off x="8518942" y="2468878"/>
            <a:ext cx="1420324" cy="214884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grpSp>
        <p:nvGrpSpPr>
          <p:cNvPr id="334" name="Oval 31"/>
          <p:cNvGrpSpPr/>
          <p:nvPr/>
        </p:nvGrpSpPr>
        <p:grpSpPr>
          <a:xfrm>
            <a:off x="8973070" y="2743199"/>
            <a:ext cx="512067" cy="512068"/>
            <a:chOff x="0" y="0"/>
            <a:chExt cx="512066" cy="512066"/>
          </a:xfrm>
        </p:grpSpPr>
        <p:sp>
          <p:nvSpPr>
            <p:cNvPr id="332" name="Circle"/>
            <p:cNvSpPr/>
            <p:nvPr/>
          </p:nvSpPr>
          <p:spPr>
            <a:xfrm>
              <a:off x="0" y="-1"/>
              <a:ext cx="512067" cy="512068"/>
            </a:xfrm>
            <a:prstGeom prst="ellipse">
              <a:avLst/>
            </a:prstGeom>
            <a:solidFill>
              <a:srgbClr val="2E6B4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333" name="形"/>
            <p:cNvSpPr txBox="1"/>
            <p:nvPr/>
          </p:nvSpPr>
          <p:spPr>
            <a:xfrm>
              <a:off x="74989" y="97281"/>
              <a:ext cx="362087"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FFFFFF"/>
                  </a:solidFill>
                  <a:latin typeface="Microsoft JhengHei"/>
                  <a:ea typeface="Microsoft JhengHei"/>
                  <a:cs typeface="Microsoft JhengHei"/>
                  <a:sym typeface="Microsoft JhengHei"/>
                </a:defRPr>
              </a:lvl1pPr>
            </a:lstStyle>
            <a:p>
              <a:pPr/>
              <a:r>
                <a:t>形</a:t>
              </a:r>
            </a:p>
          </p:txBody>
        </p:sp>
      </p:grpSp>
      <p:sp>
        <p:nvSpPr>
          <p:cNvPr id="335" name="TextBox 32"/>
          <p:cNvSpPr txBox="1"/>
          <p:nvPr/>
        </p:nvSpPr>
        <p:spPr>
          <a:xfrm>
            <a:off x="8518942" y="3401567"/>
            <a:ext cx="1420326"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10000"/>
              </a:lnSpc>
              <a:defRPr sz="1100">
                <a:solidFill>
                  <a:srgbClr val="1B2A22"/>
                </a:solidFill>
                <a:latin typeface="Cambria"/>
                <a:ea typeface="Microsoft JhengHei"/>
                <a:cs typeface="Cambria"/>
                <a:sym typeface="Cambria"/>
              </a:defRPr>
            </a:lvl1pPr>
          </a:lstStyle>
          <a:p>
            <a:pPr/>
            <a:r>
              <a:t>Health Vision</a:t>
            </a:r>
          </a:p>
        </p:txBody>
      </p:sp>
      <p:sp>
        <p:nvSpPr>
          <p:cNvPr id="336" name="TextBox 33"/>
          <p:cNvSpPr txBox="1"/>
          <p:nvPr/>
        </p:nvSpPr>
        <p:spPr>
          <a:xfrm>
            <a:off x="8518942" y="4059935"/>
            <a:ext cx="1420326"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6F7C75"/>
                </a:solidFill>
                <a:latin typeface="Microsoft JhengHei"/>
                <a:ea typeface="Microsoft JhengHei"/>
                <a:cs typeface="Microsoft JhengHei"/>
                <a:sym typeface="Microsoft JhengHei"/>
              </a:defRPr>
            </a:lvl1pPr>
          </a:lstStyle>
          <a:p>
            <a:pPr/>
            <a:r>
              <a:t>健康願景</a:t>
            </a:r>
          </a:p>
        </p:txBody>
      </p:sp>
      <p:sp>
        <p:nvSpPr>
          <p:cNvPr id="337" name="TextBox 34"/>
          <p:cNvSpPr txBox="1"/>
          <p:nvPr/>
        </p:nvSpPr>
        <p:spPr>
          <a:xfrm>
            <a:off x="9939266" y="2880360"/>
            <a:ext cx="146306"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700">
                <a:solidFill>
                  <a:srgbClr val="8FB09C"/>
                </a:solidFill>
                <a:latin typeface="Cambria"/>
                <a:ea typeface="Microsoft JhengHei"/>
                <a:cs typeface="Cambria"/>
                <a:sym typeface="Cambria"/>
              </a:defRPr>
            </a:lvl1pPr>
          </a:lstStyle>
          <a:p>
            <a:pPr/>
            <a:r>
              <a:t>›</a:t>
            </a:r>
          </a:p>
        </p:txBody>
      </p:sp>
      <p:sp>
        <p:nvSpPr>
          <p:cNvPr id="338" name="Rounded Rectangle 35"/>
          <p:cNvSpPr/>
          <p:nvPr/>
        </p:nvSpPr>
        <p:spPr>
          <a:xfrm>
            <a:off x="10085568" y="2468878"/>
            <a:ext cx="1420326" cy="214884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grpSp>
        <p:nvGrpSpPr>
          <p:cNvPr id="341" name="Oval 36"/>
          <p:cNvGrpSpPr/>
          <p:nvPr/>
        </p:nvGrpSpPr>
        <p:grpSpPr>
          <a:xfrm>
            <a:off x="10539700" y="2743199"/>
            <a:ext cx="512067" cy="512068"/>
            <a:chOff x="0" y="0"/>
            <a:chExt cx="512066" cy="512066"/>
          </a:xfrm>
        </p:grpSpPr>
        <p:sp>
          <p:nvSpPr>
            <p:cNvPr id="339" name="Circle"/>
            <p:cNvSpPr/>
            <p:nvPr/>
          </p:nvSpPr>
          <p:spPr>
            <a:xfrm>
              <a:off x="0" y="-1"/>
              <a:ext cx="512067" cy="512068"/>
            </a:xfrm>
            <a:prstGeom prst="ellipse">
              <a:avLst/>
            </a:prstGeom>
            <a:solidFill>
              <a:srgbClr val="2E6B4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340" name="整"/>
            <p:cNvSpPr txBox="1"/>
            <p:nvPr/>
          </p:nvSpPr>
          <p:spPr>
            <a:xfrm>
              <a:off x="74989" y="97281"/>
              <a:ext cx="362087"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FFFFFF"/>
                  </a:solidFill>
                  <a:latin typeface="Microsoft JhengHei"/>
                  <a:ea typeface="Microsoft JhengHei"/>
                  <a:cs typeface="Microsoft JhengHei"/>
                  <a:sym typeface="Microsoft JhengHei"/>
                </a:defRPr>
              </a:lvl1pPr>
            </a:lstStyle>
            <a:p>
              <a:pPr/>
              <a:r>
                <a:t>整</a:t>
              </a:r>
            </a:p>
          </p:txBody>
        </p:sp>
      </p:grpSp>
      <p:sp>
        <p:nvSpPr>
          <p:cNvPr id="342" name="TextBox 37"/>
          <p:cNvSpPr txBox="1"/>
          <p:nvPr/>
        </p:nvSpPr>
        <p:spPr>
          <a:xfrm>
            <a:off x="10085568" y="3401567"/>
            <a:ext cx="1420326"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10000"/>
              </a:lnSpc>
              <a:defRPr sz="1100">
                <a:solidFill>
                  <a:srgbClr val="1B2A22"/>
                </a:solidFill>
                <a:latin typeface="Cambria"/>
                <a:ea typeface="Microsoft JhengHei"/>
                <a:cs typeface="Cambria"/>
                <a:sym typeface="Cambria"/>
              </a:defRPr>
            </a:lvl1pPr>
          </a:lstStyle>
          <a:p>
            <a:pPr/>
            <a:r>
              <a:t>Synthesis</a:t>
            </a:r>
          </a:p>
        </p:txBody>
      </p:sp>
      <p:sp>
        <p:nvSpPr>
          <p:cNvPr id="343" name="TextBox 38"/>
          <p:cNvSpPr txBox="1"/>
          <p:nvPr/>
        </p:nvSpPr>
        <p:spPr>
          <a:xfrm>
            <a:off x="10085568" y="4059935"/>
            <a:ext cx="1420326"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6F7C75"/>
                </a:solidFill>
                <a:latin typeface="Microsoft JhengHei"/>
                <a:ea typeface="Microsoft JhengHei"/>
                <a:cs typeface="Microsoft JhengHei"/>
                <a:sym typeface="Microsoft JhengHei"/>
              </a:defRPr>
            </a:lvl1pPr>
          </a:lstStyle>
          <a:p>
            <a:pPr/>
            <a:r>
              <a:t>綜整</a:t>
            </a:r>
          </a:p>
        </p:txBody>
      </p:sp>
      <p:sp>
        <p:nvSpPr>
          <p:cNvPr id="344" name="Rounded Rectangle 39"/>
          <p:cNvSpPr/>
          <p:nvPr/>
        </p:nvSpPr>
        <p:spPr>
          <a:xfrm>
            <a:off x="685800" y="4892040"/>
            <a:ext cx="10820097" cy="123444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345" name="TextBox 40"/>
          <p:cNvSpPr txBox="1"/>
          <p:nvPr/>
        </p:nvSpPr>
        <p:spPr>
          <a:xfrm>
            <a:off x="1097278" y="5138928"/>
            <a:ext cx="9997139" cy="38760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7999"/>
              </a:lnSpc>
              <a:spcBef>
                <a:spcPts val="600"/>
              </a:spcBef>
              <a:defRPr sz="1300">
                <a:solidFill>
                  <a:srgbClr val="1B2A22"/>
                </a:solidFill>
                <a:latin typeface="Cambria"/>
                <a:ea typeface="Microsoft JhengHei"/>
                <a:cs typeface="Cambria"/>
                <a:sym typeface="Cambria"/>
              </a:defRPr>
            </a:pPr>
            <a:r>
              <a:t>Seven standalone tools, linked by a single project file (heals-chain) that grows at every station — from reading the site to a costed action plan.</a:t>
            </a:r>
            <a:endParaRPr>
              <a:latin typeface="+mj-lt"/>
              <a:ea typeface="+mj-ea"/>
              <a:cs typeface="+mj-cs"/>
              <a:sym typeface="Calibri"/>
            </a:endParaRPr>
          </a:p>
          <a:p>
            <a:pPr>
              <a:lnSpc>
                <a:spcPct val="117999"/>
              </a:lnSpc>
              <a:defRPr sz="1100">
                <a:solidFill>
                  <a:srgbClr val="6F7C75"/>
                </a:solidFill>
                <a:latin typeface="Microsoft JhengHei"/>
                <a:ea typeface="Microsoft JhengHei"/>
                <a:cs typeface="Microsoft JhengHei"/>
                <a:sym typeface="Microsoft JhengHei"/>
              </a:defRPr>
            </a:pPr>
            <a:r>
              <a:t>七個各自獨立的工具，被一份會逐站長大的專案檔（heals-chain）串起來，從讀懂基地一路走到可估價的行動計畫。</a:t>
            </a:r>
          </a:p>
        </p:txBody>
      </p:sp>
      <p:sp>
        <p:nvSpPr>
          <p:cNvPr id="346" name="TextBox 41"/>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347" name="TextBox 42"/>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10</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1"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FIVE LABORATORIES  ·  02 DESIGN  ·  設計</a:t>
            </a:r>
          </a:p>
        </p:txBody>
      </p:sp>
      <p:sp>
        <p:nvSpPr>
          <p:cNvPr id="352"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Lab 302 — Healing Environment Planning Lab</a:t>
            </a:r>
          </a:p>
        </p:txBody>
      </p:sp>
      <p:sp>
        <p:nvSpPr>
          <p:cNvPr id="353"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302 療癒環境規劃室　·　負責人　林寶秀　Lead: Bau-Show Lin</a:t>
            </a:r>
          </a:p>
        </p:txBody>
      </p:sp>
      <p:pic>
        <p:nvPicPr>
          <p:cNvPr id="354" name="Picture 4" descr="Picture 4"/>
          <p:cNvPicPr>
            <a:picLocks noChangeAspect="1"/>
          </p:cNvPicPr>
          <p:nvPr/>
        </p:nvPicPr>
        <p:blipFill>
          <a:blip r:embed="rId3">
            <a:extLst/>
          </a:blip>
          <a:srcRect l="0" t="21017" r="0" b="21017"/>
          <a:stretch>
            <a:fillRect/>
          </a:stretch>
        </p:blipFill>
        <p:spPr>
          <a:xfrm>
            <a:off x="685800" y="1938527"/>
            <a:ext cx="5349241" cy="2697482"/>
          </a:xfrm>
          <a:prstGeom prst="rect">
            <a:avLst/>
          </a:prstGeom>
          <a:ln w="12700">
            <a:miter lim="400000"/>
          </a:ln>
        </p:spPr>
      </p:pic>
      <p:sp>
        <p:nvSpPr>
          <p:cNvPr id="355" name="Rounded Rectangle 5"/>
          <p:cNvSpPr/>
          <p:nvPr/>
        </p:nvSpPr>
        <p:spPr>
          <a:xfrm>
            <a:off x="6446520" y="1938527"/>
            <a:ext cx="5056633" cy="269748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356" name="TextBox 6"/>
          <p:cNvSpPr txBox="1"/>
          <p:nvPr/>
        </p:nvSpPr>
        <p:spPr>
          <a:xfrm>
            <a:off x="6720840" y="2194560"/>
            <a:ext cx="4507994" cy="18351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300"/>
              </a:spcBef>
              <a:defRPr sz="1500">
                <a:solidFill>
                  <a:srgbClr val="2E6B4F"/>
                </a:solidFill>
                <a:latin typeface="Cambria"/>
                <a:ea typeface="Microsoft JhengHei"/>
                <a:cs typeface="Cambria"/>
                <a:sym typeface="Cambria"/>
              </a:defRPr>
            </a:pPr>
            <a:r>
              <a:t>ENVI-met microclimate simulation</a:t>
            </a:r>
            <a:endParaRPr>
              <a:latin typeface="+mj-lt"/>
              <a:ea typeface="+mj-ea"/>
              <a:cs typeface="+mj-cs"/>
              <a:sym typeface="Calibri"/>
            </a:endParaRPr>
          </a:p>
          <a:p>
            <a:pPr>
              <a:spcBef>
                <a:spcPts val="800"/>
              </a:spcBef>
              <a:defRPr sz="1100">
                <a:solidFill>
                  <a:srgbClr val="6F7C75"/>
                </a:solidFill>
                <a:latin typeface="Microsoft JhengHei"/>
                <a:ea typeface="Microsoft JhengHei"/>
                <a:cs typeface="Microsoft JhengHei"/>
                <a:sym typeface="Microsoft JhengHei"/>
              </a:defRPr>
            </a:pPr>
            <a:r>
              <a:t>ENVI-met 微氣候模擬</a:t>
            </a:r>
            <a:endParaRPr>
              <a:latin typeface="+mj-lt"/>
              <a:ea typeface="+mj-ea"/>
              <a:cs typeface="+mj-cs"/>
              <a:sym typeface="Calibri"/>
            </a:endParaRPr>
          </a:p>
          <a:p>
            <a:pPr>
              <a:lnSpc>
                <a:spcPct val="120000"/>
              </a:lnSpc>
              <a:spcBef>
                <a:spcPts val="600"/>
              </a:spcBef>
              <a:defRPr sz="1100">
                <a:solidFill>
                  <a:srgbClr val="1B2A22"/>
                </a:solidFill>
                <a:latin typeface="Cambria"/>
                <a:ea typeface="Microsoft JhengHei"/>
                <a:cs typeface="Cambria"/>
                <a:sym typeface="Cambria"/>
              </a:defRPr>
            </a:pPr>
            <a:r>
              <a:t>Built on fluid dynamics and thermodynamics, it simulates the interaction of ground, buildings, planting and air. The digital model covers building tiers, tree canopy, grass, sidewalk, asphalt and water, and is calibrated with WatchDog weather stations and a TR-31B radiant-heat sensor.</a:t>
            </a:r>
            <a:endParaRPr>
              <a:latin typeface="+mj-lt"/>
              <a:ea typeface="+mj-ea"/>
              <a:cs typeface="+mj-cs"/>
              <a:sym typeface="Calibri"/>
            </a:endParaRPr>
          </a:p>
          <a:p>
            <a:pPr>
              <a:lnSpc>
                <a:spcPct val="115000"/>
              </a:lnSpc>
              <a:defRPr sz="1000">
                <a:solidFill>
                  <a:srgbClr val="6F7C75"/>
                </a:solidFill>
                <a:latin typeface="Microsoft JhengHei"/>
                <a:ea typeface="Microsoft JhengHei"/>
                <a:cs typeface="Microsoft JhengHei"/>
                <a:sym typeface="Microsoft JhengHei"/>
              </a:defRPr>
            </a:pPr>
            <a:r>
              <a:t>基於流體動力學與熱力學，模擬地表、建築、植栽與空氣之交互作用；數位模型涵蓋建築分層、樹冠、草地、人行道、柏油與水體，並以 WatchDog 環境感測站與 TR-31B 熱輻射量測儀校正。</a:t>
            </a:r>
          </a:p>
        </p:txBody>
      </p:sp>
      <p:sp>
        <p:nvSpPr>
          <p:cNvPr id="357" name="Rounded Rectangle 7"/>
          <p:cNvSpPr/>
          <p:nvPr/>
        </p:nvSpPr>
        <p:spPr>
          <a:xfrm>
            <a:off x="685800" y="4828032"/>
            <a:ext cx="10820097" cy="1417322"/>
          </a:xfrm>
          <a:prstGeom prst="roundRect">
            <a:avLst>
              <a:gd name="adj" fmla="val 4500"/>
            </a:avLst>
          </a:prstGeom>
          <a:solidFill>
            <a:srgbClr val="E3ECE6"/>
          </a:solidFill>
          <a:ln w="12700">
            <a:miter lim="400000"/>
          </a:ln>
        </p:spPr>
        <p:txBody>
          <a:bodyPr lIns="45718" tIns="45718" rIns="45718" bIns="45718" anchor="ctr"/>
          <a:lstStyle/>
          <a:p>
            <a:pPr algn="ctr">
              <a:defRPr>
                <a:solidFill>
                  <a:srgbClr val="FFFFFF"/>
                </a:solidFill>
              </a:defRPr>
            </a:pPr>
          </a:p>
        </p:txBody>
      </p:sp>
      <p:sp>
        <p:nvSpPr>
          <p:cNvPr id="358" name="TextBox 8"/>
          <p:cNvSpPr txBox="1"/>
          <p:nvPr/>
        </p:nvSpPr>
        <p:spPr>
          <a:xfrm>
            <a:off x="1097278" y="5047488"/>
            <a:ext cx="9997139" cy="7787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500"/>
              </a:spcBef>
              <a:defRPr sz="1500">
                <a:solidFill>
                  <a:srgbClr val="2E6B4F"/>
                </a:solidFill>
                <a:latin typeface="Cambria"/>
                <a:ea typeface="Microsoft JhengHei"/>
                <a:cs typeface="Cambria"/>
                <a:sym typeface="Cambria"/>
              </a:defRPr>
            </a:pPr>
            <a:r>
              <a:t>One model yields both human thermal comfort and building cooling load</a:t>
            </a:r>
            <a:endParaRPr>
              <a:latin typeface="+mj-lt"/>
              <a:ea typeface="+mj-ea"/>
              <a:cs typeface="+mj-cs"/>
              <a:sym typeface="Calibri"/>
            </a:endParaRPr>
          </a:p>
          <a:p>
            <a:pPr>
              <a:lnSpc>
                <a:spcPct val="117999"/>
              </a:lnSpc>
              <a:spcBef>
                <a:spcPts val="400"/>
              </a:spcBef>
              <a:defRPr sz="1100">
                <a:solidFill>
                  <a:srgbClr val="1B2A22"/>
                </a:solidFill>
                <a:latin typeface="Cambria"/>
                <a:ea typeface="Microsoft JhengHei"/>
                <a:cs typeface="Cambria"/>
                <a:sym typeface="Cambria"/>
              </a:defRPr>
            </a:pPr>
            <a:r>
              <a:t>Health benefit and energy use are solved in the same set of physical equations — the technical basis on which green health and smart energy are integrated, and the interface that couples micro-scale physiology upward to regional models.</a:t>
            </a:r>
            <a:endParaRPr>
              <a:latin typeface="+mj-lt"/>
              <a:ea typeface="+mj-ea"/>
              <a:cs typeface="+mj-cs"/>
              <a:sym typeface="Calibri"/>
            </a:endParaRPr>
          </a:p>
          <a:p>
            <a:pPr>
              <a:defRPr sz="1000">
                <a:solidFill>
                  <a:srgbClr val="6F7C75"/>
                </a:solidFill>
                <a:latin typeface="Microsoft JhengHei"/>
                <a:ea typeface="Microsoft JhengHei"/>
                <a:cs typeface="Microsoft JhengHei"/>
                <a:sym typeface="Microsoft JhengHei"/>
              </a:defRPr>
            </a:pPr>
            <a:r>
              <a:t>同一套模型，同時算出熱舒適度與建築冷卻負荷；健康效益與能源消耗在同一組物理方程式中求解。</a:t>
            </a:r>
          </a:p>
        </p:txBody>
      </p:sp>
      <p:sp>
        <p:nvSpPr>
          <p:cNvPr id="359" name="TextBox 9"/>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360" name="TextBox 10"/>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11</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4"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FIVE LABORATORIES  ·  02 DESIGN  ·  設計</a:t>
            </a:r>
          </a:p>
        </p:txBody>
      </p:sp>
      <p:sp>
        <p:nvSpPr>
          <p:cNvPr id="365"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Lab 302 — Assessment Hardware</a:t>
            </a:r>
          </a:p>
        </p:txBody>
      </p:sp>
      <p:sp>
        <p:nvSpPr>
          <p:cNvPr id="366"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療癒環境評估組合系統—硬體設備</a:t>
            </a:r>
          </a:p>
        </p:txBody>
      </p:sp>
      <p:sp>
        <p:nvSpPr>
          <p:cNvPr id="367" name="Rounded Rectangle 4"/>
          <p:cNvSpPr/>
          <p:nvPr/>
        </p:nvSpPr>
        <p:spPr>
          <a:xfrm>
            <a:off x="685800" y="1938527"/>
            <a:ext cx="5349241" cy="2057401"/>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pic>
        <p:nvPicPr>
          <p:cNvPr id="368" name="Picture 5" descr="Picture 5"/>
          <p:cNvPicPr>
            <a:picLocks noChangeAspect="1"/>
          </p:cNvPicPr>
          <p:nvPr/>
        </p:nvPicPr>
        <p:blipFill>
          <a:blip r:embed="rId3">
            <a:extLst/>
          </a:blip>
          <a:stretch>
            <a:fillRect/>
          </a:stretch>
        </p:blipFill>
        <p:spPr>
          <a:xfrm>
            <a:off x="941832" y="2363853"/>
            <a:ext cx="1508762" cy="1197602"/>
          </a:xfrm>
          <a:prstGeom prst="rect">
            <a:avLst/>
          </a:prstGeom>
          <a:ln w="12700">
            <a:miter lim="400000"/>
          </a:ln>
        </p:spPr>
      </p:pic>
      <p:sp>
        <p:nvSpPr>
          <p:cNvPr id="369" name="TextBox 6"/>
          <p:cNvSpPr txBox="1"/>
          <p:nvPr/>
        </p:nvSpPr>
        <p:spPr>
          <a:xfrm>
            <a:off x="2697478" y="2139694"/>
            <a:ext cx="3108962" cy="3606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300"/>
              </a:spcBef>
              <a:defRPr sz="1300">
                <a:solidFill>
                  <a:srgbClr val="1B2A22"/>
                </a:solidFill>
                <a:latin typeface="Cambria"/>
                <a:ea typeface="Microsoft JhengHei"/>
                <a:cs typeface="Cambria"/>
                <a:sym typeface="Cambria"/>
              </a:defRPr>
            </a:pPr>
            <a:r>
              <a:t>Globe thermometer TR-31B</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熱輻射（黑球）傳送器 TR-31B</a:t>
            </a:r>
          </a:p>
        </p:txBody>
      </p:sp>
      <p:sp>
        <p:nvSpPr>
          <p:cNvPr id="370" name="Oval 7"/>
          <p:cNvSpPr/>
          <p:nvPr/>
        </p:nvSpPr>
        <p:spPr>
          <a:xfrm>
            <a:off x="2697478" y="3035806"/>
            <a:ext cx="82299" cy="82299"/>
          </a:xfrm>
          <a:prstGeom prst="ellipse">
            <a:avLst/>
          </a:prstGeom>
          <a:solidFill>
            <a:srgbClr val="8FB09C"/>
          </a:solidFill>
          <a:ln w="12700">
            <a:miter lim="400000"/>
          </a:ln>
        </p:spPr>
        <p:txBody>
          <a:bodyPr lIns="45718" tIns="45718" rIns="45718" bIns="45718" anchor="ctr"/>
          <a:lstStyle/>
          <a:p>
            <a:pPr algn="ctr">
              <a:defRPr>
                <a:solidFill>
                  <a:srgbClr val="FFFFFF"/>
                </a:solidFill>
              </a:defRPr>
            </a:pPr>
          </a:p>
        </p:txBody>
      </p:sp>
      <p:sp>
        <p:nvSpPr>
          <p:cNvPr id="371" name="TextBox 8"/>
          <p:cNvSpPr txBox="1"/>
          <p:nvPr/>
        </p:nvSpPr>
        <p:spPr>
          <a:xfrm>
            <a:off x="2898648" y="2944366"/>
            <a:ext cx="2907794" cy="3187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100"/>
              </a:spcBef>
              <a:defRPr sz="1000">
                <a:solidFill>
                  <a:srgbClr val="1B2A22"/>
                </a:solidFill>
                <a:latin typeface="Cambria"/>
                <a:ea typeface="Microsoft JhengHei"/>
                <a:cs typeface="Cambria"/>
                <a:sym typeface="Cambria"/>
              </a:defRPr>
            </a:pPr>
            <a:r>
              <a:t>Indoor and outdoor radiant-temperature measurement</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室內外環境熱輻射溫度測量</a:t>
            </a:r>
          </a:p>
        </p:txBody>
      </p:sp>
      <p:sp>
        <p:nvSpPr>
          <p:cNvPr id="372" name="Oval 9"/>
          <p:cNvSpPr/>
          <p:nvPr/>
        </p:nvSpPr>
        <p:spPr>
          <a:xfrm>
            <a:off x="2697478" y="3547871"/>
            <a:ext cx="82299" cy="82299"/>
          </a:xfrm>
          <a:prstGeom prst="ellipse">
            <a:avLst/>
          </a:prstGeom>
          <a:solidFill>
            <a:srgbClr val="8FB09C"/>
          </a:solidFill>
          <a:ln w="12700">
            <a:miter lim="400000"/>
          </a:ln>
        </p:spPr>
        <p:txBody>
          <a:bodyPr lIns="45718" tIns="45718" rIns="45718" bIns="45718" anchor="ctr"/>
          <a:lstStyle/>
          <a:p>
            <a:pPr algn="ctr">
              <a:defRPr>
                <a:solidFill>
                  <a:srgbClr val="FFFFFF"/>
                </a:solidFill>
              </a:defRPr>
            </a:pPr>
          </a:p>
        </p:txBody>
      </p:sp>
      <p:sp>
        <p:nvSpPr>
          <p:cNvPr id="373" name="TextBox 10"/>
          <p:cNvSpPr txBox="1"/>
          <p:nvPr/>
        </p:nvSpPr>
        <p:spPr>
          <a:xfrm>
            <a:off x="2898648" y="3456432"/>
            <a:ext cx="2907794" cy="3187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100"/>
              </a:spcBef>
              <a:defRPr sz="1000">
                <a:solidFill>
                  <a:srgbClr val="1B2A22"/>
                </a:solidFill>
                <a:latin typeface="Cambria"/>
                <a:ea typeface="Microsoft JhengHei"/>
                <a:cs typeface="Cambria"/>
                <a:sym typeface="Cambria"/>
              </a:defRPr>
            </a:pPr>
            <a:r>
              <a:t>Globe temperature converted to thermal comfort</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測量黑球溫度轉換熱舒適度</a:t>
            </a:r>
          </a:p>
        </p:txBody>
      </p:sp>
      <p:sp>
        <p:nvSpPr>
          <p:cNvPr id="374" name="Rounded Rectangle 11"/>
          <p:cNvSpPr/>
          <p:nvPr/>
        </p:nvSpPr>
        <p:spPr>
          <a:xfrm>
            <a:off x="685800" y="4178808"/>
            <a:ext cx="5349241" cy="205740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pic>
        <p:nvPicPr>
          <p:cNvPr id="375" name="Picture 12" descr="Picture 12"/>
          <p:cNvPicPr>
            <a:picLocks noChangeAspect="1"/>
          </p:cNvPicPr>
          <p:nvPr/>
        </p:nvPicPr>
        <p:blipFill>
          <a:blip r:embed="rId4">
            <a:extLst/>
          </a:blip>
          <a:stretch>
            <a:fillRect/>
          </a:stretch>
        </p:blipFill>
        <p:spPr>
          <a:xfrm>
            <a:off x="941832" y="4429119"/>
            <a:ext cx="1508762" cy="1547635"/>
          </a:xfrm>
          <a:prstGeom prst="rect">
            <a:avLst/>
          </a:prstGeom>
          <a:ln w="12700">
            <a:miter lim="400000"/>
          </a:ln>
        </p:spPr>
      </p:pic>
      <p:sp>
        <p:nvSpPr>
          <p:cNvPr id="376" name="TextBox 13"/>
          <p:cNvSpPr txBox="1"/>
          <p:nvPr/>
        </p:nvSpPr>
        <p:spPr>
          <a:xfrm>
            <a:off x="2697478" y="4379976"/>
            <a:ext cx="3108962" cy="3606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300"/>
              </a:spcBef>
              <a:defRPr sz="1300">
                <a:solidFill>
                  <a:srgbClr val="1B2A22"/>
                </a:solidFill>
                <a:latin typeface="Cambria"/>
                <a:ea typeface="Microsoft JhengHei"/>
                <a:cs typeface="Cambria"/>
                <a:sym typeface="Cambria"/>
              </a:defRPr>
            </a:pPr>
            <a:r>
              <a:t>WatchDog Mini Stations</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小型氣象站 WatchDog Mini Stations</a:t>
            </a:r>
          </a:p>
        </p:txBody>
      </p:sp>
      <p:sp>
        <p:nvSpPr>
          <p:cNvPr id="377" name="Oval 14"/>
          <p:cNvSpPr/>
          <p:nvPr/>
        </p:nvSpPr>
        <p:spPr>
          <a:xfrm>
            <a:off x="2697478" y="5276088"/>
            <a:ext cx="82299" cy="82299"/>
          </a:xfrm>
          <a:prstGeom prst="ellipse">
            <a:avLst/>
          </a:prstGeom>
          <a:solidFill>
            <a:srgbClr val="8FB09C"/>
          </a:solidFill>
          <a:ln w="12700">
            <a:miter lim="400000"/>
          </a:ln>
        </p:spPr>
        <p:txBody>
          <a:bodyPr lIns="45718" tIns="45718" rIns="45718" bIns="45718" anchor="ctr"/>
          <a:lstStyle/>
          <a:p>
            <a:pPr algn="ctr">
              <a:defRPr>
                <a:solidFill>
                  <a:srgbClr val="FFFFFF"/>
                </a:solidFill>
              </a:defRPr>
            </a:pPr>
          </a:p>
        </p:txBody>
      </p:sp>
      <p:sp>
        <p:nvSpPr>
          <p:cNvPr id="378" name="TextBox 15"/>
          <p:cNvSpPr txBox="1"/>
          <p:nvPr/>
        </p:nvSpPr>
        <p:spPr>
          <a:xfrm>
            <a:off x="2898648" y="5184647"/>
            <a:ext cx="2907794" cy="3187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100"/>
              </a:spcBef>
              <a:defRPr sz="1000">
                <a:solidFill>
                  <a:srgbClr val="1B2A22"/>
                </a:solidFill>
                <a:latin typeface="Cambria"/>
                <a:ea typeface="Microsoft JhengHei"/>
                <a:cs typeface="Cambria"/>
                <a:sym typeface="Cambria"/>
              </a:defRPr>
            </a:pPr>
            <a:r>
              <a:t>Real-time indoor and outdoor weather measurement</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室內外環境即時氣象測量</a:t>
            </a:r>
          </a:p>
        </p:txBody>
      </p:sp>
      <p:sp>
        <p:nvSpPr>
          <p:cNvPr id="379" name="Oval 16"/>
          <p:cNvSpPr/>
          <p:nvPr/>
        </p:nvSpPr>
        <p:spPr>
          <a:xfrm>
            <a:off x="2697478" y="5788152"/>
            <a:ext cx="82299" cy="82299"/>
          </a:xfrm>
          <a:prstGeom prst="ellipse">
            <a:avLst/>
          </a:prstGeom>
          <a:solidFill>
            <a:srgbClr val="8FB09C"/>
          </a:solidFill>
          <a:ln w="12700">
            <a:miter lim="400000"/>
          </a:ln>
        </p:spPr>
        <p:txBody>
          <a:bodyPr lIns="45718" tIns="45718" rIns="45718" bIns="45718" anchor="ctr"/>
          <a:lstStyle/>
          <a:p>
            <a:pPr algn="ctr">
              <a:defRPr>
                <a:solidFill>
                  <a:srgbClr val="FFFFFF"/>
                </a:solidFill>
              </a:defRPr>
            </a:pPr>
          </a:p>
        </p:txBody>
      </p:sp>
      <p:sp>
        <p:nvSpPr>
          <p:cNvPr id="380" name="TextBox 17"/>
          <p:cNvSpPr txBox="1"/>
          <p:nvPr/>
        </p:nvSpPr>
        <p:spPr>
          <a:xfrm>
            <a:off x="2898648" y="5696710"/>
            <a:ext cx="2907794" cy="3187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100"/>
              </a:spcBef>
              <a:defRPr sz="1000">
                <a:solidFill>
                  <a:srgbClr val="1B2A22"/>
                </a:solidFill>
                <a:latin typeface="Cambria"/>
                <a:ea typeface="Microsoft JhengHei"/>
                <a:cs typeface="Cambria"/>
                <a:sym typeface="Cambria"/>
              </a:defRPr>
            </a:pPr>
            <a:r>
              <a:t>Air temperature, humidity, wind speed and direction</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測量氣溫、濕度、風速、風向等</a:t>
            </a:r>
          </a:p>
        </p:txBody>
      </p:sp>
      <p:pic>
        <p:nvPicPr>
          <p:cNvPr id="381" name="Picture 18" descr="Picture 18"/>
          <p:cNvPicPr>
            <a:picLocks noChangeAspect="1"/>
          </p:cNvPicPr>
          <p:nvPr/>
        </p:nvPicPr>
        <p:blipFill>
          <a:blip r:embed="rId5">
            <a:extLst/>
          </a:blip>
          <a:srcRect l="0" t="19844" r="0" b="19844"/>
          <a:stretch>
            <a:fillRect/>
          </a:stretch>
        </p:blipFill>
        <p:spPr>
          <a:xfrm>
            <a:off x="6355079" y="1938527"/>
            <a:ext cx="5148074" cy="3017523"/>
          </a:xfrm>
          <a:prstGeom prst="rect">
            <a:avLst/>
          </a:prstGeom>
          <a:ln w="12700">
            <a:miter lim="400000"/>
          </a:ln>
        </p:spPr>
      </p:pic>
      <p:sp>
        <p:nvSpPr>
          <p:cNvPr id="382" name="TextBox 19"/>
          <p:cNvSpPr txBox="1"/>
          <p:nvPr/>
        </p:nvSpPr>
        <p:spPr>
          <a:xfrm>
            <a:off x="6355080" y="5029200"/>
            <a:ext cx="5148072" cy="330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1B2A22"/>
                </a:solidFill>
                <a:latin typeface="Cambria"/>
                <a:ea typeface="Microsoft JhengHei"/>
                <a:cs typeface="Cambria"/>
                <a:sym typeface="Cambria"/>
              </a:defRPr>
            </a:pPr>
            <a:r>
              <a:t>Sensing equipment in use at Lab 302</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302 規劃室感測設備實景</a:t>
            </a:r>
          </a:p>
        </p:txBody>
      </p:sp>
      <p:sp>
        <p:nvSpPr>
          <p:cNvPr id="383" name="Rounded Rectangle 20"/>
          <p:cNvSpPr/>
          <p:nvPr/>
        </p:nvSpPr>
        <p:spPr>
          <a:xfrm>
            <a:off x="6355079" y="5504688"/>
            <a:ext cx="5148074" cy="77724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384" name="TextBox 21"/>
          <p:cNvSpPr txBox="1"/>
          <p:nvPr/>
        </p:nvSpPr>
        <p:spPr>
          <a:xfrm>
            <a:off x="6611111" y="5669279"/>
            <a:ext cx="4636011" cy="3403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300"/>
              </a:spcBef>
              <a:defRPr sz="1200">
                <a:solidFill>
                  <a:srgbClr val="1B2A22"/>
                </a:solidFill>
                <a:latin typeface="Cambria"/>
                <a:ea typeface="Microsoft JhengHei"/>
                <a:cs typeface="Cambria"/>
                <a:sym typeface="Cambria"/>
              </a:defRPr>
            </a:pPr>
            <a:r>
              <a:t>On-site sensing calibrates the ENVI-met simulation.</a:t>
            </a:r>
            <a:endParaRPr>
              <a:latin typeface="+mj-lt"/>
              <a:ea typeface="+mj-ea"/>
              <a:cs typeface="+mj-cs"/>
              <a:sym typeface="Calibri"/>
            </a:endParaRPr>
          </a:p>
          <a:p>
            <a:pPr>
              <a:lnSpc>
                <a:spcPct val="115000"/>
              </a:lnSpc>
              <a:defRPr sz="1000">
                <a:solidFill>
                  <a:srgbClr val="6F7C75"/>
                </a:solidFill>
                <a:latin typeface="Microsoft JhengHei"/>
                <a:ea typeface="Microsoft JhengHei"/>
                <a:cs typeface="Microsoft JhengHei"/>
                <a:sym typeface="Microsoft JhengHei"/>
              </a:defRPr>
            </a:pPr>
            <a:r>
              <a:t>感測資料用於校正 ENVI-met 模擬結果。</a:t>
            </a:r>
          </a:p>
        </p:txBody>
      </p:sp>
      <p:sp>
        <p:nvSpPr>
          <p:cNvPr id="385" name="TextBox 22"/>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386" name="TextBox 23"/>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12</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0"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FIVE LABORATORIES  ·  02 DESIGN  ·  設計</a:t>
            </a:r>
          </a:p>
        </p:txBody>
      </p:sp>
      <p:sp>
        <p:nvSpPr>
          <p:cNvPr id="391"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Lab 302 — Simulation Outputs</a:t>
            </a:r>
          </a:p>
        </p:txBody>
      </p:sp>
      <p:sp>
        <p:nvSpPr>
          <p:cNvPr id="392"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療癒環境評估組合系統　·　微氣候模擬成果</a:t>
            </a:r>
          </a:p>
        </p:txBody>
      </p:sp>
      <p:pic>
        <p:nvPicPr>
          <p:cNvPr id="393" name="Picture 4" descr="Picture 4"/>
          <p:cNvPicPr>
            <a:picLocks noChangeAspect="1"/>
          </p:cNvPicPr>
          <p:nvPr/>
        </p:nvPicPr>
        <p:blipFill>
          <a:blip r:embed="rId3">
            <a:extLst/>
          </a:blip>
          <a:stretch>
            <a:fillRect/>
          </a:stretch>
        </p:blipFill>
        <p:spPr>
          <a:xfrm>
            <a:off x="685800" y="2506952"/>
            <a:ext cx="2226566" cy="2072696"/>
          </a:xfrm>
          <a:prstGeom prst="rect">
            <a:avLst/>
          </a:prstGeom>
          <a:ln w="12700">
            <a:miter lim="400000"/>
          </a:ln>
        </p:spPr>
      </p:pic>
      <p:pic>
        <p:nvPicPr>
          <p:cNvPr id="394" name="Picture 5" descr="Picture 5"/>
          <p:cNvPicPr>
            <a:picLocks noChangeAspect="1"/>
          </p:cNvPicPr>
          <p:nvPr/>
        </p:nvPicPr>
        <p:blipFill>
          <a:blip r:embed="rId4">
            <a:extLst/>
          </a:blip>
          <a:stretch>
            <a:fillRect/>
          </a:stretch>
        </p:blipFill>
        <p:spPr>
          <a:xfrm>
            <a:off x="3113532" y="2504688"/>
            <a:ext cx="2226566" cy="2077224"/>
          </a:xfrm>
          <a:prstGeom prst="rect">
            <a:avLst/>
          </a:prstGeom>
          <a:ln w="12700">
            <a:miter lim="400000"/>
          </a:ln>
        </p:spPr>
      </p:pic>
      <p:pic>
        <p:nvPicPr>
          <p:cNvPr id="395" name="Picture 6" descr="Picture 6"/>
          <p:cNvPicPr>
            <a:picLocks noChangeAspect="1"/>
          </p:cNvPicPr>
          <p:nvPr/>
        </p:nvPicPr>
        <p:blipFill>
          <a:blip r:embed="rId5">
            <a:extLst/>
          </a:blip>
          <a:stretch>
            <a:fillRect/>
          </a:stretch>
        </p:blipFill>
        <p:spPr>
          <a:xfrm>
            <a:off x="5541264" y="2510982"/>
            <a:ext cx="2226566" cy="2064634"/>
          </a:xfrm>
          <a:prstGeom prst="rect">
            <a:avLst/>
          </a:prstGeom>
          <a:ln w="12700">
            <a:miter lim="400000"/>
          </a:ln>
        </p:spPr>
      </p:pic>
      <p:pic>
        <p:nvPicPr>
          <p:cNvPr id="396" name="Picture 7" descr="Picture 7"/>
          <p:cNvPicPr>
            <a:picLocks noChangeAspect="1"/>
          </p:cNvPicPr>
          <p:nvPr/>
        </p:nvPicPr>
        <p:blipFill>
          <a:blip r:embed="rId6">
            <a:extLst/>
          </a:blip>
          <a:stretch>
            <a:fillRect/>
          </a:stretch>
        </p:blipFill>
        <p:spPr>
          <a:xfrm>
            <a:off x="7968994" y="2509376"/>
            <a:ext cx="2226567" cy="2067849"/>
          </a:xfrm>
          <a:prstGeom prst="rect">
            <a:avLst/>
          </a:prstGeom>
          <a:ln w="12700">
            <a:miter lim="400000"/>
          </a:ln>
        </p:spPr>
      </p:pic>
      <p:sp>
        <p:nvSpPr>
          <p:cNvPr id="397" name="Rounded Rectangle 8"/>
          <p:cNvSpPr/>
          <p:nvPr/>
        </p:nvSpPr>
        <p:spPr>
          <a:xfrm>
            <a:off x="10287000" y="2011678"/>
            <a:ext cx="1216153" cy="306324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398" name="TextBox 9"/>
          <p:cNvSpPr txBox="1"/>
          <p:nvPr/>
        </p:nvSpPr>
        <p:spPr>
          <a:xfrm>
            <a:off x="10287000" y="2157983"/>
            <a:ext cx="1216153"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F7C75"/>
                </a:solidFill>
                <a:latin typeface="Cambria"/>
                <a:ea typeface="Microsoft JhengHei"/>
                <a:cs typeface="Cambria"/>
                <a:sym typeface="Cambria"/>
              </a:defRPr>
            </a:lvl1pPr>
          </a:lstStyle>
          <a:p>
            <a:pPr/>
            <a:r>
              <a:t>Legend</a:t>
            </a:r>
          </a:p>
        </p:txBody>
      </p:sp>
      <p:pic>
        <p:nvPicPr>
          <p:cNvPr id="399" name="Picture 10" descr="Picture 10"/>
          <p:cNvPicPr>
            <a:picLocks noChangeAspect="1"/>
          </p:cNvPicPr>
          <p:nvPr/>
        </p:nvPicPr>
        <p:blipFill>
          <a:blip r:embed="rId7">
            <a:extLst/>
          </a:blip>
          <a:stretch>
            <a:fillRect/>
          </a:stretch>
        </p:blipFill>
        <p:spPr>
          <a:xfrm>
            <a:off x="10387583" y="2645824"/>
            <a:ext cx="1014986" cy="734245"/>
          </a:xfrm>
          <a:prstGeom prst="rect">
            <a:avLst/>
          </a:prstGeom>
          <a:ln w="12700">
            <a:miter lim="400000"/>
          </a:ln>
        </p:spPr>
      </p:pic>
      <p:pic>
        <p:nvPicPr>
          <p:cNvPr id="400" name="Picture 11" descr="Picture 11"/>
          <p:cNvPicPr>
            <a:picLocks noChangeAspect="1"/>
          </p:cNvPicPr>
          <p:nvPr/>
        </p:nvPicPr>
        <p:blipFill>
          <a:blip r:embed="rId8">
            <a:extLst/>
          </a:blip>
          <a:stretch>
            <a:fillRect/>
          </a:stretch>
        </p:blipFill>
        <p:spPr>
          <a:xfrm>
            <a:off x="10470115" y="3749037"/>
            <a:ext cx="849918" cy="1097283"/>
          </a:xfrm>
          <a:prstGeom prst="rect">
            <a:avLst/>
          </a:prstGeom>
          <a:ln w="12700">
            <a:miter lim="400000"/>
          </a:ln>
        </p:spPr>
      </p:pic>
      <p:sp>
        <p:nvSpPr>
          <p:cNvPr id="401" name="TextBox 12"/>
          <p:cNvSpPr txBox="1"/>
          <p:nvPr/>
        </p:nvSpPr>
        <p:spPr>
          <a:xfrm>
            <a:off x="685799" y="5257800"/>
            <a:ext cx="10820097" cy="3822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sz="1300">
                <a:solidFill>
                  <a:srgbClr val="1B2A22"/>
                </a:solidFill>
                <a:latin typeface="Cambria"/>
                <a:ea typeface="Microsoft JhengHei"/>
                <a:cs typeface="Cambria"/>
                <a:sym typeface="Cambria"/>
              </a:defRPr>
            </a:pPr>
            <a:r>
              <a:t>One model yields thermal-environment maps across scenarios and hours, giving planners a like-for-like basis for comparing design options.</a:t>
            </a:r>
            <a:endParaRPr>
              <a:latin typeface="+mj-lt"/>
              <a:ea typeface="+mj-ea"/>
              <a:cs typeface="+mj-cs"/>
              <a:sym typeface="Calibri"/>
            </a:endParaRPr>
          </a:p>
          <a:p>
            <a:pPr>
              <a:lnSpc>
                <a:spcPct val="115000"/>
              </a:lnSpc>
              <a:defRPr sz="1100">
                <a:solidFill>
                  <a:srgbClr val="6F7C75"/>
                </a:solidFill>
                <a:latin typeface="Microsoft JhengHei"/>
                <a:ea typeface="Microsoft JhengHei"/>
                <a:cs typeface="Microsoft JhengHei"/>
                <a:sym typeface="Microsoft JhengHei"/>
              </a:defRPr>
            </a:pPr>
            <a:r>
              <a:t>同一組模型可輸出不同時段與不同情境的熱環境分布，作為規劃設計方案的比較依據。</a:t>
            </a:r>
          </a:p>
        </p:txBody>
      </p:sp>
      <p:sp>
        <p:nvSpPr>
          <p:cNvPr id="402" name="TextBox 13"/>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403" name="TextBox 14"/>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13</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7"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FIVE LABORATORIES  ·  02 DESIGN  ·  設計</a:t>
            </a:r>
          </a:p>
        </p:txBody>
      </p:sp>
      <p:sp>
        <p:nvSpPr>
          <p:cNvPr id="408"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Lab 302 — Assessing Urban Park Layouts</a:t>
            </a:r>
          </a:p>
        </p:txBody>
      </p:sp>
      <p:sp>
        <p:nvSpPr>
          <p:cNvPr id="409"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規劃設計方案評估　·　都市公園佈局方案評估</a:t>
            </a:r>
          </a:p>
        </p:txBody>
      </p:sp>
      <p:pic>
        <p:nvPicPr>
          <p:cNvPr id="410" name="Picture 4" descr="Picture 4"/>
          <p:cNvPicPr>
            <a:picLocks noChangeAspect="1"/>
          </p:cNvPicPr>
          <p:nvPr/>
        </p:nvPicPr>
        <p:blipFill>
          <a:blip r:embed="rId3">
            <a:extLst/>
          </a:blip>
          <a:stretch>
            <a:fillRect/>
          </a:stretch>
        </p:blipFill>
        <p:spPr>
          <a:xfrm>
            <a:off x="1017269" y="1938527"/>
            <a:ext cx="3314702" cy="3977641"/>
          </a:xfrm>
          <a:prstGeom prst="rect">
            <a:avLst/>
          </a:prstGeom>
          <a:ln w="12700">
            <a:miter lim="400000"/>
          </a:ln>
        </p:spPr>
      </p:pic>
      <p:sp>
        <p:nvSpPr>
          <p:cNvPr id="411" name="TextBox 5"/>
          <p:cNvSpPr txBox="1"/>
          <p:nvPr/>
        </p:nvSpPr>
        <p:spPr>
          <a:xfrm>
            <a:off x="685800" y="5989320"/>
            <a:ext cx="3977639"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1B2A22"/>
                </a:solidFill>
                <a:latin typeface="Cambria"/>
                <a:ea typeface="Microsoft JhengHei"/>
                <a:cs typeface="Cambria"/>
                <a:sym typeface="Cambria"/>
              </a:defRPr>
            </a:pPr>
            <a:r>
              <a:t>Park layout simulation</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公園佈局模擬</a:t>
            </a:r>
          </a:p>
        </p:txBody>
      </p:sp>
      <p:sp>
        <p:nvSpPr>
          <p:cNvPr id="412" name="Rounded Rectangle 6"/>
          <p:cNvSpPr/>
          <p:nvPr/>
        </p:nvSpPr>
        <p:spPr>
          <a:xfrm>
            <a:off x="4983479" y="1938527"/>
            <a:ext cx="3063242" cy="2103123"/>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413" name="TextBox 7"/>
          <p:cNvSpPr txBox="1"/>
          <p:nvPr/>
        </p:nvSpPr>
        <p:spPr>
          <a:xfrm>
            <a:off x="5257800" y="2157983"/>
            <a:ext cx="2514600" cy="139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700"/>
              </a:spcBef>
              <a:defRPr sz="1400">
                <a:solidFill>
                  <a:srgbClr val="2E6B4F"/>
                </a:solidFill>
                <a:latin typeface="Cambria"/>
                <a:ea typeface="Microsoft JhengHei"/>
                <a:cs typeface="Cambria"/>
                <a:sym typeface="Cambria"/>
              </a:defRPr>
            </a:pPr>
            <a:r>
              <a:t>Two layouts compared</a:t>
            </a:r>
            <a:endParaRPr>
              <a:latin typeface="+mj-lt"/>
              <a:ea typeface="+mj-ea"/>
              <a:cs typeface="+mj-cs"/>
              <a:sym typeface="Calibri"/>
            </a:endParaRPr>
          </a:p>
          <a:p>
            <a:pPr>
              <a:spcBef>
                <a:spcPts val="200"/>
              </a:spcBef>
              <a:defRPr sz="1200">
                <a:solidFill>
                  <a:srgbClr val="1B2A22"/>
                </a:solidFill>
                <a:latin typeface="Cambria"/>
                <a:ea typeface="Microsoft JhengHei"/>
                <a:cs typeface="Cambria"/>
                <a:sym typeface="Cambria"/>
              </a:defRPr>
            </a:pPr>
            <a:r>
              <a:t>One large park upwind</a:t>
            </a:r>
            <a:endParaRPr>
              <a:latin typeface="+mj-lt"/>
              <a:ea typeface="+mj-ea"/>
              <a:cs typeface="+mj-cs"/>
              <a:sym typeface="Calibri"/>
            </a:endParaRPr>
          </a:p>
          <a:p>
            <a:pPr>
              <a:spcBef>
                <a:spcPts val="600"/>
              </a:spcBef>
              <a:defRPr sz="1000">
                <a:solidFill>
                  <a:srgbClr val="6F7C75"/>
                </a:solidFill>
                <a:latin typeface="Microsoft JhengHei"/>
                <a:ea typeface="Microsoft JhengHei"/>
                <a:cs typeface="Microsoft JhengHei"/>
                <a:sym typeface="Microsoft JhengHei"/>
              </a:defRPr>
            </a:pPr>
            <a:r>
              <a:t>上風處的大公園</a:t>
            </a:r>
            <a:endParaRPr>
              <a:latin typeface="+mj-lt"/>
              <a:ea typeface="+mj-ea"/>
              <a:cs typeface="+mj-cs"/>
              <a:sym typeface="Calibri"/>
            </a:endParaRPr>
          </a:p>
          <a:p>
            <a:pPr>
              <a:spcBef>
                <a:spcPts val="200"/>
              </a:spcBef>
              <a:defRPr sz="1200">
                <a:solidFill>
                  <a:srgbClr val="1B2A22"/>
                </a:solidFill>
                <a:latin typeface="Cambria"/>
                <a:ea typeface="Microsoft JhengHei"/>
                <a:cs typeface="Cambria"/>
                <a:sym typeface="Cambria"/>
              </a:defRPr>
            </a:pPr>
            <a:r>
              <a:t>Small parks evenly distributed</a:t>
            </a:r>
            <a:endParaRPr>
              <a:latin typeface="+mj-lt"/>
              <a:ea typeface="+mj-ea"/>
              <a:cs typeface="+mj-cs"/>
              <a:sym typeface="Calibri"/>
            </a:endParaRPr>
          </a:p>
          <a:p>
            <a:pPr>
              <a:spcBef>
                <a:spcPts val="700"/>
              </a:spcBef>
              <a:defRPr sz="1000">
                <a:solidFill>
                  <a:srgbClr val="6F7C75"/>
                </a:solidFill>
                <a:latin typeface="Microsoft JhengHei"/>
                <a:ea typeface="Microsoft JhengHei"/>
                <a:cs typeface="Microsoft JhengHei"/>
                <a:sym typeface="Microsoft JhengHei"/>
              </a:defRPr>
            </a:pPr>
            <a:r>
              <a:t>平均分散的小公園</a:t>
            </a:r>
            <a:endParaRPr>
              <a:latin typeface="+mj-lt"/>
              <a:ea typeface="+mj-ea"/>
              <a:cs typeface="+mj-cs"/>
              <a:sym typeface="Calibri"/>
            </a:endParaRPr>
          </a:p>
          <a:p>
            <a:pPr>
              <a:spcBef>
                <a:spcPts val="200"/>
              </a:spcBef>
              <a:defRPr sz="1200">
                <a:solidFill>
                  <a:srgbClr val="2E6B4F"/>
                </a:solidFill>
                <a:latin typeface="Cambria"/>
                <a:ea typeface="Microsoft JhengHei"/>
                <a:cs typeface="Cambria"/>
                <a:sym typeface="Cambria"/>
              </a:defRPr>
            </a:pPr>
            <a:r>
              <a:t>Strong district-scale cooling</a:t>
            </a:r>
            <a:endParaRPr>
              <a:latin typeface="+mj-lt"/>
              <a:ea typeface="+mj-ea"/>
              <a:cs typeface="+mj-cs"/>
              <a:sym typeface="Calibri"/>
            </a:endParaRPr>
          </a:p>
          <a:p>
            <a:pPr>
              <a:defRPr b="1" sz="1100">
                <a:solidFill>
                  <a:srgbClr val="2E6B4F"/>
                </a:solidFill>
                <a:latin typeface="Microsoft JhengHei"/>
                <a:ea typeface="Microsoft JhengHei"/>
                <a:cs typeface="Microsoft JhengHei"/>
                <a:sym typeface="Microsoft JhengHei"/>
              </a:defRPr>
            </a:pPr>
            <a:r>
              <a:t>區域降溫效果佳</a:t>
            </a:r>
          </a:p>
        </p:txBody>
      </p:sp>
      <p:sp>
        <p:nvSpPr>
          <p:cNvPr id="414" name="TextBox 8"/>
          <p:cNvSpPr txBox="1"/>
          <p:nvPr/>
        </p:nvSpPr>
        <p:spPr>
          <a:xfrm>
            <a:off x="4983479" y="4224528"/>
            <a:ext cx="3063242" cy="3352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0000"/>
              </a:lnSpc>
              <a:defRPr sz="1100">
                <a:solidFill>
                  <a:srgbClr val="6F7C75"/>
                </a:solidFill>
                <a:latin typeface="Cambria"/>
                <a:ea typeface="Microsoft JhengHei"/>
                <a:cs typeface="Cambria"/>
                <a:sym typeface="Cambria"/>
              </a:defRPr>
            </a:lvl1pPr>
          </a:lstStyle>
          <a:p>
            <a:pPr/>
            <a:r>
              <a:t>Both layouts deliver strong district-scale cooling, on the same microclimate model.</a:t>
            </a:r>
          </a:p>
        </p:txBody>
      </p:sp>
      <p:pic>
        <p:nvPicPr>
          <p:cNvPr id="415" name="Picture 9" descr="Picture 9"/>
          <p:cNvPicPr>
            <a:picLocks noChangeAspect="1"/>
          </p:cNvPicPr>
          <p:nvPr/>
        </p:nvPicPr>
        <p:blipFill>
          <a:blip r:embed="rId4">
            <a:extLst/>
          </a:blip>
          <a:srcRect l="0" t="4505" r="0" b="4504"/>
          <a:stretch>
            <a:fillRect/>
          </a:stretch>
        </p:blipFill>
        <p:spPr>
          <a:xfrm>
            <a:off x="8275318" y="1938527"/>
            <a:ext cx="3227834" cy="1920241"/>
          </a:xfrm>
          <a:prstGeom prst="rect">
            <a:avLst/>
          </a:prstGeom>
          <a:ln w="12700">
            <a:miter lim="400000"/>
          </a:ln>
        </p:spPr>
      </p:pic>
      <p:pic>
        <p:nvPicPr>
          <p:cNvPr id="416" name="Picture 10" descr="Picture 10"/>
          <p:cNvPicPr>
            <a:picLocks noChangeAspect="1"/>
          </p:cNvPicPr>
          <p:nvPr/>
        </p:nvPicPr>
        <p:blipFill>
          <a:blip r:embed="rId5">
            <a:extLst/>
          </a:blip>
          <a:srcRect l="0" t="5353" r="0" b="5353"/>
          <a:stretch>
            <a:fillRect/>
          </a:stretch>
        </p:blipFill>
        <p:spPr>
          <a:xfrm>
            <a:off x="8275318" y="3977637"/>
            <a:ext cx="3227834" cy="1920242"/>
          </a:xfrm>
          <a:prstGeom prst="rect">
            <a:avLst/>
          </a:prstGeom>
          <a:ln w="12700">
            <a:miter lim="400000"/>
          </a:ln>
        </p:spPr>
      </p:pic>
      <p:sp>
        <p:nvSpPr>
          <p:cNvPr id="417" name="TextBox 11"/>
          <p:cNvSpPr txBox="1"/>
          <p:nvPr/>
        </p:nvSpPr>
        <p:spPr>
          <a:xfrm>
            <a:off x="8275318" y="5989320"/>
            <a:ext cx="3227834"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1B2A22"/>
                </a:solidFill>
                <a:latin typeface="Cambria"/>
                <a:ea typeface="Microsoft JhengHei"/>
                <a:cs typeface="Cambria"/>
                <a:sym typeface="Cambria"/>
              </a:defRPr>
            </a:pPr>
            <a:r>
              <a:t>Site imagery and model output</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基地影像與模擬輸出</a:t>
            </a:r>
          </a:p>
        </p:txBody>
      </p:sp>
      <p:sp>
        <p:nvSpPr>
          <p:cNvPr id="418" name="TextBox 12"/>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419" name="TextBox 13"/>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14</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3"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FIVE LABORATORIES  ·  03 VALIDATE  ·  驗證</a:t>
            </a:r>
          </a:p>
        </p:txBody>
      </p:sp>
      <p:sp>
        <p:nvSpPr>
          <p:cNvPr id="424"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Lab 303 — Facility</a:t>
            </a:r>
          </a:p>
        </p:txBody>
      </p:sp>
      <p:sp>
        <p:nvSpPr>
          <p:cNvPr id="425"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303 景觀環境模擬室環境照　·　VR 環境模擬</a:t>
            </a:r>
          </a:p>
        </p:txBody>
      </p:sp>
      <p:pic>
        <p:nvPicPr>
          <p:cNvPr id="426" name="Picture 4" descr="Picture 4"/>
          <p:cNvPicPr>
            <a:picLocks noChangeAspect="1"/>
          </p:cNvPicPr>
          <p:nvPr/>
        </p:nvPicPr>
        <p:blipFill>
          <a:blip r:embed="rId3">
            <a:extLst/>
          </a:blip>
          <a:srcRect l="0" t="26" r="0" b="25"/>
          <a:stretch>
            <a:fillRect/>
          </a:stretch>
        </p:blipFill>
        <p:spPr>
          <a:xfrm>
            <a:off x="685800" y="1901951"/>
            <a:ext cx="5349241" cy="2084832"/>
          </a:xfrm>
          <a:prstGeom prst="rect">
            <a:avLst/>
          </a:prstGeom>
          <a:ln w="12700">
            <a:miter lim="400000"/>
          </a:ln>
        </p:spPr>
      </p:pic>
      <p:pic>
        <p:nvPicPr>
          <p:cNvPr id="427" name="Picture 5" descr="Picture 5"/>
          <p:cNvPicPr>
            <a:picLocks noChangeAspect="1"/>
          </p:cNvPicPr>
          <p:nvPr/>
        </p:nvPicPr>
        <p:blipFill>
          <a:blip r:embed="rId4">
            <a:extLst/>
          </a:blip>
          <a:srcRect l="1000" t="0" r="999" b="0"/>
          <a:stretch>
            <a:fillRect/>
          </a:stretch>
        </p:blipFill>
        <p:spPr>
          <a:xfrm>
            <a:off x="6263640" y="1901950"/>
            <a:ext cx="5239514" cy="2084834"/>
          </a:xfrm>
          <a:prstGeom prst="rect">
            <a:avLst/>
          </a:prstGeom>
          <a:ln w="12700">
            <a:miter lim="400000"/>
          </a:ln>
        </p:spPr>
      </p:pic>
      <p:sp>
        <p:nvSpPr>
          <p:cNvPr id="428" name="TextBox 6"/>
          <p:cNvSpPr txBox="1"/>
          <p:nvPr/>
        </p:nvSpPr>
        <p:spPr>
          <a:xfrm>
            <a:off x="685798" y="4059935"/>
            <a:ext cx="10817356"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1B2A22"/>
                </a:solidFill>
                <a:latin typeface="Cambria"/>
                <a:ea typeface="Microsoft JhengHei"/>
                <a:cs typeface="Cambria"/>
                <a:sym typeface="Cambria"/>
              </a:defRPr>
            </a:pPr>
            <a:r>
              <a:t>Simulation Lab and VR workstations</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模擬室環境與 VR 工作站</a:t>
            </a:r>
          </a:p>
        </p:txBody>
      </p:sp>
      <p:pic>
        <p:nvPicPr>
          <p:cNvPr id="429" name="Picture 7" descr="Picture 7"/>
          <p:cNvPicPr>
            <a:picLocks noChangeAspect="1"/>
          </p:cNvPicPr>
          <p:nvPr/>
        </p:nvPicPr>
        <p:blipFill>
          <a:blip r:embed="rId5">
            <a:extLst/>
          </a:blip>
          <a:srcRect l="0" t="21454" r="0" b="21454"/>
          <a:stretch>
            <a:fillRect/>
          </a:stretch>
        </p:blipFill>
        <p:spPr>
          <a:xfrm>
            <a:off x="685800" y="4498846"/>
            <a:ext cx="3460394" cy="1481331"/>
          </a:xfrm>
          <a:prstGeom prst="rect">
            <a:avLst/>
          </a:prstGeom>
          <a:ln w="12700">
            <a:miter lim="400000"/>
          </a:ln>
        </p:spPr>
      </p:pic>
      <p:pic>
        <p:nvPicPr>
          <p:cNvPr id="430" name="Picture 8" descr="Picture 8"/>
          <p:cNvPicPr>
            <a:picLocks noChangeAspect="1"/>
          </p:cNvPicPr>
          <p:nvPr/>
        </p:nvPicPr>
        <p:blipFill>
          <a:blip r:embed="rId6">
            <a:extLst/>
          </a:blip>
          <a:srcRect l="0" t="21444" r="0" b="21444"/>
          <a:stretch>
            <a:fillRect/>
          </a:stretch>
        </p:blipFill>
        <p:spPr>
          <a:xfrm>
            <a:off x="4365650" y="4498847"/>
            <a:ext cx="3460396" cy="1481330"/>
          </a:xfrm>
          <a:prstGeom prst="rect">
            <a:avLst/>
          </a:prstGeom>
          <a:ln w="12700">
            <a:miter lim="400000"/>
          </a:ln>
        </p:spPr>
      </p:pic>
      <p:pic>
        <p:nvPicPr>
          <p:cNvPr id="431" name="Picture 9" descr="Picture 9"/>
          <p:cNvPicPr>
            <a:picLocks noChangeAspect="1"/>
          </p:cNvPicPr>
          <p:nvPr/>
        </p:nvPicPr>
        <p:blipFill>
          <a:blip r:embed="rId7">
            <a:extLst/>
          </a:blip>
          <a:srcRect l="0" t="36077" r="0" b="36077"/>
          <a:stretch>
            <a:fillRect/>
          </a:stretch>
        </p:blipFill>
        <p:spPr>
          <a:xfrm>
            <a:off x="8045500" y="4498847"/>
            <a:ext cx="3460396" cy="1481330"/>
          </a:xfrm>
          <a:prstGeom prst="rect">
            <a:avLst/>
          </a:prstGeom>
          <a:ln w="12700">
            <a:miter lim="400000"/>
          </a:ln>
        </p:spPr>
      </p:pic>
      <p:sp>
        <p:nvSpPr>
          <p:cNvPr id="432" name="TextBox 10"/>
          <p:cNvSpPr txBox="1"/>
          <p:nvPr/>
        </p:nvSpPr>
        <p:spPr>
          <a:xfrm>
            <a:off x="685798" y="6016752"/>
            <a:ext cx="10817356"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1B2A22"/>
                </a:solidFill>
                <a:latin typeface="Cambria"/>
                <a:ea typeface="Microsoft JhengHei"/>
                <a:cs typeface="Cambria"/>
                <a:sym typeface="Cambria"/>
              </a:defRPr>
            </a:pPr>
            <a:r>
              <a:t>Group experiment area, headset stations and control desk</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團體實驗區、頭戴裝置站與控制台</a:t>
            </a:r>
          </a:p>
        </p:txBody>
      </p:sp>
      <p:sp>
        <p:nvSpPr>
          <p:cNvPr id="433" name="TextBox 11"/>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434" name="TextBox 12"/>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15</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8"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FIVE LABORATORIES  ·  03 VALIDATE  ·  驗證</a:t>
            </a:r>
          </a:p>
        </p:txBody>
      </p:sp>
      <p:sp>
        <p:nvSpPr>
          <p:cNvPr id="439"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Lab 303 — The 360 VR Content Library</a:t>
            </a:r>
          </a:p>
        </p:txBody>
      </p:sp>
      <p:sp>
        <p:nvSpPr>
          <p:cNvPr id="440"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360 VR 影片與環境教育／食農教育教材</a:t>
            </a:r>
          </a:p>
        </p:txBody>
      </p:sp>
      <p:pic>
        <p:nvPicPr>
          <p:cNvPr id="441" name="Picture 4" descr="Picture 4"/>
          <p:cNvPicPr>
            <a:picLocks noChangeAspect="1"/>
          </p:cNvPicPr>
          <p:nvPr/>
        </p:nvPicPr>
        <p:blipFill>
          <a:blip r:embed="rId3">
            <a:extLst/>
          </a:blip>
          <a:srcRect l="0" t="1560" r="0" b="1560"/>
          <a:stretch>
            <a:fillRect/>
          </a:stretch>
        </p:blipFill>
        <p:spPr>
          <a:xfrm>
            <a:off x="685800" y="1938526"/>
            <a:ext cx="3436011" cy="2606042"/>
          </a:xfrm>
          <a:prstGeom prst="rect">
            <a:avLst/>
          </a:prstGeom>
          <a:ln w="12700">
            <a:miter lim="400000"/>
          </a:ln>
        </p:spPr>
      </p:pic>
      <p:sp>
        <p:nvSpPr>
          <p:cNvPr id="442" name="Rounded Rectangle 5"/>
          <p:cNvSpPr/>
          <p:nvPr/>
        </p:nvSpPr>
        <p:spPr>
          <a:xfrm>
            <a:off x="685800" y="4626864"/>
            <a:ext cx="3436011" cy="1243586"/>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443" name="TextBox 6"/>
          <p:cNvSpPr txBox="1"/>
          <p:nvPr/>
        </p:nvSpPr>
        <p:spPr>
          <a:xfrm>
            <a:off x="941830" y="4791454"/>
            <a:ext cx="2923950" cy="37782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spcBef>
                <a:spcPts val="500"/>
              </a:spcBef>
              <a:defRPr sz="1400">
                <a:solidFill>
                  <a:srgbClr val="1B2A22"/>
                </a:solidFill>
                <a:latin typeface="Cambria"/>
                <a:ea typeface="Microsoft JhengHei"/>
                <a:cs typeface="Cambria"/>
                <a:sym typeface="Cambria"/>
              </a:defRPr>
            </a:pPr>
            <a:r>
              <a:t>Taipei Botanical Garden</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臺北植物園　·　360 VR</a:t>
            </a:r>
          </a:p>
        </p:txBody>
      </p:sp>
      <p:pic>
        <p:nvPicPr>
          <p:cNvPr id="444" name="Picture 7" descr="Picture 7"/>
          <p:cNvPicPr>
            <a:picLocks noChangeAspect="1"/>
          </p:cNvPicPr>
          <p:nvPr/>
        </p:nvPicPr>
        <p:blipFill>
          <a:blip r:embed="rId4">
            <a:extLst/>
          </a:blip>
          <a:srcRect l="11097" t="0" r="11097" b="0"/>
          <a:stretch>
            <a:fillRect/>
          </a:stretch>
        </p:blipFill>
        <p:spPr>
          <a:xfrm>
            <a:off x="4377841" y="1938527"/>
            <a:ext cx="3436011" cy="2606041"/>
          </a:xfrm>
          <a:prstGeom prst="rect">
            <a:avLst/>
          </a:prstGeom>
          <a:ln w="12700">
            <a:miter lim="400000"/>
          </a:ln>
        </p:spPr>
      </p:pic>
      <p:sp>
        <p:nvSpPr>
          <p:cNvPr id="445" name="Rounded Rectangle 8"/>
          <p:cNvSpPr/>
          <p:nvPr/>
        </p:nvSpPr>
        <p:spPr>
          <a:xfrm>
            <a:off x="4377842" y="4626864"/>
            <a:ext cx="3436011" cy="1243586"/>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446" name="TextBox 9"/>
          <p:cNvSpPr txBox="1"/>
          <p:nvPr/>
        </p:nvSpPr>
        <p:spPr>
          <a:xfrm>
            <a:off x="4633874" y="4791454"/>
            <a:ext cx="2923948" cy="37782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spcBef>
                <a:spcPts val="500"/>
              </a:spcBef>
              <a:defRPr sz="1400">
                <a:solidFill>
                  <a:srgbClr val="1B2A22"/>
                </a:solidFill>
                <a:latin typeface="Cambria"/>
                <a:ea typeface="Microsoft JhengHei"/>
                <a:cs typeface="Cambria"/>
                <a:sym typeface="Cambria"/>
              </a:defRPr>
            </a:pPr>
            <a:r>
              <a:t>Lin Family Mansion and Garden</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板橋林本源園邸　·　360 VR</a:t>
            </a:r>
          </a:p>
        </p:txBody>
      </p:sp>
      <p:pic>
        <p:nvPicPr>
          <p:cNvPr id="447" name="Picture 10" descr="Picture 10"/>
          <p:cNvPicPr>
            <a:picLocks noChangeAspect="1"/>
          </p:cNvPicPr>
          <p:nvPr/>
        </p:nvPicPr>
        <p:blipFill>
          <a:blip r:embed="rId5">
            <a:extLst/>
          </a:blip>
          <a:srcRect l="557" t="0" r="557" b="0"/>
          <a:stretch>
            <a:fillRect/>
          </a:stretch>
        </p:blipFill>
        <p:spPr>
          <a:xfrm>
            <a:off x="8069884" y="1938527"/>
            <a:ext cx="3436012" cy="2606041"/>
          </a:xfrm>
          <a:prstGeom prst="rect">
            <a:avLst/>
          </a:prstGeom>
          <a:ln w="12700">
            <a:miter lim="400000"/>
          </a:ln>
        </p:spPr>
      </p:pic>
      <p:sp>
        <p:nvSpPr>
          <p:cNvPr id="448" name="Rounded Rectangle 11"/>
          <p:cNvSpPr/>
          <p:nvPr/>
        </p:nvSpPr>
        <p:spPr>
          <a:xfrm>
            <a:off x="8069884" y="4626864"/>
            <a:ext cx="3436011" cy="1243586"/>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449" name="TextBox 12"/>
          <p:cNvSpPr txBox="1"/>
          <p:nvPr/>
        </p:nvSpPr>
        <p:spPr>
          <a:xfrm>
            <a:off x="8325915" y="4791454"/>
            <a:ext cx="2923948" cy="5778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spcBef>
                <a:spcPts val="500"/>
              </a:spcBef>
              <a:defRPr sz="1400">
                <a:solidFill>
                  <a:srgbClr val="1B2A22"/>
                </a:solidFill>
                <a:latin typeface="Cambria"/>
                <a:ea typeface="Microsoft JhengHei"/>
                <a:cs typeface="Cambria"/>
                <a:sym typeface="Cambria"/>
              </a:defRPr>
            </a:pPr>
            <a:r>
              <a:t>Environmental and food-and-farming education</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環境教育／食農教育</a:t>
            </a:r>
          </a:p>
        </p:txBody>
      </p:sp>
      <p:sp>
        <p:nvSpPr>
          <p:cNvPr id="450" name="TextBox 13"/>
          <p:cNvSpPr txBox="1"/>
          <p:nvPr/>
        </p:nvSpPr>
        <p:spPr>
          <a:xfrm>
            <a:off x="685799" y="5961888"/>
            <a:ext cx="10820097"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300"/>
              </a:spcBef>
              <a:defRPr sz="1100">
                <a:solidFill>
                  <a:srgbClr val="1B2A22"/>
                </a:solidFill>
                <a:latin typeface="Cambria"/>
                <a:ea typeface="Microsoft JhengHei"/>
                <a:cs typeface="Cambria"/>
                <a:sym typeface="Cambria"/>
              </a:defRPr>
            </a:pPr>
            <a:r>
              <a:t>A library of on-site 360-degree footage, built for environmental and food-and-farming education.</a:t>
            </a:r>
            <a:endParaRPr>
              <a:latin typeface="+mj-lt"/>
              <a:ea typeface="+mj-ea"/>
              <a:cs typeface="+mj-cs"/>
              <a:sym typeface="Calibri"/>
            </a:endParaRPr>
          </a:p>
          <a:p>
            <a:pPr>
              <a:defRPr sz="1000">
                <a:solidFill>
                  <a:srgbClr val="6F7C75"/>
                </a:solidFill>
                <a:latin typeface="Microsoft JhengHei"/>
                <a:ea typeface="Microsoft JhengHei"/>
                <a:cs typeface="Microsoft JhengHei"/>
                <a:sym typeface="Microsoft JhengHei"/>
              </a:defRPr>
            </a:pPr>
            <a:r>
              <a:t>以實地拍攝的 360 度環場影片建立教材庫，供環境教育與食農教育課程使用。</a:t>
            </a:r>
          </a:p>
        </p:txBody>
      </p:sp>
      <p:sp>
        <p:nvSpPr>
          <p:cNvPr id="451" name="TextBox 14"/>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452" name="TextBox 15"/>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16</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6"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FIVE LABORATORIES  ·  03 VALIDATE  ·  驗證</a:t>
            </a:r>
          </a:p>
        </p:txBody>
      </p:sp>
      <p:sp>
        <p:nvSpPr>
          <p:cNvPr id="457"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360 VR Cooling Landscapes in Wound-Pain Care</a:t>
            </a:r>
          </a:p>
        </p:txBody>
      </p:sp>
      <p:sp>
        <p:nvSpPr>
          <p:cNvPr id="458"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研究開發—360VR 景觀療癒　·　VR 清涼景觀在傷口疼痛舒緩照護</a:t>
            </a:r>
          </a:p>
        </p:txBody>
      </p:sp>
      <p:sp>
        <p:nvSpPr>
          <p:cNvPr id="459" name="Rectangle 4"/>
          <p:cNvSpPr/>
          <p:nvPr/>
        </p:nvSpPr>
        <p:spPr>
          <a:xfrm>
            <a:off x="685799" y="1938527"/>
            <a:ext cx="6720841" cy="3749041"/>
          </a:xfrm>
          <a:prstGeom prst="rect">
            <a:avLst/>
          </a:prstGeom>
          <a:solidFill>
            <a:srgbClr val="EEF3EF"/>
          </a:solidFill>
          <a:ln w="12700">
            <a:miter lim="400000"/>
          </a:ln>
        </p:spPr>
        <p:txBody>
          <a:bodyPr lIns="45718" tIns="45718" rIns="45718" bIns="45718" anchor="ctr"/>
          <a:lstStyle/>
          <a:p>
            <a:pPr algn="ctr">
              <a:defRPr>
                <a:solidFill>
                  <a:srgbClr val="FFFFFF"/>
                </a:solidFill>
              </a:defRPr>
            </a:pPr>
          </a:p>
        </p:txBody>
      </p:sp>
      <p:pic>
        <p:nvPicPr>
          <p:cNvPr id="460" name="Picture 5" descr="Picture 5"/>
          <p:cNvPicPr>
            <a:picLocks noChangeAspect="1"/>
          </p:cNvPicPr>
          <p:nvPr/>
        </p:nvPicPr>
        <p:blipFill>
          <a:blip r:embed="rId3">
            <a:extLst/>
          </a:blip>
          <a:stretch>
            <a:fillRect/>
          </a:stretch>
        </p:blipFill>
        <p:spPr>
          <a:xfrm>
            <a:off x="1199828" y="1993392"/>
            <a:ext cx="5692782" cy="3639311"/>
          </a:xfrm>
          <a:prstGeom prst="rect">
            <a:avLst/>
          </a:prstGeom>
          <a:ln w="12700">
            <a:miter lim="400000"/>
          </a:ln>
        </p:spPr>
      </p:pic>
      <p:sp>
        <p:nvSpPr>
          <p:cNvPr id="461" name="TextBox 6"/>
          <p:cNvSpPr txBox="1"/>
          <p:nvPr/>
        </p:nvSpPr>
        <p:spPr>
          <a:xfrm>
            <a:off x="685799" y="5779008"/>
            <a:ext cx="672084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1B2A22"/>
                </a:solidFill>
                <a:latin typeface="Cambria"/>
                <a:ea typeface="Microsoft JhengHei"/>
                <a:cs typeface="Cambria"/>
                <a:sym typeface="Cambria"/>
              </a:defRPr>
            </a:pPr>
            <a:r>
              <a:t>Scenes from the 360 VR wound-care intervention</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介入使用之 360 VR 場景</a:t>
            </a:r>
          </a:p>
        </p:txBody>
      </p:sp>
      <p:sp>
        <p:nvSpPr>
          <p:cNvPr id="462" name="Rounded Rectangle 7"/>
          <p:cNvSpPr/>
          <p:nvPr/>
        </p:nvSpPr>
        <p:spPr>
          <a:xfrm>
            <a:off x="7726677" y="1938527"/>
            <a:ext cx="3779217" cy="1426465"/>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463" name="TextBox 8"/>
          <p:cNvSpPr txBox="1"/>
          <p:nvPr/>
        </p:nvSpPr>
        <p:spPr>
          <a:xfrm>
            <a:off x="7982711" y="2103120"/>
            <a:ext cx="3267152" cy="9982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300"/>
              </a:spcBef>
              <a:defRPr sz="1400">
                <a:solidFill>
                  <a:srgbClr val="2E6B4F"/>
                </a:solidFill>
                <a:latin typeface="Cambria"/>
                <a:ea typeface="Microsoft JhengHei"/>
                <a:cs typeface="Cambria"/>
                <a:sym typeface="Cambria"/>
              </a:defRPr>
            </a:pPr>
            <a:r>
              <a:t>Cooling association</a:t>
            </a:r>
            <a:endParaRPr>
              <a:latin typeface="+mj-lt"/>
              <a:ea typeface="+mj-ea"/>
              <a:cs typeface="+mj-cs"/>
              <a:sym typeface="Calibri"/>
            </a:endParaRPr>
          </a:p>
          <a:p>
            <a:pPr>
              <a:spcBef>
                <a:spcPts val="600"/>
              </a:spcBef>
              <a:defRPr sz="1100">
                <a:solidFill>
                  <a:srgbClr val="6F7C75"/>
                </a:solidFill>
                <a:latin typeface="Microsoft JhengHei"/>
                <a:ea typeface="Microsoft JhengHei"/>
                <a:cs typeface="Microsoft JhengHei"/>
                <a:sym typeface="Microsoft JhengHei"/>
              </a:defRPr>
            </a:pPr>
            <a:r>
              <a:t>清涼景觀</a:t>
            </a:r>
            <a:endParaRPr>
              <a:latin typeface="+mj-lt"/>
              <a:ea typeface="+mj-ea"/>
              <a:cs typeface="+mj-cs"/>
              <a:sym typeface="Calibri"/>
            </a:endParaRPr>
          </a:p>
          <a:p>
            <a:pPr>
              <a:lnSpc>
                <a:spcPct val="115000"/>
              </a:lnSpc>
              <a:spcBef>
                <a:spcPts val="300"/>
              </a:spcBef>
              <a:defRPr sz="1100">
                <a:solidFill>
                  <a:srgbClr val="1B2A22"/>
                </a:solidFill>
                <a:latin typeface="Cambria"/>
                <a:ea typeface="Microsoft JhengHei"/>
                <a:cs typeface="Cambria"/>
                <a:sym typeface="Cambria"/>
              </a:defRPr>
            </a:pPr>
            <a:r>
              <a:t>Glaciers and rivers evoke coolness, lowering the burning quality of pain.</a:t>
            </a:r>
            <a:endParaRPr>
              <a:latin typeface="+mj-lt"/>
              <a:ea typeface="+mj-ea"/>
              <a:cs typeface="+mj-cs"/>
              <a:sym typeface="Calibri"/>
            </a:endParaRPr>
          </a:p>
          <a:p>
            <a:pPr>
              <a:defRPr sz="1000">
                <a:solidFill>
                  <a:srgbClr val="6F7C75"/>
                </a:solidFill>
                <a:latin typeface="Microsoft JhengHei"/>
                <a:ea typeface="Microsoft JhengHei"/>
                <a:cs typeface="Microsoft JhengHei"/>
                <a:sym typeface="Microsoft JhengHei"/>
              </a:defRPr>
            </a:pPr>
            <a:r>
              <a:t>冰川、河流的清涼感聯想，降低灼熱痛感</a:t>
            </a:r>
          </a:p>
        </p:txBody>
      </p:sp>
      <p:sp>
        <p:nvSpPr>
          <p:cNvPr id="464" name="Rounded Rectangle 9"/>
          <p:cNvSpPr/>
          <p:nvPr/>
        </p:nvSpPr>
        <p:spPr>
          <a:xfrm>
            <a:off x="7726677" y="3493008"/>
            <a:ext cx="3779217" cy="1426466"/>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465" name="TextBox 10"/>
          <p:cNvSpPr txBox="1"/>
          <p:nvPr/>
        </p:nvSpPr>
        <p:spPr>
          <a:xfrm>
            <a:off x="7982711" y="3657600"/>
            <a:ext cx="3267152" cy="99822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300"/>
              </a:spcBef>
              <a:defRPr sz="1400">
                <a:solidFill>
                  <a:srgbClr val="2E6B4F"/>
                </a:solidFill>
                <a:latin typeface="Cambria"/>
                <a:ea typeface="Microsoft JhengHei"/>
                <a:cs typeface="Cambria"/>
                <a:sym typeface="Cambria"/>
              </a:defRPr>
            </a:pPr>
            <a:r>
              <a:t>Attentional distraction</a:t>
            </a:r>
            <a:endParaRPr>
              <a:latin typeface="+mj-lt"/>
              <a:ea typeface="+mj-ea"/>
              <a:cs typeface="+mj-cs"/>
              <a:sym typeface="Calibri"/>
            </a:endParaRPr>
          </a:p>
          <a:p>
            <a:pPr>
              <a:spcBef>
                <a:spcPts val="600"/>
              </a:spcBef>
              <a:defRPr sz="1100">
                <a:solidFill>
                  <a:srgbClr val="6F7C75"/>
                </a:solidFill>
                <a:latin typeface="Microsoft JhengHei"/>
                <a:ea typeface="Microsoft JhengHei"/>
                <a:cs typeface="Microsoft JhengHei"/>
                <a:sym typeface="Microsoft JhengHei"/>
              </a:defRPr>
            </a:pPr>
            <a:r>
              <a:t>動態景觀</a:t>
            </a:r>
            <a:endParaRPr>
              <a:latin typeface="+mj-lt"/>
              <a:ea typeface="+mj-ea"/>
              <a:cs typeface="+mj-cs"/>
              <a:sym typeface="Calibri"/>
            </a:endParaRPr>
          </a:p>
          <a:p>
            <a:pPr>
              <a:lnSpc>
                <a:spcPct val="115000"/>
              </a:lnSpc>
              <a:spcBef>
                <a:spcPts val="300"/>
              </a:spcBef>
              <a:defRPr sz="1100">
                <a:solidFill>
                  <a:srgbClr val="1B2A22"/>
                </a:solidFill>
                <a:latin typeface="Cambria"/>
                <a:ea typeface="Microsoft JhengHei"/>
                <a:cs typeface="Cambria"/>
                <a:sym typeface="Cambria"/>
              </a:defRPr>
            </a:pPr>
            <a:r>
              <a:t>Falling water, flying birds and swimming fish draw attention away from pain.</a:t>
            </a:r>
            <a:endParaRPr>
              <a:latin typeface="+mj-lt"/>
              <a:ea typeface="+mj-ea"/>
              <a:cs typeface="+mj-cs"/>
              <a:sym typeface="Calibri"/>
            </a:endParaRPr>
          </a:p>
          <a:p>
            <a:pPr>
              <a:defRPr sz="1000">
                <a:solidFill>
                  <a:srgbClr val="6F7C75"/>
                </a:solidFill>
                <a:latin typeface="Microsoft JhengHei"/>
                <a:ea typeface="Microsoft JhengHei"/>
                <a:cs typeface="Microsoft JhengHei"/>
                <a:sym typeface="Microsoft JhengHei"/>
              </a:defRPr>
            </a:pPr>
            <a:r>
              <a:t>落瀑、鳥飛、魚游轉移注意力，減輕疼痛</a:t>
            </a:r>
          </a:p>
        </p:txBody>
      </p:sp>
      <p:sp>
        <p:nvSpPr>
          <p:cNvPr id="466" name="Rounded Rectangle 11"/>
          <p:cNvSpPr/>
          <p:nvPr/>
        </p:nvSpPr>
        <p:spPr>
          <a:xfrm>
            <a:off x="7726677" y="5084064"/>
            <a:ext cx="3779217" cy="786386"/>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467" name="TextBox 12"/>
          <p:cNvSpPr txBox="1"/>
          <p:nvPr/>
        </p:nvSpPr>
        <p:spPr>
          <a:xfrm>
            <a:off x="7982711" y="5285232"/>
            <a:ext cx="326715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Film</a:t>
            </a:r>
            <a:r>
              <a:rPr b="1">
                <a:latin typeface="Microsoft JhengHei"/>
                <a:ea typeface="Microsoft JhengHei"/>
                <a:cs typeface="Microsoft JhengHei"/>
                <a:sym typeface="Microsoft JhengHei"/>
              </a:rPr>
              <a:t>　</a:t>
            </a:r>
            <a:r>
              <a:t>https://youtu.be/3Mqec0BQWX4</a:t>
            </a:r>
          </a:p>
        </p:txBody>
      </p:sp>
      <p:sp>
        <p:nvSpPr>
          <p:cNvPr id="468" name="TextBox 13"/>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469" name="TextBox 14"/>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17</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3"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RESEARCH OUTCOMES  ·  PATIENT CARE  ·  病患照護</a:t>
            </a:r>
          </a:p>
        </p:txBody>
      </p:sp>
      <p:sp>
        <p:nvSpPr>
          <p:cNvPr id="474"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When the Patient Cannot Reach the Forest</a:t>
            </a:r>
          </a:p>
        </p:txBody>
      </p:sp>
      <p:sp>
        <p:nvSpPr>
          <p:cNvPr id="475"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當病人無法走進自然</a:t>
            </a:r>
          </a:p>
        </p:txBody>
      </p:sp>
      <p:sp>
        <p:nvSpPr>
          <p:cNvPr id="476" name="Rectangle 4"/>
          <p:cNvSpPr/>
          <p:nvPr/>
        </p:nvSpPr>
        <p:spPr>
          <a:xfrm>
            <a:off x="685800" y="1938527"/>
            <a:ext cx="5250027" cy="2148841"/>
          </a:xfrm>
          <a:prstGeom prst="rect">
            <a:avLst/>
          </a:prstGeom>
          <a:solidFill>
            <a:srgbClr val="EEF3EF"/>
          </a:solidFill>
          <a:ln w="12700">
            <a:miter lim="400000"/>
          </a:ln>
        </p:spPr>
        <p:txBody>
          <a:bodyPr lIns="45718" tIns="45718" rIns="45718" bIns="45718" anchor="ctr"/>
          <a:lstStyle/>
          <a:p>
            <a:pPr algn="ctr">
              <a:defRPr>
                <a:solidFill>
                  <a:srgbClr val="FFFFFF"/>
                </a:solidFill>
              </a:defRPr>
            </a:pPr>
          </a:p>
        </p:txBody>
      </p:sp>
      <p:pic>
        <p:nvPicPr>
          <p:cNvPr id="477" name="Picture 5" descr="Picture 5"/>
          <p:cNvPicPr>
            <a:picLocks noChangeAspect="1"/>
          </p:cNvPicPr>
          <p:nvPr/>
        </p:nvPicPr>
        <p:blipFill>
          <a:blip r:embed="rId3">
            <a:extLst/>
          </a:blip>
          <a:stretch>
            <a:fillRect/>
          </a:stretch>
        </p:blipFill>
        <p:spPr>
          <a:xfrm>
            <a:off x="1498805" y="1993392"/>
            <a:ext cx="3624017" cy="2039114"/>
          </a:xfrm>
          <a:prstGeom prst="rect">
            <a:avLst/>
          </a:prstGeom>
          <a:ln w="12700">
            <a:miter lim="400000"/>
          </a:ln>
        </p:spPr>
      </p:pic>
      <p:sp>
        <p:nvSpPr>
          <p:cNvPr id="478" name="Rounded Rectangle 6"/>
          <p:cNvSpPr/>
          <p:nvPr/>
        </p:nvSpPr>
        <p:spPr>
          <a:xfrm>
            <a:off x="685800" y="4206240"/>
            <a:ext cx="5250027" cy="205740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479" name="TextBox 7"/>
          <p:cNvSpPr txBox="1"/>
          <p:nvPr/>
        </p:nvSpPr>
        <p:spPr>
          <a:xfrm>
            <a:off x="978407" y="4425696"/>
            <a:ext cx="4664814" cy="14373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spcBef>
                <a:spcPts val="400"/>
              </a:spcBef>
              <a:defRPr sz="1400">
                <a:solidFill>
                  <a:srgbClr val="1B2A22"/>
                </a:solidFill>
                <a:latin typeface="Cambria"/>
                <a:ea typeface="Microsoft JhengHei"/>
                <a:cs typeface="Cambria"/>
                <a:sym typeface="Cambria"/>
              </a:defRPr>
            </a:pPr>
            <a:r>
              <a:t>Spiritual care in palliative settings</a:t>
            </a:r>
            <a:endParaRPr>
              <a:latin typeface="+mj-lt"/>
              <a:ea typeface="+mj-ea"/>
              <a:cs typeface="+mj-cs"/>
              <a:sym typeface="Calibri"/>
            </a:endParaRPr>
          </a:p>
          <a:p>
            <a:pPr>
              <a:spcBef>
                <a:spcPts val="800"/>
              </a:spcBef>
              <a:defRPr sz="1100">
                <a:solidFill>
                  <a:srgbClr val="2E6B4F"/>
                </a:solidFill>
                <a:latin typeface="Microsoft JhengHei"/>
                <a:ea typeface="Microsoft JhengHei"/>
                <a:cs typeface="Microsoft JhengHei"/>
                <a:sym typeface="Microsoft JhengHei"/>
              </a:defRPr>
            </a:pPr>
            <a:r>
              <a:t>360VR 觀光　末期病人靈性照護</a:t>
            </a:r>
            <a:endParaRPr>
              <a:latin typeface="+mj-lt"/>
              <a:ea typeface="+mj-ea"/>
              <a:cs typeface="+mj-cs"/>
              <a:sym typeface="Calibri"/>
            </a:endParaRPr>
          </a:p>
          <a:p>
            <a:pPr>
              <a:lnSpc>
                <a:spcPct val="117999"/>
              </a:lnSpc>
              <a:spcBef>
                <a:spcPts val="500"/>
              </a:spcBef>
              <a:defRPr sz="1100">
                <a:solidFill>
                  <a:srgbClr val="1B2A22"/>
                </a:solidFill>
                <a:latin typeface="Cambria"/>
                <a:ea typeface="Microsoft JhengHei"/>
                <a:cs typeface="Cambria"/>
                <a:sym typeface="Cambria"/>
              </a:defRPr>
            </a:pPr>
            <a:r>
              <a:t>Thirty locations across Taiwan were filmed on site and classified into physical, social and symbolic environments, forming a stimulus library for spiritual-care intervention in hospice wards.</a:t>
            </a:r>
            <a:endParaRPr>
              <a:latin typeface="+mj-lt"/>
              <a:ea typeface="+mj-ea"/>
              <a:cs typeface="+mj-cs"/>
              <a:sym typeface="Calibri"/>
            </a:endParaRPr>
          </a:p>
          <a:p>
            <a:pPr>
              <a:lnSpc>
                <a:spcPct val="115000"/>
              </a:lnSpc>
              <a:defRPr sz="1000">
                <a:solidFill>
                  <a:srgbClr val="6F7C75"/>
                </a:solidFill>
                <a:latin typeface="Microsoft JhengHei"/>
                <a:ea typeface="Microsoft JhengHei"/>
                <a:cs typeface="Microsoft JhengHei"/>
                <a:sym typeface="Microsoft JhengHei"/>
              </a:defRPr>
            </a:pPr>
            <a:r>
              <a:t>以臺灣 30 個景點實地取景，依物理環境、社會環境、象徵環境三類分類建置素材庫，用於安寧病房的靈性照護介入。</a:t>
            </a:r>
          </a:p>
        </p:txBody>
      </p:sp>
      <p:sp>
        <p:nvSpPr>
          <p:cNvPr id="480" name="Rectangle 8"/>
          <p:cNvSpPr/>
          <p:nvPr/>
        </p:nvSpPr>
        <p:spPr>
          <a:xfrm>
            <a:off x="6255867" y="1938527"/>
            <a:ext cx="5250027" cy="2148841"/>
          </a:xfrm>
          <a:prstGeom prst="rect">
            <a:avLst/>
          </a:prstGeom>
          <a:solidFill>
            <a:srgbClr val="EEF3EF"/>
          </a:solidFill>
          <a:ln w="12700">
            <a:miter lim="400000"/>
          </a:ln>
        </p:spPr>
        <p:txBody>
          <a:bodyPr lIns="45718" tIns="45718" rIns="45718" bIns="45718" anchor="ctr"/>
          <a:lstStyle/>
          <a:p>
            <a:pPr algn="ctr">
              <a:defRPr>
                <a:solidFill>
                  <a:srgbClr val="FFFFFF"/>
                </a:solidFill>
              </a:defRPr>
            </a:pPr>
          </a:p>
        </p:txBody>
      </p:sp>
      <p:pic>
        <p:nvPicPr>
          <p:cNvPr id="481" name="Picture 9" descr="Picture 9"/>
          <p:cNvPicPr>
            <a:picLocks noChangeAspect="1"/>
          </p:cNvPicPr>
          <p:nvPr/>
        </p:nvPicPr>
        <p:blipFill>
          <a:blip r:embed="rId4">
            <a:extLst/>
          </a:blip>
          <a:stretch>
            <a:fillRect/>
          </a:stretch>
        </p:blipFill>
        <p:spPr>
          <a:xfrm>
            <a:off x="7068873" y="1993392"/>
            <a:ext cx="3624017" cy="2039114"/>
          </a:xfrm>
          <a:prstGeom prst="rect">
            <a:avLst/>
          </a:prstGeom>
          <a:ln w="12700">
            <a:miter lim="400000"/>
          </a:ln>
        </p:spPr>
      </p:pic>
      <p:sp>
        <p:nvSpPr>
          <p:cNvPr id="482" name="Rounded Rectangle 10"/>
          <p:cNvSpPr/>
          <p:nvPr/>
        </p:nvSpPr>
        <p:spPr>
          <a:xfrm>
            <a:off x="6255865" y="4206240"/>
            <a:ext cx="5250029" cy="205740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483" name="TextBox 11"/>
          <p:cNvSpPr txBox="1"/>
          <p:nvPr/>
        </p:nvSpPr>
        <p:spPr>
          <a:xfrm>
            <a:off x="6548473" y="4425696"/>
            <a:ext cx="4664814" cy="14373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spcBef>
                <a:spcPts val="400"/>
              </a:spcBef>
              <a:defRPr sz="1400">
                <a:solidFill>
                  <a:srgbClr val="1B2A22"/>
                </a:solidFill>
                <a:latin typeface="Cambria"/>
                <a:ea typeface="Microsoft JhengHei"/>
                <a:cs typeface="Cambria"/>
                <a:sym typeface="Cambria"/>
              </a:defRPr>
            </a:pPr>
            <a:r>
              <a:t>Virtual chilling landscapes for wound care</a:t>
            </a:r>
            <a:endParaRPr>
              <a:latin typeface="+mj-lt"/>
              <a:ea typeface="+mj-ea"/>
              <a:cs typeface="+mj-cs"/>
              <a:sym typeface="Calibri"/>
            </a:endParaRPr>
          </a:p>
          <a:p>
            <a:pPr>
              <a:spcBef>
                <a:spcPts val="800"/>
              </a:spcBef>
              <a:defRPr sz="1100">
                <a:solidFill>
                  <a:srgbClr val="2E6B4F"/>
                </a:solidFill>
                <a:latin typeface="Microsoft JhengHei"/>
                <a:ea typeface="Microsoft JhengHei"/>
                <a:cs typeface="Microsoft JhengHei"/>
                <a:sym typeface="Microsoft JhengHei"/>
              </a:defRPr>
            </a:pPr>
            <a:r>
              <a:t>360VR 清涼景觀　傷口疼痛舒緩</a:t>
            </a:r>
            <a:endParaRPr>
              <a:latin typeface="+mj-lt"/>
              <a:ea typeface="+mj-ea"/>
              <a:cs typeface="+mj-cs"/>
              <a:sym typeface="Calibri"/>
            </a:endParaRPr>
          </a:p>
          <a:p>
            <a:pPr>
              <a:lnSpc>
                <a:spcPct val="117999"/>
              </a:lnSpc>
              <a:spcBef>
                <a:spcPts val="500"/>
              </a:spcBef>
              <a:defRPr sz="1100">
                <a:solidFill>
                  <a:srgbClr val="1B2A22"/>
                </a:solidFill>
                <a:latin typeface="Cambria"/>
                <a:ea typeface="Microsoft JhengHei"/>
                <a:cs typeface="Cambria"/>
                <a:sym typeface="Cambria"/>
              </a:defRPr>
            </a:pPr>
            <a:r>
              <a:t>Two mechanisms run in parallel: waterfalls, rivers and ocean build a cooling association that lowers the burning quality of pain, while falling water, birds and fish draw attention away from it.</a:t>
            </a:r>
            <a:endParaRPr>
              <a:latin typeface="+mj-lt"/>
              <a:ea typeface="+mj-ea"/>
              <a:cs typeface="+mj-cs"/>
              <a:sym typeface="Calibri"/>
            </a:endParaRPr>
          </a:p>
          <a:p>
            <a:pPr>
              <a:lnSpc>
                <a:spcPct val="115000"/>
              </a:lnSpc>
              <a:defRPr sz="1000">
                <a:solidFill>
                  <a:srgbClr val="6F7C75"/>
                </a:solidFill>
                <a:latin typeface="Microsoft JhengHei"/>
                <a:ea typeface="Microsoft JhengHei"/>
                <a:cs typeface="Microsoft JhengHei"/>
                <a:sym typeface="Microsoft JhengHei"/>
              </a:defRPr>
            </a:pPr>
            <a:r>
              <a:t>兩種機制並行：以瀑布、河流、海洋建立清涼聯想以降低灼熱痛感；以落瀑、飛鳥、游魚的動態景觀分散對疼痛的注意。</a:t>
            </a:r>
          </a:p>
        </p:txBody>
      </p:sp>
      <p:sp>
        <p:nvSpPr>
          <p:cNvPr id="484" name="TextBox 12"/>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485" name="TextBox 13"/>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18</a:t>
            </a:r>
          </a:p>
        </p:txBody>
      </p:sp>
    </p:spTree>
  </p:cSld>
  <p:clrMapOvr>
    <a:masterClrMapping/>
  </p:clrMapOvr>
  <mc:AlternateContent xmlns:mc="http://schemas.openxmlformats.org/markup-compatibility/2006">
    <mc:Choice xmlns:p14="http://schemas.microsoft.com/office/powerpoint/2010/main" Requires="p14">
      <p:transition spd="fast" advClick="1" p14:dur="500">
        <p:fade/>
      </p:transition>
    </mc:Choice>
    <mc:Fallback>
      <p:transition spd="fast">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9"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RESEARCH OUTCOMES  ·  FIELD IMPLEMENTATION  ·  場域落地</a:t>
            </a:r>
          </a:p>
        </p:txBody>
      </p:sp>
      <p:sp>
        <p:nvSpPr>
          <p:cNvPr id="490"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Northern Taiwan Rural Green Care Programme</a:t>
            </a:r>
          </a:p>
        </p:txBody>
      </p:sp>
      <p:sp>
        <p:nvSpPr>
          <p:cNvPr id="491"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北區農村綠色照顧輔導計畫</a:t>
            </a:r>
          </a:p>
        </p:txBody>
      </p:sp>
      <p:sp>
        <p:nvSpPr>
          <p:cNvPr id="492" name="Rounded Rectangle 4"/>
          <p:cNvSpPr/>
          <p:nvPr/>
        </p:nvSpPr>
        <p:spPr>
          <a:xfrm>
            <a:off x="685800" y="1965960"/>
            <a:ext cx="3423819" cy="2011680"/>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493" name="TextBox 5"/>
          <p:cNvSpPr txBox="1"/>
          <p:nvPr/>
        </p:nvSpPr>
        <p:spPr>
          <a:xfrm>
            <a:off x="685798" y="2212848"/>
            <a:ext cx="3423822" cy="863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5800">
                <a:solidFill>
                  <a:srgbClr val="2E6B4F"/>
                </a:solidFill>
                <a:latin typeface="Cambria"/>
                <a:ea typeface="Microsoft JhengHei"/>
                <a:cs typeface="Cambria"/>
                <a:sym typeface="Cambria"/>
              </a:defRPr>
            </a:lvl1pPr>
          </a:lstStyle>
          <a:p>
            <a:pPr/>
            <a:r>
              <a:t>7</a:t>
            </a:r>
          </a:p>
        </p:txBody>
      </p:sp>
      <p:sp>
        <p:nvSpPr>
          <p:cNvPr id="494" name="TextBox 6"/>
          <p:cNvSpPr txBox="1"/>
          <p:nvPr/>
        </p:nvSpPr>
        <p:spPr>
          <a:xfrm>
            <a:off x="685798" y="3182111"/>
            <a:ext cx="3423822"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400">
                <a:solidFill>
                  <a:srgbClr val="1B2A22"/>
                </a:solidFill>
                <a:latin typeface="Cambria"/>
                <a:ea typeface="Microsoft JhengHei"/>
                <a:cs typeface="Cambria"/>
                <a:sym typeface="Cambria"/>
              </a:defRPr>
            </a:lvl1pPr>
          </a:lstStyle>
          <a:p>
            <a:pPr/>
            <a:r>
              <a:t>counties</a:t>
            </a:r>
          </a:p>
        </p:txBody>
      </p:sp>
      <p:sp>
        <p:nvSpPr>
          <p:cNvPr id="495" name="TextBox 7"/>
          <p:cNvSpPr txBox="1"/>
          <p:nvPr/>
        </p:nvSpPr>
        <p:spPr>
          <a:xfrm>
            <a:off x="685798" y="3493008"/>
            <a:ext cx="3423822"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F7C75"/>
                </a:solidFill>
                <a:latin typeface="Microsoft JhengHei"/>
                <a:ea typeface="Microsoft JhengHei"/>
                <a:cs typeface="Microsoft JhengHei"/>
                <a:sym typeface="Microsoft JhengHei"/>
              </a:defRPr>
            </a:lvl1pPr>
          </a:lstStyle>
          <a:p>
            <a:pPr/>
            <a:r>
              <a:t>縣市</a:t>
            </a:r>
          </a:p>
        </p:txBody>
      </p:sp>
      <p:sp>
        <p:nvSpPr>
          <p:cNvPr id="496" name="Rounded Rectangle 8"/>
          <p:cNvSpPr/>
          <p:nvPr/>
        </p:nvSpPr>
        <p:spPr>
          <a:xfrm>
            <a:off x="4383937" y="1965960"/>
            <a:ext cx="3423819" cy="2011680"/>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497" name="TextBox 9"/>
          <p:cNvSpPr txBox="1"/>
          <p:nvPr/>
        </p:nvSpPr>
        <p:spPr>
          <a:xfrm>
            <a:off x="4383937" y="2212848"/>
            <a:ext cx="3423819" cy="863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5800">
                <a:solidFill>
                  <a:srgbClr val="2E6B4F"/>
                </a:solidFill>
                <a:latin typeface="Cambria"/>
                <a:ea typeface="Microsoft JhengHei"/>
                <a:cs typeface="Cambria"/>
                <a:sym typeface="Cambria"/>
              </a:defRPr>
            </a:lvl1pPr>
          </a:lstStyle>
          <a:p>
            <a:pPr/>
            <a:r>
              <a:t>33</a:t>
            </a:r>
          </a:p>
        </p:txBody>
      </p:sp>
      <p:sp>
        <p:nvSpPr>
          <p:cNvPr id="498" name="TextBox 10"/>
          <p:cNvSpPr txBox="1"/>
          <p:nvPr/>
        </p:nvSpPr>
        <p:spPr>
          <a:xfrm>
            <a:off x="4383937" y="3182111"/>
            <a:ext cx="342381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400">
                <a:solidFill>
                  <a:srgbClr val="1B2A22"/>
                </a:solidFill>
                <a:latin typeface="Cambria"/>
                <a:ea typeface="Microsoft JhengHei"/>
                <a:cs typeface="Cambria"/>
                <a:sym typeface="Cambria"/>
              </a:defRPr>
            </a:lvl1pPr>
          </a:lstStyle>
          <a:p>
            <a:pPr/>
            <a:r>
              <a:t>rural communities</a:t>
            </a:r>
          </a:p>
        </p:txBody>
      </p:sp>
      <p:sp>
        <p:nvSpPr>
          <p:cNvPr id="499" name="TextBox 11"/>
          <p:cNvSpPr txBox="1"/>
          <p:nvPr/>
        </p:nvSpPr>
        <p:spPr>
          <a:xfrm>
            <a:off x="4383937" y="3493008"/>
            <a:ext cx="3423819"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F7C75"/>
                </a:solidFill>
                <a:latin typeface="Microsoft JhengHei"/>
                <a:ea typeface="Microsoft JhengHei"/>
                <a:cs typeface="Microsoft JhengHei"/>
                <a:sym typeface="Microsoft JhengHei"/>
              </a:defRPr>
            </a:lvl1pPr>
          </a:lstStyle>
          <a:p>
            <a:pPr/>
            <a:r>
              <a:t>農村社區</a:t>
            </a:r>
          </a:p>
        </p:txBody>
      </p:sp>
      <p:sp>
        <p:nvSpPr>
          <p:cNvPr id="500" name="Rounded Rectangle 12"/>
          <p:cNvSpPr/>
          <p:nvPr/>
        </p:nvSpPr>
        <p:spPr>
          <a:xfrm>
            <a:off x="8082074" y="1965960"/>
            <a:ext cx="3423820" cy="2011680"/>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501" name="TextBox 13"/>
          <p:cNvSpPr txBox="1"/>
          <p:nvPr/>
        </p:nvSpPr>
        <p:spPr>
          <a:xfrm>
            <a:off x="8082074" y="2212848"/>
            <a:ext cx="3423820" cy="863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5800">
                <a:solidFill>
                  <a:srgbClr val="2E6B4F"/>
                </a:solidFill>
                <a:latin typeface="Cambria"/>
                <a:ea typeface="Microsoft JhengHei"/>
                <a:cs typeface="Cambria"/>
                <a:sym typeface="Cambria"/>
              </a:defRPr>
            </a:lvl1pPr>
          </a:lstStyle>
          <a:p>
            <a:pPr/>
            <a:r>
              <a:t>2</a:t>
            </a:r>
          </a:p>
        </p:txBody>
      </p:sp>
      <p:sp>
        <p:nvSpPr>
          <p:cNvPr id="502" name="TextBox 14"/>
          <p:cNvSpPr txBox="1"/>
          <p:nvPr/>
        </p:nvSpPr>
        <p:spPr>
          <a:xfrm>
            <a:off x="8082074" y="3182111"/>
            <a:ext cx="3423820"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400">
                <a:solidFill>
                  <a:srgbClr val="1B2A22"/>
                </a:solidFill>
                <a:latin typeface="Cambria"/>
                <a:ea typeface="Microsoft JhengHei"/>
                <a:cs typeface="Cambria"/>
                <a:sym typeface="Cambria"/>
              </a:defRPr>
            </a:lvl1pPr>
          </a:lstStyle>
          <a:p>
            <a:pPr/>
            <a:r>
              <a:t>years</a:t>
            </a:r>
          </a:p>
        </p:txBody>
      </p:sp>
      <p:sp>
        <p:nvSpPr>
          <p:cNvPr id="503" name="TextBox 15"/>
          <p:cNvSpPr txBox="1"/>
          <p:nvPr/>
        </p:nvSpPr>
        <p:spPr>
          <a:xfrm>
            <a:off x="8082074" y="3493008"/>
            <a:ext cx="342382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F7C75"/>
                </a:solidFill>
                <a:latin typeface="Microsoft JhengHei"/>
                <a:ea typeface="Microsoft JhengHei"/>
                <a:cs typeface="Microsoft JhengHei"/>
                <a:sym typeface="Microsoft JhengHei"/>
              </a:defRPr>
            </a:lvl1pPr>
          </a:lstStyle>
          <a:p>
            <a:pPr/>
            <a:r>
              <a:t>年度</a:t>
            </a:r>
          </a:p>
        </p:txBody>
      </p:sp>
      <p:sp>
        <p:nvSpPr>
          <p:cNvPr id="504" name="Rounded Rectangle 16"/>
          <p:cNvSpPr/>
          <p:nvPr/>
        </p:nvSpPr>
        <p:spPr>
          <a:xfrm>
            <a:off x="685800" y="4224528"/>
            <a:ext cx="10820097" cy="1783082"/>
          </a:xfrm>
          <a:prstGeom prst="roundRect">
            <a:avLst>
              <a:gd name="adj" fmla="val 4500"/>
            </a:avLst>
          </a:prstGeom>
          <a:solidFill>
            <a:srgbClr val="E3ECE6"/>
          </a:solidFill>
          <a:ln w="12700">
            <a:miter lim="400000"/>
          </a:ln>
        </p:spPr>
        <p:txBody>
          <a:bodyPr lIns="45718" tIns="45718" rIns="45718" bIns="45718" anchor="ctr"/>
          <a:lstStyle/>
          <a:p>
            <a:pPr algn="ctr">
              <a:defRPr>
                <a:solidFill>
                  <a:srgbClr val="FFFFFF"/>
                </a:solidFill>
              </a:defRPr>
            </a:pPr>
          </a:p>
        </p:txBody>
      </p:sp>
      <p:sp>
        <p:nvSpPr>
          <p:cNvPr id="505" name="TextBox 17"/>
          <p:cNvSpPr txBox="1"/>
          <p:nvPr/>
        </p:nvSpPr>
        <p:spPr>
          <a:xfrm>
            <a:off x="1097278" y="4462271"/>
            <a:ext cx="9997139" cy="6426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22000"/>
              </a:lnSpc>
              <a:spcBef>
                <a:spcPts val="700"/>
              </a:spcBef>
              <a:defRPr sz="1400">
                <a:solidFill>
                  <a:srgbClr val="1B2A22"/>
                </a:solidFill>
                <a:latin typeface="Cambria"/>
                <a:ea typeface="Microsoft JhengHei"/>
                <a:cs typeface="Cambria"/>
                <a:sym typeface="Cambria"/>
              </a:defRPr>
            </a:pPr>
            <a:r>
              <a:t>Green care recomposes the land, crops and people a village already has into a care service it can keep running. Our role is not to deliver the service but to build the model, coach local teams, and verify the outcome.</a:t>
            </a:r>
            <a:endParaRPr>
              <a:latin typeface="+mj-lt"/>
              <a:ea typeface="+mj-ea"/>
              <a:cs typeface="+mj-cs"/>
              <a:sym typeface="Calibri"/>
            </a:endParaRPr>
          </a:p>
          <a:p>
            <a:pPr>
              <a:lnSpc>
                <a:spcPct val="120000"/>
              </a:lnSpc>
              <a:defRPr sz="1100">
                <a:solidFill>
                  <a:srgbClr val="6F7C75"/>
                </a:solidFill>
                <a:latin typeface="Microsoft JhengHei"/>
                <a:ea typeface="Microsoft JhengHei"/>
                <a:cs typeface="Microsoft JhengHei"/>
                <a:sym typeface="Microsoft JhengHei"/>
              </a:defRPr>
            </a:pPr>
            <a:r>
              <a:t>綠色照顧的核心是把農村既有的土地、作物與人力，重組成可持續運作的在地照顧服務；中心的角色不是提供服務，而是建立模型、輔導在地團隊、並驗證成效。</a:t>
            </a:r>
          </a:p>
        </p:txBody>
      </p:sp>
      <p:sp>
        <p:nvSpPr>
          <p:cNvPr id="506" name="TextBox 18"/>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507" name="TextBox 19"/>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19</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1"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RESEARCH OUTCOMES  ·  FIELD IMPLEMENTATION  ·  場域落地</a:t>
            </a:r>
          </a:p>
        </p:txBody>
      </p:sp>
      <p:sp>
        <p:nvSpPr>
          <p:cNvPr id="512"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Four Community Models</a:t>
            </a:r>
          </a:p>
        </p:txBody>
      </p:sp>
      <p:sp>
        <p:nvSpPr>
          <p:cNvPr id="513"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四個代表性社區模型</a:t>
            </a:r>
          </a:p>
        </p:txBody>
      </p:sp>
      <p:pic>
        <p:nvPicPr>
          <p:cNvPr id="514" name="Picture 4" descr="Picture 4"/>
          <p:cNvPicPr>
            <a:picLocks noChangeAspect="1"/>
          </p:cNvPicPr>
          <p:nvPr/>
        </p:nvPicPr>
        <p:blipFill>
          <a:blip r:embed="rId3">
            <a:extLst/>
          </a:blip>
          <a:srcRect l="6824" t="0" r="6824" b="0"/>
          <a:stretch>
            <a:fillRect/>
          </a:stretch>
        </p:blipFill>
        <p:spPr>
          <a:xfrm>
            <a:off x="685800" y="1920238"/>
            <a:ext cx="2526715" cy="1645924"/>
          </a:xfrm>
          <a:prstGeom prst="rect">
            <a:avLst/>
          </a:prstGeom>
          <a:ln w="12700">
            <a:miter lim="400000"/>
          </a:ln>
        </p:spPr>
      </p:pic>
      <p:sp>
        <p:nvSpPr>
          <p:cNvPr id="515" name="Rounded Rectangle 5"/>
          <p:cNvSpPr/>
          <p:nvPr/>
        </p:nvSpPr>
        <p:spPr>
          <a:xfrm>
            <a:off x="685800" y="3675886"/>
            <a:ext cx="2526715" cy="2121410"/>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516" name="TextBox 6"/>
          <p:cNvSpPr txBox="1"/>
          <p:nvPr/>
        </p:nvSpPr>
        <p:spPr>
          <a:xfrm>
            <a:off x="923544" y="3840479"/>
            <a:ext cx="2051226" cy="16879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spcBef>
                <a:spcPts val="200"/>
              </a:spcBef>
              <a:defRPr sz="1300">
                <a:solidFill>
                  <a:srgbClr val="1B2A22"/>
                </a:solidFill>
                <a:latin typeface="Cambria"/>
                <a:ea typeface="Microsoft JhengHei"/>
                <a:cs typeface="Cambria"/>
                <a:sym typeface="Cambria"/>
              </a:defRPr>
            </a:pPr>
            <a:r>
              <a:t>Hakka Three-Herb Water Village</a:t>
            </a:r>
            <a:endParaRPr>
              <a:latin typeface="+mj-lt"/>
              <a:ea typeface="+mj-ea"/>
              <a:cs typeface="+mj-cs"/>
              <a:sym typeface="Calibri"/>
            </a:endParaRPr>
          </a:p>
          <a:p>
            <a:pPr>
              <a:spcBef>
                <a:spcPts val="400"/>
              </a:spcBef>
              <a:defRPr sz="1100">
                <a:solidFill>
                  <a:srgbClr val="2E6B4F"/>
                </a:solidFill>
                <a:latin typeface="Microsoft JhengHei"/>
                <a:ea typeface="Microsoft JhengHei"/>
                <a:cs typeface="Microsoft JhengHei"/>
                <a:sym typeface="Microsoft JhengHei"/>
              </a:defRPr>
            </a:pPr>
            <a:r>
              <a:t>客家三草水磜</a:t>
            </a:r>
            <a:endParaRPr>
              <a:latin typeface="+mj-lt"/>
              <a:ea typeface="+mj-ea"/>
              <a:cs typeface="+mj-cs"/>
              <a:sym typeface="Calibri"/>
            </a:endParaRPr>
          </a:p>
          <a:p>
            <a:pPr>
              <a:spcBef>
                <a:spcPts val="600"/>
              </a:spcBef>
              <a:defRPr sz="1000">
                <a:solidFill>
                  <a:srgbClr val="6F7C75"/>
                </a:solidFill>
                <a:latin typeface="Cambria"/>
                <a:ea typeface="Microsoft JhengHei"/>
                <a:cs typeface="Cambria"/>
                <a:sym typeface="Cambria"/>
              </a:defRPr>
            </a:pPr>
            <a:r>
              <a:t>Green site · food · therapy</a:t>
            </a:r>
            <a:endParaRPr>
              <a:latin typeface="+mj-lt"/>
              <a:ea typeface="+mj-ea"/>
              <a:cs typeface="+mj-cs"/>
              <a:sym typeface="Calibri"/>
            </a:endParaRPr>
          </a:p>
          <a:p>
            <a:pPr>
              <a:lnSpc>
                <a:spcPct val="115000"/>
              </a:lnSpc>
              <a:spcBef>
                <a:spcPts val="300"/>
              </a:spcBef>
              <a:defRPr sz="1000">
                <a:solidFill>
                  <a:srgbClr val="1B2A22"/>
                </a:solidFill>
                <a:latin typeface="Cambria"/>
                <a:ea typeface="Microsoft JhengHei"/>
                <a:cs typeface="Cambria"/>
                <a:sym typeface="Cambria"/>
              </a:defRPr>
            </a:pPr>
            <a:r>
              <a:t>Built on the village's existing herbal-medicine culture, a three-in-one community industry model.</a:t>
            </a:r>
            <a:endParaRPr>
              <a:latin typeface="+mj-lt"/>
              <a:ea typeface="+mj-ea"/>
              <a:cs typeface="+mj-cs"/>
              <a:sym typeface="Calibri"/>
            </a:endParaRPr>
          </a:p>
          <a:p>
            <a:pPr>
              <a:lnSpc>
                <a:spcPct val="112000"/>
              </a:lnSpc>
              <a:defRPr sz="1000">
                <a:solidFill>
                  <a:srgbClr val="6F7C75"/>
                </a:solidFill>
                <a:latin typeface="Microsoft JhengHei"/>
                <a:ea typeface="Microsoft JhengHei"/>
                <a:cs typeface="Microsoft JhengHei"/>
                <a:sym typeface="Microsoft JhengHei"/>
              </a:defRPr>
            </a:pPr>
            <a:r>
              <a:t>以客家庄既有的草藥文化為基礎，發展三位一體的社區產業模型。</a:t>
            </a:r>
          </a:p>
        </p:txBody>
      </p:sp>
      <p:pic>
        <p:nvPicPr>
          <p:cNvPr id="517" name="Picture 7" descr="Picture 7"/>
          <p:cNvPicPr>
            <a:picLocks noChangeAspect="1"/>
          </p:cNvPicPr>
          <p:nvPr/>
        </p:nvPicPr>
        <p:blipFill>
          <a:blip r:embed="rId4">
            <a:extLst/>
          </a:blip>
          <a:srcRect l="0" t="6573" r="0" b="6571"/>
          <a:stretch>
            <a:fillRect/>
          </a:stretch>
        </p:blipFill>
        <p:spPr>
          <a:xfrm>
            <a:off x="3450259" y="1920239"/>
            <a:ext cx="2526717" cy="1645922"/>
          </a:xfrm>
          <a:prstGeom prst="rect">
            <a:avLst/>
          </a:prstGeom>
          <a:ln w="12700">
            <a:miter lim="400000"/>
          </a:ln>
        </p:spPr>
      </p:pic>
      <p:sp>
        <p:nvSpPr>
          <p:cNvPr id="518" name="Rounded Rectangle 8"/>
          <p:cNvSpPr/>
          <p:nvPr/>
        </p:nvSpPr>
        <p:spPr>
          <a:xfrm>
            <a:off x="3450259" y="3675886"/>
            <a:ext cx="2526717" cy="2121410"/>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519" name="TextBox 9"/>
          <p:cNvSpPr txBox="1"/>
          <p:nvPr/>
        </p:nvSpPr>
        <p:spPr>
          <a:xfrm>
            <a:off x="3688003" y="3840479"/>
            <a:ext cx="2051227" cy="15012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spcBef>
                <a:spcPts val="200"/>
              </a:spcBef>
              <a:defRPr sz="1300">
                <a:solidFill>
                  <a:srgbClr val="1B2A22"/>
                </a:solidFill>
                <a:latin typeface="Cambria"/>
                <a:ea typeface="Microsoft JhengHei"/>
                <a:cs typeface="Cambria"/>
                <a:sym typeface="Cambria"/>
              </a:defRPr>
            </a:pPr>
            <a:r>
              <a:t>Neizha Community</a:t>
            </a:r>
            <a:endParaRPr>
              <a:latin typeface="+mj-lt"/>
              <a:ea typeface="+mj-ea"/>
              <a:cs typeface="+mj-cs"/>
              <a:sym typeface="Calibri"/>
            </a:endParaRPr>
          </a:p>
          <a:p>
            <a:pPr>
              <a:spcBef>
                <a:spcPts val="400"/>
              </a:spcBef>
              <a:defRPr sz="1100">
                <a:solidFill>
                  <a:srgbClr val="2E6B4F"/>
                </a:solidFill>
                <a:latin typeface="Microsoft JhengHei"/>
                <a:ea typeface="Microsoft JhengHei"/>
                <a:cs typeface="Microsoft JhengHei"/>
                <a:sym typeface="Microsoft JhengHei"/>
              </a:defRPr>
            </a:pPr>
            <a:r>
              <a:t>內柵社區</a:t>
            </a:r>
            <a:endParaRPr>
              <a:latin typeface="+mj-lt"/>
              <a:ea typeface="+mj-ea"/>
              <a:cs typeface="+mj-cs"/>
              <a:sym typeface="Calibri"/>
            </a:endParaRPr>
          </a:p>
          <a:p>
            <a:pPr>
              <a:spcBef>
                <a:spcPts val="600"/>
              </a:spcBef>
              <a:defRPr sz="1000">
                <a:solidFill>
                  <a:srgbClr val="6F7C75"/>
                </a:solidFill>
                <a:latin typeface="Cambria"/>
                <a:ea typeface="Microsoft JhengHei"/>
                <a:cs typeface="Cambria"/>
                <a:sym typeface="Cambria"/>
              </a:defRPr>
            </a:pPr>
            <a:r>
              <a:t>Productive ageing</a:t>
            </a:r>
            <a:endParaRPr>
              <a:latin typeface="+mj-lt"/>
              <a:ea typeface="+mj-ea"/>
              <a:cs typeface="+mj-cs"/>
              <a:sym typeface="Calibri"/>
            </a:endParaRPr>
          </a:p>
          <a:p>
            <a:pPr>
              <a:lnSpc>
                <a:spcPct val="115000"/>
              </a:lnSpc>
              <a:spcBef>
                <a:spcPts val="300"/>
              </a:spcBef>
              <a:defRPr sz="1000">
                <a:solidFill>
                  <a:srgbClr val="1B2A22"/>
                </a:solidFill>
                <a:latin typeface="Cambria"/>
                <a:ea typeface="Microsoft JhengHei"/>
                <a:cs typeface="Cambria"/>
                <a:sym typeface="Cambria"/>
              </a:defRPr>
            </a:pPr>
            <a:r>
              <a:t>Reverses the assumption that elders are care recipients, upgrading their farming skills into teaching capacity.</a:t>
            </a:r>
            <a:endParaRPr>
              <a:latin typeface="+mj-lt"/>
              <a:ea typeface="+mj-ea"/>
              <a:cs typeface="+mj-cs"/>
              <a:sym typeface="Calibri"/>
            </a:endParaRPr>
          </a:p>
          <a:p>
            <a:pPr>
              <a:lnSpc>
                <a:spcPct val="112000"/>
              </a:lnSpc>
              <a:defRPr sz="1000">
                <a:solidFill>
                  <a:srgbClr val="6F7C75"/>
                </a:solidFill>
                <a:latin typeface="Microsoft JhengHei"/>
                <a:ea typeface="Microsoft JhengHei"/>
                <a:cs typeface="Microsoft JhengHei"/>
                <a:sym typeface="Microsoft JhengHei"/>
              </a:defRPr>
            </a:pPr>
            <a:r>
              <a:t>翻轉高齡者為被照顧者的預設，將耆老的農事技藝升級為授課能力。</a:t>
            </a:r>
          </a:p>
        </p:txBody>
      </p:sp>
      <p:pic>
        <p:nvPicPr>
          <p:cNvPr id="520" name="Picture 10" descr="Picture 10"/>
          <p:cNvPicPr>
            <a:picLocks noChangeAspect="1"/>
          </p:cNvPicPr>
          <p:nvPr/>
        </p:nvPicPr>
        <p:blipFill>
          <a:blip r:embed="rId5">
            <a:extLst/>
          </a:blip>
          <a:srcRect l="0" t="6562" r="0" b="6562"/>
          <a:stretch>
            <a:fillRect/>
          </a:stretch>
        </p:blipFill>
        <p:spPr>
          <a:xfrm>
            <a:off x="6214719" y="1920238"/>
            <a:ext cx="2526717" cy="1645923"/>
          </a:xfrm>
          <a:prstGeom prst="rect">
            <a:avLst/>
          </a:prstGeom>
          <a:ln w="12700">
            <a:miter lim="400000"/>
          </a:ln>
        </p:spPr>
      </p:pic>
      <p:sp>
        <p:nvSpPr>
          <p:cNvPr id="521" name="Rounded Rectangle 11"/>
          <p:cNvSpPr/>
          <p:nvPr/>
        </p:nvSpPr>
        <p:spPr>
          <a:xfrm>
            <a:off x="6214719" y="3675886"/>
            <a:ext cx="2526717" cy="2121410"/>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522" name="TextBox 12"/>
          <p:cNvSpPr txBox="1"/>
          <p:nvPr/>
        </p:nvSpPr>
        <p:spPr>
          <a:xfrm>
            <a:off x="6452463" y="3840479"/>
            <a:ext cx="2051227" cy="15012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spcBef>
                <a:spcPts val="200"/>
              </a:spcBef>
              <a:defRPr sz="1300">
                <a:solidFill>
                  <a:srgbClr val="1B2A22"/>
                </a:solidFill>
                <a:latin typeface="Cambria"/>
                <a:ea typeface="Microsoft JhengHei"/>
                <a:cs typeface="Cambria"/>
                <a:sym typeface="Cambria"/>
              </a:defRPr>
            </a:pPr>
            <a:r>
              <a:t>Fucheng Community</a:t>
            </a:r>
            <a:endParaRPr>
              <a:latin typeface="+mj-lt"/>
              <a:ea typeface="+mj-ea"/>
              <a:cs typeface="+mj-cs"/>
              <a:sym typeface="Calibri"/>
            </a:endParaRPr>
          </a:p>
          <a:p>
            <a:pPr>
              <a:spcBef>
                <a:spcPts val="400"/>
              </a:spcBef>
              <a:defRPr sz="1100">
                <a:solidFill>
                  <a:srgbClr val="2E6B4F"/>
                </a:solidFill>
                <a:latin typeface="Microsoft JhengHei"/>
                <a:ea typeface="Microsoft JhengHei"/>
                <a:cs typeface="Microsoft JhengHei"/>
                <a:sym typeface="Microsoft JhengHei"/>
              </a:defRPr>
            </a:pPr>
            <a:r>
              <a:t>福城社區</a:t>
            </a:r>
            <a:endParaRPr>
              <a:latin typeface="+mj-lt"/>
              <a:ea typeface="+mj-ea"/>
              <a:cs typeface="+mj-cs"/>
              <a:sym typeface="Calibri"/>
            </a:endParaRPr>
          </a:p>
          <a:p>
            <a:pPr>
              <a:spcBef>
                <a:spcPts val="600"/>
              </a:spcBef>
              <a:defRPr sz="1000">
                <a:solidFill>
                  <a:srgbClr val="6F7C75"/>
                </a:solidFill>
                <a:latin typeface="Cambria"/>
                <a:ea typeface="Microsoft JhengHei"/>
                <a:cs typeface="Cambria"/>
                <a:sym typeface="Cambria"/>
              </a:defRPr>
            </a:pPr>
            <a:r>
              <a:t>Indigo craft</a:t>
            </a:r>
            <a:endParaRPr>
              <a:latin typeface="+mj-lt"/>
              <a:ea typeface="+mj-ea"/>
              <a:cs typeface="+mj-cs"/>
              <a:sym typeface="Calibri"/>
            </a:endParaRPr>
          </a:p>
          <a:p>
            <a:pPr>
              <a:lnSpc>
                <a:spcPct val="115000"/>
              </a:lnSpc>
              <a:spcBef>
                <a:spcPts val="300"/>
              </a:spcBef>
              <a:defRPr sz="1000">
                <a:solidFill>
                  <a:srgbClr val="1B2A22"/>
                </a:solidFill>
                <a:latin typeface="Cambria"/>
                <a:ea typeface="Microsoft JhengHei"/>
                <a:cs typeface="Cambria"/>
                <a:sym typeface="Cambria"/>
              </a:defRPr>
            </a:pPr>
            <a:r>
              <a:t>A dye workshop at the core, combining indigo craft with plant-dye cuisine into one experience.</a:t>
            </a:r>
            <a:endParaRPr>
              <a:latin typeface="+mj-lt"/>
              <a:ea typeface="+mj-ea"/>
              <a:cs typeface="+mj-cs"/>
              <a:sym typeface="Calibri"/>
            </a:endParaRPr>
          </a:p>
          <a:p>
            <a:pPr>
              <a:lnSpc>
                <a:spcPct val="112000"/>
              </a:lnSpc>
              <a:defRPr sz="1000">
                <a:solidFill>
                  <a:srgbClr val="6F7C75"/>
                </a:solidFill>
                <a:latin typeface="Microsoft JhengHei"/>
                <a:ea typeface="Microsoft JhengHei"/>
                <a:cs typeface="Microsoft JhengHei"/>
                <a:sym typeface="Microsoft JhengHei"/>
              </a:defRPr>
            </a:pPr>
            <a:r>
              <a:t>以染工坊為核心，發展藍染工藝與植物染餐食的複合體驗。</a:t>
            </a:r>
          </a:p>
        </p:txBody>
      </p:sp>
      <p:pic>
        <p:nvPicPr>
          <p:cNvPr id="523" name="Picture 13" descr="Picture 13"/>
          <p:cNvPicPr>
            <a:picLocks noChangeAspect="1"/>
          </p:cNvPicPr>
          <p:nvPr/>
        </p:nvPicPr>
        <p:blipFill>
          <a:blip r:embed="rId6">
            <a:extLst/>
          </a:blip>
          <a:srcRect l="0" t="5242" r="0" b="5241"/>
          <a:stretch>
            <a:fillRect/>
          </a:stretch>
        </p:blipFill>
        <p:spPr>
          <a:xfrm>
            <a:off x="8979179" y="1920239"/>
            <a:ext cx="2526716" cy="1645923"/>
          </a:xfrm>
          <a:prstGeom prst="rect">
            <a:avLst/>
          </a:prstGeom>
          <a:ln w="12700">
            <a:miter lim="400000"/>
          </a:ln>
        </p:spPr>
      </p:pic>
      <p:sp>
        <p:nvSpPr>
          <p:cNvPr id="524" name="Rounded Rectangle 14"/>
          <p:cNvSpPr/>
          <p:nvPr/>
        </p:nvSpPr>
        <p:spPr>
          <a:xfrm>
            <a:off x="8979179" y="3675886"/>
            <a:ext cx="2526716" cy="2121410"/>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525" name="TextBox 15"/>
          <p:cNvSpPr txBox="1"/>
          <p:nvPr/>
        </p:nvSpPr>
        <p:spPr>
          <a:xfrm>
            <a:off x="9216921" y="3840479"/>
            <a:ext cx="2051227" cy="15012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spcBef>
                <a:spcPts val="200"/>
              </a:spcBef>
              <a:defRPr sz="1300">
                <a:solidFill>
                  <a:srgbClr val="1B2A22"/>
                </a:solidFill>
                <a:latin typeface="Cambria"/>
                <a:ea typeface="Microsoft JhengHei"/>
                <a:cs typeface="Cambria"/>
                <a:sym typeface="Cambria"/>
              </a:defRPr>
            </a:pPr>
            <a:r>
              <a:t>Letian Community</a:t>
            </a:r>
            <a:endParaRPr>
              <a:latin typeface="+mj-lt"/>
              <a:ea typeface="+mj-ea"/>
              <a:cs typeface="+mj-cs"/>
              <a:sym typeface="Calibri"/>
            </a:endParaRPr>
          </a:p>
          <a:p>
            <a:pPr>
              <a:spcBef>
                <a:spcPts val="400"/>
              </a:spcBef>
              <a:defRPr sz="1100">
                <a:solidFill>
                  <a:srgbClr val="2E6B4F"/>
                </a:solidFill>
                <a:latin typeface="Microsoft JhengHei"/>
                <a:ea typeface="Microsoft JhengHei"/>
                <a:cs typeface="Microsoft JhengHei"/>
                <a:sym typeface="Microsoft JhengHei"/>
              </a:defRPr>
            </a:pPr>
            <a:r>
              <a:t>樂天社區</a:t>
            </a:r>
            <a:endParaRPr>
              <a:latin typeface="+mj-lt"/>
              <a:ea typeface="+mj-ea"/>
              <a:cs typeface="+mj-cs"/>
              <a:sym typeface="Calibri"/>
            </a:endParaRPr>
          </a:p>
          <a:p>
            <a:pPr>
              <a:spcBef>
                <a:spcPts val="600"/>
              </a:spcBef>
              <a:defRPr sz="1000">
                <a:solidFill>
                  <a:srgbClr val="6F7C75"/>
                </a:solidFill>
                <a:latin typeface="Cambria"/>
                <a:ea typeface="Microsoft JhengHei"/>
                <a:cs typeface="Cambria"/>
                <a:sym typeface="Cambria"/>
              </a:defRPr>
            </a:pPr>
            <a:r>
              <a:t>Intergenerational</a:t>
            </a:r>
            <a:endParaRPr>
              <a:latin typeface="+mj-lt"/>
              <a:ea typeface="+mj-ea"/>
              <a:cs typeface="+mj-cs"/>
              <a:sym typeface="Calibri"/>
            </a:endParaRPr>
          </a:p>
          <a:p>
            <a:pPr>
              <a:lnSpc>
                <a:spcPct val="115000"/>
              </a:lnSpc>
              <a:spcBef>
                <a:spcPts val="300"/>
              </a:spcBef>
              <a:defRPr sz="1000">
                <a:solidFill>
                  <a:srgbClr val="1B2A22"/>
                </a:solidFill>
                <a:latin typeface="Cambria"/>
                <a:ea typeface="Microsoft JhengHei"/>
                <a:cs typeface="Cambria"/>
                <a:sym typeface="Cambria"/>
              </a:defRPr>
            </a:pPr>
            <a:r>
              <a:t>International artists invited into the village, pairing home recipes with cross-generation collaboration.</a:t>
            </a:r>
            <a:endParaRPr>
              <a:latin typeface="+mj-lt"/>
              <a:ea typeface="+mj-ea"/>
              <a:cs typeface="+mj-cs"/>
              <a:sym typeface="Calibri"/>
            </a:endParaRPr>
          </a:p>
          <a:p>
            <a:pPr>
              <a:lnSpc>
                <a:spcPct val="112000"/>
              </a:lnSpc>
              <a:defRPr sz="1000">
                <a:solidFill>
                  <a:srgbClr val="6F7C75"/>
                </a:solidFill>
                <a:latin typeface="Microsoft JhengHei"/>
                <a:ea typeface="Microsoft JhengHei"/>
                <a:cs typeface="Microsoft JhengHei"/>
                <a:sym typeface="Microsoft JhengHei"/>
              </a:defRPr>
            </a:pPr>
            <a:r>
              <a:t>邀請國際藝術家進村，結合家鄉食譜與代間協作的藝術農村。</a:t>
            </a:r>
          </a:p>
        </p:txBody>
      </p:sp>
      <p:sp>
        <p:nvSpPr>
          <p:cNvPr id="526" name="TextBox 16"/>
          <p:cNvSpPr txBox="1"/>
          <p:nvPr/>
        </p:nvSpPr>
        <p:spPr>
          <a:xfrm>
            <a:off x="685799" y="5888735"/>
            <a:ext cx="10820097" cy="3530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sz="1200">
                <a:solidFill>
                  <a:srgbClr val="1B2A22"/>
                </a:solidFill>
                <a:latin typeface="Cambria"/>
                <a:ea typeface="Microsoft JhengHei"/>
                <a:cs typeface="Cambria"/>
                <a:sym typeface="Cambria"/>
              </a:defRPr>
            </a:pPr>
            <a:r>
              <a:t>Four models for four sets of local conditions — chosen against what a village already has, not sold as one package.</a:t>
            </a:r>
            <a:endParaRPr>
              <a:latin typeface="+mj-lt"/>
              <a:ea typeface="+mj-ea"/>
              <a:cs typeface="+mj-cs"/>
              <a:sym typeface="Calibri"/>
            </a:endParaRPr>
          </a:p>
          <a:p>
            <a:pPr>
              <a:lnSpc>
                <a:spcPct val="115000"/>
              </a:lnSpc>
              <a:defRPr sz="1100">
                <a:solidFill>
                  <a:srgbClr val="6F7C75"/>
                </a:solidFill>
                <a:latin typeface="Microsoft JhengHei"/>
                <a:ea typeface="Microsoft JhengHei"/>
                <a:cs typeface="Microsoft JhengHei"/>
                <a:sym typeface="Microsoft JhengHei"/>
              </a:defRPr>
            </a:pPr>
            <a:r>
              <a:t>四種模型對應四種農村條件，可依社區既有資源選用，而非單一套裝方案。</a:t>
            </a:r>
          </a:p>
        </p:txBody>
      </p:sp>
      <p:sp>
        <p:nvSpPr>
          <p:cNvPr id="527" name="TextBox 17"/>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528" name="TextBox 18"/>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20</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2"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FIVE LABORATORIES  ·  04 PRESCRIBE  ·  處方</a:t>
            </a:r>
          </a:p>
        </p:txBody>
      </p:sp>
      <p:sp>
        <p:nvSpPr>
          <p:cNvPr id="533"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Lab 304 — Panoramic Cinema Lab</a:t>
            </a:r>
          </a:p>
        </p:txBody>
      </p:sp>
      <p:sp>
        <p:nvSpPr>
          <p:cNvPr id="534"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304 全景影院體驗室　·　負責人　張伯茹　Lead: Po-Ju Chang</a:t>
            </a:r>
          </a:p>
        </p:txBody>
      </p:sp>
      <p:pic>
        <p:nvPicPr>
          <p:cNvPr id="535" name="Picture 4" descr="Picture 4"/>
          <p:cNvPicPr>
            <a:picLocks noChangeAspect="1"/>
          </p:cNvPicPr>
          <p:nvPr/>
        </p:nvPicPr>
        <p:blipFill>
          <a:blip r:embed="rId3">
            <a:extLst/>
          </a:blip>
          <a:srcRect l="0" t="18448" r="0" b="18448"/>
          <a:stretch>
            <a:fillRect/>
          </a:stretch>
        </p:blipFill>
        <p:spPr>
          <a:xfrm>
            <a:off x="685800" y="1938527"/>
            <a:ext cx="5989321" cy="2834643"/>
          </a:xfrm>
          <a:prstGeom prst="rect">
            <a:avLst/>
          </a:prstGeom>
          <a:ln w="12700">
            <a:miter lim="400000"/>
          </a:ln>
        </p:spPr>
      </p:pic>
      <p:sp>
        <p:nvSpPr>
          <p:cNvPr id="536" name="Rounded Rectangle 5"/>
          <p:cNvSpPr/>
          <p:nvPr/>
        </p:nvSpPr>
        <p:spPr>
          <a:xfrm>
            <a:off x="6903718" y="1938527"/>
            <a:ext cx="4599434" cy="2834641"/>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537" name="TextBox 6"/>
          <p:cNvSpPr txBox="1"/>
          <p:nvPr/>
        </p:nvSpPr>
        <p:spPr>
          <a:xfrm>
            <a:off x="7178040" y="2176272"/>
            <a:ext cx="4050793" cy="16452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300"/>
              </a:spcBef>
              <a:defRPr sz="1500">
                <a:solidFill>
                  <a:srgbClr val="2E6B4F"/>
                </a:solidFill>
                <a:latin typeface="Cambria"/>
                <a:ea typeface="Microsoft JhengHei"/>
                <a:cs typeface="Cambria"/>
                <a:sym typeface="Cambria"/>
              </a:defRPr>
            </a:pPr>
            <a:r>
              <a:t>From single subject to group</a:t>
            </a:r>
            <a:endParaRPr>
              <a:latin typeface="+mj-lt"/>
              <a:ea typeface="+mj-ea"/>
              <a:cs typeface="+mj-cs"/>
              <a:sym typeface="Calibri"/>
            </a:endParaRPr>
          </a:p>
          <a:p>
            <a:pPr>
              <a:spcBef>
                <a:spcPts val="800"/>
              </a:spcBef>
              <a:defRPr sz="1100">
                <a:solidFill>
                  <a:srgbClr val="6F7C75"/>
                </a:solidFill>
                <a:latin typeface="Microsoft JhengHei"/>
                <a:ea typeface="Microsoft JhengHei"/>
                <a:cs typeface="Microsoft JhengHei"/>
                <a:sym typeface="Microsoft JhengHei"/>
              </a:defRPr>
            </a:pPr>
            <a:r>
              <a:t>從單人到團體</a:t>
            </a:r>
            <a:endParaRPr>
              <a:latin typeface="+mj-lt"/>
              <a:ea typeface="+mj-ea"/>
              <a:cs typeface="+mj-cs"/>
              <a:sym typeface="Calibri"/>
            </a:endParaRPr>
          </a:p>
          <a:p>
            <a:pPr>
              <a:lnSpc>
                <a:spcPct val="120000"/>
              </a:lnSpc>
              <a:spcBef>
                <a:spcPts val="600"/>
              </a:spcBef>
              <a:defRPr sz="1100">
                <a:solidFill>
                  <a:srgbClr val="1B2A22"/>
                </a:solidFill>
                <a:latin typeface="Cambria"/>
                <a:ea typeface="Microsoft JhengHei"/>
                <a:cs typeface="Cambria"/>
                <a:sym typeface="Cambria"/>
              </a:defRPr>
            </a:pPr>
            <a:r>
              <a:t>A head-mounted display measures one person at a time, and sample accumulation is the biggest bottleneck in intervention research. A 360-degree theater lets a whole cohort receive the same intervention simultaneously — the key to scaling the work up.</a:t>
            </a:r>
            <a:endParaRPr>
              <a:latin typeface="+mj-lt"/>
              <a:ea typeface="+mj-ea"/>
              <a:cs typeface="+mj-cs"/>
              <a:sym typeface="Calibri"/>
            </a:endParaRPr>
          </a:p>
          <a:p>
            <a:pPr>
              <a:lnSpc>
                <a:spcPct val="115000"/>
              </a:lnSpc>
              <a:defRPr sz="1000">
                <a:solidFill>
                  <a:srgbClr val="6F7C75"/>
                </a:solidFill>
                <a:latin typeface="Microsoft JhengHei"/>
                <a:ea typeface="Microsoft JhengHei"/>
                <a:cs typeface="Microsoft JhengHei"/>
                <a:sym typeface="Microsoft JhengHei"/>
              </a:defRPr>
            </a:pPr>
            <a:r>
              <a:t>頭戴式裝置一次只能量一個人，樣本累積速度是介入研究最大的瓶頸；360 度全景劇場讓整組受試者同步接受介入，是研究規模化的關鍵設備。</a:t>
            </a:r>
          </a:p>
        </p:txBody>
      </p:sp>
      <p:sp>
        <p:nvSpPr>
          <p:cNvPr id="538" name="Rounded Rectangle 7"/>
          <p:cNvSpPr/>
          <p:nvPr/>
        </p:nvSpPr>
        <p:spPr>
          <a:xfrm>
            <a:off x="685800" y="4892040"/>
            <a:ext cx="3436011" cy="1115570"/>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539" name="TextBox 8"/>
          <p:cNvSpPr txBox="1"/>
          <p:nvPr/>
        </p:nvSpPr>
        <p:spPr>
          <a:xfrm>
            <a:off x="960119" y="5029200"/>
            <a:ext cx="2887373"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2E6B4F"/>
                </a:solidFill>
                <a:latin typeface="Microsoft JhengHei"/>
                <a:ea typeface="Microsoft JhengHei"/>
                <a:cs typeface="Microsoft JhengHei"/>
                <a:sym typeface="Microsoft JhengHei"/>
              </a:defRPr>
            </a:lvl1pPr>
          </a:lstStyle>
          <a:p>
            <a:pPr/>
            <a:r>
              <a:t>Research　研究</a:t>
            </a:r>
          </a:p>
        </p:txBody>
      </p:sp>
      <p:sp>
        <p:nvSpPr>
          <p:cNvPr id="540" name="TextBox 9"/>
          <p:cNvSpPr txBox="1"/>
          <p:nvPr/>
        </p:nvSpPr>
        <p:spPr>
          <a:xfrm>
            <a:off x="960119" y="5303520"/>
            <a:ext cx="2887373" cy="4724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000">
                <a:solidFill>
                  <a:srgbClr val="1B2A22"/>
                </a:solidFill>
                <a:latin typeface="Cambria"/>
                <a:ea typeface="Microsoft JhengHei"/>
                <a:cs typeface="Cambria"/>
                <a:sym typeface="Cambria"/>
              </a:defRPr>
            </a:pPr>
            <a:r>
              <a:t>Synchronised group interventions and control-group design</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團體同步介入實驗與對照組設計</a:t>
            </a:r>
          </a:p>
        </p:txBody>
      </p:sp>
      <p:sp>
        <p:nvSpPr>
          <p:cNvPr id="541" name="Rounded Rectangle 10"/>
          <p:cNvSpPr/>
          <p:nvPr/>
        </p:nvSpPr>
        <p:spPr>
          <a:xfrm>
            <a:off x="4377842" y="4892040"/>
            <a:ext cx="3436011" cy="1115570"/>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542" name="TextBox 11"/>
          <p:cNvSpPr txBox="1"/>
          <p:nvPr/>
        </p:nvSpPr>
        <p:spPr>
          <a:xfrm>
            <a:off x="4652162" y="5029200"/>
            <a:ext cx="2887372"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2E6B4F"/>
                </a:solidFill>
                <a:latin typeface="Microsoft JhengHei"/>
                <a:ea typeface="Microsoft JhengHei"/>
                <a:cs typeface="Microsoft JhengHei"/>
                <a:sym typeface="Microsoft JhengHei"/>
              </a:defRPr>
            </a:lvl1pPr>
          </a:lstStyle>
          <a:p>
            <a:pPr/>
            <a:r>
              <a:t>Teaching　教學</a:t>
            </a:r>
          </a:p>
        </p:txBody>
      </p:sp>
      <p:sp>
        <p:nvSpPr>
          <p:cNvPr id="543" name="TextBox 12"/>
          <p:cNvSpPr txBox="1"/>
          <p:nvPr/>
        </p:nvSpPr>
        <p:spPr>
          <a:xfrm>
            <a:off x="4652162" y="5303520"/>
            <a:ext cx="2887372" cy="4724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000">
                <a:solidFill>
                  <a:srgbClr val="1B2A22"/>
                </a:solidFill>
                <a:latin typeface="Cambria"/>
                <a:ea typeface="Microsoft JhengHei"/>
                <a:cs typeface="Cambria"/>
                <a:sym typeface="Cambria"/>
              </a:defRPr>
            </a:pPr>
            <a:r>
              <a:t>Course demonstrations and cross-department experience classes</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課程演示與跨系所體驗課程</a:t>
            </a:r>
          </a:p>
        </p:txBody>
      </p:sp>
      <p:sp>
        <p:nvSpPr>
          <p:cNvPr id="544" name="Rounded Rectangle 13"/>
          <p:cNvSpPr/>
          <p:nvPr/>
        </p:nvSpPr>
        <p:spPr>
          <a:xfrm>
            <a:off x="8069884" y="4892040"/>
            <a:ext cx="3436011" cy="1115570"/>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545" name="TextBox 14"/>
          <p:cNvSpPr txBox="1"/>
          <p:nvPr/>
        </p:nvSpPr>
        <p:spPr>
          <a:xfrm>
            <a:off x="8344203" y="5029200"/>
            <a:ext cx="2887372"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2E6B4F"/>
                </a:solidFill>
                <a:latin typeface="Microsoft JhengHei"/>
                <a:ea typeface="Microsoft JhengHei"/>
                <a:cs typeface="Microsoft JhengHei"/>
                <a:sym typeface="Microsoft JhengHei"/>
              </a:defRPr>
            </a:lvl1pPr>
          </a:lstStyle>
          <a:p>
            <a:pPr/>
            <a:r>
              <a:t>Outreach　推廣</a:t>
            </a:r>
          </a:p>
        </p:txBody>
      </p:sp>
      <p:sp>
        <p:nvSpPr>
          <p:cNvPr id="546" name="TextBox 15"/>
          <p:cNvSpPr txBox="1"/>
          <p:nvPr/>
        </p:nvSpPr>
        <p:spPr>
          <a:xfrm>
            <a:off x="8344203" y="5303520"/>
            <a:ext cx="2887372" cy="3187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000">
                <a:solidFill>
                  <a:srgbClr val="1B2A22"/>
                </a:solidFill>
                <a:latin typeface="Cambria"/>
                <a:ea typeface="Microsoft JhengHei"/>
                <a:cs typeface="Cambria"/>
                <a:sym typeface="Cambria"/>
              </a:defRPr>
            </a:pPr>
            <a:r>
              <a:t>Guided visits, exhibitions and international exchange</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參訪導覽、展覽與國際交流展示</a:t>
            </a:r>
          </a:p>
        </p:txBody>
      </p:sp>
      <p:sp>
        <p:nvSpPr>
          <p:cNvPr id="547" name="TextBox 16"/>
          <p:cNvSpPr txBox="1"/>
          <p:nvPr/>
        </p:nvSpPr>
        <p:spPr>
          <a:xfrm>
            <a:off x="685799" y="6144767"/>
            <a:ext cx="1082009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6F7C75"/>
                </a:solidFill>
                <a:latin typeface="Microsoft JhengHei"/>
                <a:ea typeface="Microsoft JhengHei"/>
                <a:cs typeface="Microsoft JhengHei"/>
                <a:sym typeface="Microsoft JhengHei"/>
              </a:defRPr>
            </a:lvl1pPr>
          </a:lstStyle>
          <a:p>
            <a:pPr/>
            <a:r>
              <a:t>Funded by the College in 2024; opened 17 February 2025.　2024 年生農學院補助建置，2025 年 2 月 17 日啟用。</a:t>
            </a:r>
          </a:p>
        </p:txBody>
      </p:sp>
      <p:sp>
        <p:nvSpPr>
          <p:cNvPr id="548" name="TextBox 17"/>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549" name="TextBox 18"/>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21</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3"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FIVE LABORATORIES  ·  04 PRESCRIBE  ·  處方</a:t>
            </a:r>
          </a:p>
        </p:txBody>
      </p:sp>
      <p:sp>
        <p:nvSpPr>
          <p:cNvPr id="554"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Lab 304 — Facility</a:t>
            </a:r>
          </a:p>
        </p:txBody>
      </p:sp>
      <p:sp>
        <p:nvSpPr>
          <p:cNvPr id="555"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304 全景影院體驗室環境照　·　全景劇院 CAVE VR</a:t>
            </a:r>
          </a:p>
        </p:txBody>
      </p:sp>
      <p:pic>
        <p:nvPicPr>
          <p:cNvPr id="556" name="Picture 4" descr="Picture 4"/>
          <p:cNvPicPr>
            <a:picLocks noChangeAspect="1"/>
          </p:cNvPicPr>
          <p:nvPr/>
        </p:nvPicPr>
        <p:blipFill>
          <a:blip r:embed="rId3">
            <a:extLst/>
          </a:blip>
          <a:srcRect l="0" t="10552" r="0" b="10552"/>
          <a:stretch>
            <a:fillRect/>
          </a:stretch>
        </p:blipFill>
        <p:spPr>
          <a:xfrm>
            <a:off x="685800" y="1938527"/>
            <a:ext cx="6720841" cy="3977642"/>
          </a:xfrm>
          <a:prstGeom prst="rect">
            <a:avLst/>
          </a:prstGeom>
          <a:ln w="12700">
            <a:miter lim="400000"/>
          </a:ln>
        </p:spPr>
      </p:pic>
      <p:sp>
        <p:nvSpPr>
          <p:cNvPr id="557" name="TextBox 5"/>
          <p:cNvSpPr txBox="1"/>
          <p:nvPr/>
        </p:nvSpPr>
        <p:spPr>
          <a:xfrm>
            <a:off x="685799" y="6016752"/>
            <a:ext cx="672084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1B2A22"/>
                </a:solidFill>
                <a:latin typeface="Cambria"/>
                <a:ea typeface="Microsoft JhengHei"/>
                <a:cs typeface="Cambria"/>
                <a:sym typeface="Cambria"/>
              </a:defRPr>
            </a:pPr>
            <a:r>
              <a:t>Panoramic cinema, CAVE VR</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全景劇院 CAVE VR</a:t>
            </a:r>
          </a:p>
        </p:txBody>
      </p:sp>
      <p:pic>
        <p:nvPicPr>
          <p:cNvPr id="558" name="Picture 6" descr="Picture 6"/>
          <p:cNvPicPr>
            <a:picLocks noChangeAspect="1"/>
          </p:cNvPicPr>
          <p:nvPr/>
        </p:nvPicPr>
        <p:blipFill>
          <a:blip r:embed="rId4">
            <a:extLst/>
          </a:blip>
          <a:srcRect l="0" t="21638" r="0" b="21638"/>
          <a:stretch>
            <a:fillRect/>
          </a:stretch>
        </p:blipFill>
        <p:spPr>
          <a:xfrm>
            <a:off x="7726677" y="1938528"/>
            <a:ext cx="3779217" cy="1207010"/>
          </a:xfrm>
          <a:prstGeom prst="rect">
            <a:avLst/>
          </a:prstGeom>
          <a:ln w="12700">
            <a:miter lim="400000"/>
          </a:ln>
        </p:spPr>
      </p:pic>
      <p:pic>
        <p:nvPicPr>
          <p:cNvPr id="559" name="Picture 7" descr="Picture 7"/>
          <p:cNvPicPr>
            <a:picLocks noChangeAspect="1"/>
          </p:cNvPicPr>
          <p:nvPr/>
        </p:nvPicPr>
        <p:blipFill>
          <a:blip r:embed="rId5">
            <a:extLst/>
          </a:blip>
          <a:srcRect l="0" t="21638" r="0" b="21638"/>
          <a:stretch>
            <a:fillRect/>
          </a:stretch>
        </p:blipFill>
        <p:spPr>
          <a:xfrm>
            <a:off x="7726677" y="3310128"/>
            <a:ext cx="3779217" cy="1207010"/>
          </a:xfrm>
          <a:prstGeom prst="rect">
            <a:avLst/>
          </a:prstGeom>
          <a:ln w="12700">
            <a:miter lim="400000"/>
          </a:ln>
        </p:spPr>
      </p:pic>
      <p:pic>
        <p:nvPicPr>
          <p:cNvPr id="560" name="Picture 8" descr="Picture 8"/>
          <p:cNvPicPr>
            <a:picLocks noChangeAspect="1"/>
          </p:cNvPicPr>
          <p:nvPr/>
        </p:nvPicPr>
        <p:blipFill>
          <a:blip r:embed="rId6">
            <a:extLst/>
          </a:blip>
          <a:srcRect l="0" t="28643" r="0" b="28643"/>
          <a:stretch>
            <a:fillRect/>
          </a:stretch>
        </p:blipFill>
        <p:spPr>
          <a:xfrm>
            <a:off x="7726677" y="4681728"/>
            <a:ext cx="3779217" cy="1207010"/>
          </a:xfrm>
          <a:prstGeom prst="rect">
            <a:avLst/>
          </a:prstGeom>
          <a:ln w="12700">
            <a:miter lim="400000"/>
          </a:ln>
        </p:spPr>
      </p:pic>
      <p:sp>
        <p:nvSpPr>
          <p:cNvPr id="561" name="TextBox 9"/>
          <p:cNvSpPr txBox="1"/>
          <p:nvPr/>
        </p:nvSpPr>
        <p:spPr>
          <a:xfrm>
            <a:off x="7726677" y="6016752"/>
            <a:ext cx="3779217"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1B2A22"/>
                </a:solidFill>
                <a:latin typeface="Cambria"/>
                <a:ea typeface="Microsoft JhengHei"/>
                <a:cs typeface="Cambria"/>
                <a:sym typeface="Cambria"/>
              </a:defRPr>
            </a:pPr>
            <a:r>
              <a:t>Group sessions in the cinema lab</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團體同步介入場景</a:t>
            </a:r>
          </a:p>
        </p:txBody>
      </p:sp>
      <p:sp>
        <p:nvSpPr>
          <p:cNvPr id="562" name="TextBox 10"/>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563" name="TextBox 11"/>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22</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7"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RESEARCH OUTCOMES  ·  FLAGSHIP STUDY  ·  旗艦案例</a:t>
            </a:r>
          </a:p>
        </p:txBody>
      </p:sp>
      <p:sp>
        <p:nvSpPr>
          <p:cNvPr id="568" name="TextBox 2"/>
          <p:cNvSpPr txBox="1"/>
          <p:nvPr/>
        </p:nvSpPr>
        <p:spPr>
          <a:xfrm>
            <a:off x="685799" y="603504"/>
            <a:ext cx="10820097"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2400">
                <a:solidFill>
                  <a:srgbClr val="1B2A22"/>
                </a:solidFill>
                <a:latin typeface="Cambria"/>
                <a:ea typeface="Microsoft JhengHei"/>
                <a:cs typeface="Cambria"/>
                <a:sym typeface="Cambria"/>
              </a:defRPr>
            </a:lvl1pPr>
          </a:lstStyle>
          <a:p>
            <a:pPr/>
            <a:r>
              <a:t>Slow Jogging in an Immersive CAVE for Chronic Low Back Pain</a:t>
            </a:r>
          </a:p>
        </p:txBody>
      </p:sp>
      <p:sp>
        <p:nvSpPr>
          <p:cNvPr id="569"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VR CAVE 超慢跑對慢性下背痛之效益　·　NTU × NTU Hospital</a:t>
            </a:r>
          </a:p>
        </p:txBody>
      </p:sp>
      <p:pic>
        <p:nvPicPr>
          <p:cNvPr id="570" name="Picture 4" descr="Picture 4"/>
          <p:cNvPicPr>
            <a:picLocks noChangeAspect="1"/>
          </p:cNvPicPr>
          <p:nvPr/>
        </p:nvPicPr>
        <p:blipFill>
          <a:blip r:embed="rId3">
            <a:extLst/>
          </a:blip>
          <a:srcRect l="0" t="17857" r="0" b="17856"/>
          <a:stretch>
            <a:fillRect/>
          </a:stretch>
        </p:blipFill>
        <p:spPr>
          <a:xfrm>
            <a:off x="7726677" y="1938527"/>
            <a:ext cx="3776474" cy="4315971"/>
          </a:xfrm>
          <a:prstGeom prst="rect">
            <a:avLst/>
          </a:prstGeom>
          <a:ln w="12700">
            <a:miter lim="400000"/>
          </a:ln>
        </p:spPr>
      </p:pic>
      <p:sp>
        <p:nvSpPr>
          <p:cNvPr id="571" name="Rounded Rectangle 5"/>
          <p:cNvSpPr/>
          <p:nvPr/>
        </p:nvSpPr>
        <p:spPr>
          <a:xfrm>
            <a:off x="685800" y="1938527"/>
            <a:ext cx="3232405" cy="100584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572" name="TextBox 6"/>
          <p:cNvSpPr txBox="1"/>
          <p:nvPr/>
        </p:nvSpPr>
        <p:spPr>
          <a:xfrm>
            <a:off x="941832" y="2084832"/>
            <a:ext cx="272034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6F7C75"/>
                </a:solidFill>
                <a:latin typeface="Microsoft JhengHei"/>
                <a:ea typeface="Microsoft JhengHei"/>
                <a:cs typeface="Microsoft JhengHei"/>
                <a:sym typeface="Microsoft JhengHei"/>
              </a:defRPr>
            </a:lvl1pPr>
          </a:lstStyle>
          <a:p>
            <a:pPr/>
            <a:r>
              <a:t>Participants 受試對象</a:t>
            </a:r>
          </a:p>
        </p:txBody>
      </p:sp>
      <p:sp>
        <p:nvSpPr>
          <p:cNvPr id="573" name="TextBox 7"/>
          <p:cNvSpPr txBox="1"/>
          <p:nvPr/>
        </p:nvSpPr>
        <p:spPr>
          <a:xfrm>
            <a:off x="941832" y="2322576"/>
            <a:ext cx="2720341" cy="3327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200">
                <a:solidFill>
                  <a:srgbClr val="1B2A22"/>
                </a:solidFill>
                <a:latin typeface="Cambria"/>
                <a:ea typeface="Microsoft JhengHei"/>
                <a:cs typeface="Cambria"/>
                <a:sym typeface="Cambria"/>
              </a:defRPr>
            </a:pPr>
            <a:r>
              <a:t>Aged 55 and over</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55 歲以上</a:t>
            </a:r>
          </a:p>
        </p:txBody>
      </p:sp>
      <p:sp>
        <p:nvSpPr>
          <p:cNvPr id="574" name="Rounded Rectangle 8"/>
          <p:cNvSpPr/>
          <p:nvPr/>
        </p:nvSpPr>
        <p:spPr>
          <a:xfrm>
            <a:off x="4174235" y="1938527"/>
            <a:ext cx="3232405" cy="100584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575" name="TextBox 9"/>
          <p:cNvSpPr txBox="1"/>
          <p:nvPr/>
        </p:nvSpPr>
        <p:spPr>
          <a:xfrm>
            <a:off x="4430267" y="2084832"/>
            <a:ext cx="272034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6F7C75"/>
                </a:solidFill>
                <a:latin typeface="Microsoft JhengHei"/>
                <a:ea typeface="Microsoft JhengHei"/>
                <a:cs typeface="Microsoft JhengHei"/>
                <a:sym typeface="Microsoft JhengHei"/>
              </a:defRPr>
            </a:lvl1pPr>
          </a:lstStyle>
          <a:p>
            <a:pPr/>
            <a:r>
              <a:t>Inclusion 納入條件</a:t>
            </a:r>
          </a:p>
        </p:txBody>
      </p:sp>
      <p:sp>
        <p:nvSpPr>
          <p:cNvPr id="576" name="TextBox 10"/>
          <p:cNvSpPr txBox="1"/>
          <p:nvPr/>
        </p:nvSpPr>
        <p:spPr>
          <a:xfrm>
            <a:off x="4430267" y="2322576"/>
            <a:ext cx="2720341" cy="5003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200">
                <a:solidFill>
                  <a:srgbClr val="1B2A22"/>
                </a:solidFill>
                <a:latin typeface="Cambria"/>
                <a:ea typeface="Microsoft JhengHei"/>
                <a:cs typeface="Cambria"/>
                <a:sym typeface="Cambria"/>
              </a:defRPr>
            </a:pPr>
            <a:r>
              <a:t>Chronic back discomfort for three months or more</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慢性背部不適三個月以上</a:t>
            </a:r>
          </a:p>
        </p:txBody>
      </p:sp>
      <p:sp>
        <p:nvSpPr>
          <p:cNvPr id="577" name="Rounded Rectangle 11"/>
          <p:cNvSpPr/>
          <p:nvPr/>
        </p:nvSpPr>
        <p:spPr>
          <a:xfrm>
            <a:off x="685800" y="3127248"/>
            <a:ext cx="3232405" cy="100584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578" name="TextBox 12"/>
          <p:cNvSpPr txBox="1"/>
          <p:nvPr/>
        </p:nvSpPr>
        <p:spPr>
          <a:xfrm>
            <a:off x="941832" y="3273552"/>
            <a:ext cx="272034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6F7C75"/>
                </a:solidFill>
                <a:latin typeface="Microsoft JhengHei"/>
                <a:ea typeface="Microsoft JhengHei"/>
                <a:cs typeface="Microsoft JhengHei"/>
                <a:sym typeface="Microsoft JhengHei"/>
              </a:defRPr>
            </a:lvl1pPr>
          </a:lstStyle>
          <a:p>
            <a:pPr/>
            <a:r>
              <a:t>Capacity 體能要求</a:t>
            </a:r>
          </a:p>
        </p:txBody>
      </p:sp>
      <p:sp>
        <p:nvSpPr>
          <p:cNvPr id="579" name="TextBox 13"/>
          <p:cNvSpPr txBox="1"/>
          <p:nvPr/>
        </p:nvSpPr>
        <p:spPr>
          <a:xfrm>
            <a:off x="941832" y="3511296"/>
            <a:ext cx="2720341" cy="3327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200">
                <a:solidFill>
                  <a:srgbClr val="1B2A22"/>
                </a:solidFill>
                <a:latin typeface="Cambria"/>
                <a:ea typeface="Microsoft JhengHei"/>
                <a:cs typeface="Cambria"/>
                <a:sym typeface="Cambria"/>
              </a:defRPr>
            </a:pPr>
            <a:r>
              <a:t>Able to do 20 minutes of light activity</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可進行 20 分鐘輕度活動</a:t>
            </a:r>
          </a:p>
        </p:txBody>
      </p:sp>
      <p:sp>
        <p:nvSpPr>
          <p:cNvPr id="580" name="Rounded Rectangle 14"/>
          <p:cNvSpPr/>
          <p:nvPr/>
        </p:nvSpPr>
        <p:spPr>
          <a:xfrm>
            <a:off x="4174235" y="3127248"/>
            <a:ext cx="3232405" cy="100584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581" name="TextBox 15"/>
          <p:cNvSpPr txBox="1"/>
          <p:nvPr/>
        </p:nvSpPr>
        <p:spPr>
          <a:xfrm>
            <a:off x="4430267" y="3273552"/>
            <a:ext cx="272034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6F7C75"/>
                </a:solidFill>
                <a:latin typeface="Microsoft JhengHei"/>
                <a:ea typeface="Microsoft JhengHei"/>
                <a:cs typeface="Microsoft JhengHei"/>
                <a:sym typeface="Microsoft JhengHei"/>
              </a:defRPr>
            </a:lvl1pPr>
          </a:lstStyle>
          <a:p>
            <a:pPr/>
            <a:r>
              <a:t>Protocol 介入週期</a:t>
            </a:r>
          </a:p>
        </p:txBody>
      </p:sp>
      <p:sp>
        <p:nvSpPr>
          <p:cNvPr id="582" name="TextBox 16"/>
          <p:cNvSpPr txBox="1"/>
          <p:nvPr/>
        </p:nvSpPr>
        <p:spPr>
          <a:xfrm>
            <a:off x="4430267" y="3511296"/>
            <a:ext cx="2720341" cy="5003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200">
                <a:solidFill>
                  <a:srgbClr val="1B2A22"/>
                </a:solidFill>
                <a:latin typeface="Cambria"/>
                <a:ea typeface="Microsoft JhengHei"/>
                <a:cs typeface="Cambria"/>
                <a:sym typeface="Cambria"/>
              </a:defRPr>
            </a:pPr>
            <a:r>
              <a:t>Four weeks, once a week, about one hour each</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四週，每週一次，每次約一小時</a:t>
            </a:r>
          </a:p>
        </p:txBody>
      </p:sp>
      <p:sp>
        <p:nvSpPr>
          <p:cNvPr id="583" name="Rounded Rectangle 17"/>
          <p:cNvSpPr/>
          <p:nvPr/>
        </p:nvSpPr>
        <p:spPr>
          <a:xfrm>
            <a:off x="685800" y="4434840"/>
            <a:ext cx="6720841" cy="1828802"/>
          </a:xfrm>
          <a:prstGeom prst="roundRect">
            <a:avLst>
              <a:gd name="adj" fmla="val 4500"/>
            </a:avLst>
          </a:prstGeom>
          <a:solidFill>
            <a:srgbClr val="E3ECE6"/>
          </a:solidFill>
          <a:ln w="12700">
            <a:miter lim="400000"/>
          </a:ln>
        </p:spPr>
        <p:txBody>
          <a:bodyPr lIns="45718" tIns="45718" rIns="45718" bIns="45718" anchor="ctr"/>
          <a:lstStyle/>
          <a:p>
            <a:pPr algn="ctr">
              <a:defRPr>
                <a:solidFill>
                  <a:srgbClr val="FFFFFF"/>
                </a:solidFill>
              </a:defRPr>
            </a:pPr>
          </a:p>
        </p:txBody>
      </p:sp>
      <p:sp>
        <p:nvSpPr>
          <p:cNvPr id="584" name="TextBox 18"/>
          <p:cNvSpPr txBox="1"/>
          <p:nvPr/>
        </p:nvSpPr>
        <p:spPr>
          <a:xfrm>
            <a:off x="1005838" y="4874259"/>
            <a:ext cx="6080764" cy="9499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20000"/>
              </a:lnSpc>
              <a:spcBef>
                <a:spcPts val="600"/>
              </a:spcBef>
              <a:defRPr sz="1200">
                <a:solidFill>
                  <a:srgbClr val="1B2A22"/>
                </a:solidFill>
                <a:latin typeface="Cambria"/>
                <a:ea typeface="Microsoft JhengHei"/>
                <a:cs typeface="Cambria"/>
                <a:sym typeface="Cambria"/>
              </a:defRPr>
            </a:pPr>
            <a:r>
              <a:t>A defined clinical population, a scenario-controlled design, a hospital partner and a fixed intervention cycle — of all the center's studies, this comes closest to a green prescription in the strict sense.</a:t>
            </a:r>
            <a:endParaRPr>
              <a:latin typeface="+mj-lt"/>
              <a:ea typeface="+mj-ea"/>
              <a:cs typeface="+mj-cs"/>
              <a:sym typeface="Calibri"/>
            </a:endParaRPr>
          </a:p>
          <a:p>
            <a:pPr>
              <a:spcBef>
                <a:spcPts val="600"/>
              </a:spcBef>
              <a:defRPr sz="1100">
                <a:solidFill>
                  <a:srgbClr val="6F7C75"/>
                </a:solidFill>
                <a:latin typeface="Microsoft JhengHei"/>
                <a:ea typeface="Microsoft JhengHei"/>
                <a:cs typeface="Microsoft JhengHei"/>
                <a:sym typeface="Microsoft JhengHei"/>
              </a:defRPr>
            </a:pPr>
            <a:r>
              <a:t>有明確的臨床對象、有情境對照設計、有醫院合作、有固定介入週期——這是中心所有研究中，最接近「綠色處方」實質定義的一項。</a:t>
            </a:r>
            <a:endParaRPr>
              <a:latin typeface="+mj-lt"/>
              <a:ea typeface="+mj-ea"/>
              <a:cs typeface="+mj-cs"/>
              <a:sym typeface="Calibri"/>
            </a:endParaRPr>
          </a:p>
          <a:p>
            <a:pPr>
              <a:defRPr sz="1200">
                <a:solidFill>
                  <a:srgbClr val="2E6B4F"/>
                </a:solidFill>
                <a:latin typeface="Cambria"/>
                <a:ea typeface="Microsoft JhengHei"/>
                <a:cs typeface="Cambria"/>
                <a:sym typeface="Cambria"/>
              </a:defRPr>
            </a:pPr>
            <a:r>
              <a:t>The closest thing we have to a genuine green prescription.</a:t>
            </a:r>
          </a:p>
        </p:txBody>
      </p:sp>
      <p:sp>
        <p:nvSpPr>
          <p:cNvPr id="585" name="TextBox 19"/>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586" name="TextBox 20"/>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23</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0000"/>
        </a:solidFill>
      </p:bgPr>
    </p:bg>
    <p:spTree>
      <p:nvGrpSpPr>
        <p:cNvPr id="1" name=""/>
        <p:cNvGrpSpPr/>
        <p:nvPr/>
      </p:nvGrpSpPr>
      <p:grpSpPr>
        <a:xfrm>
          <a:off x="0" y="0"/>
          <a:ext cx="0" cy="0"/>
          <a:chOff x="0" y="0"/>
          <a:chExt cx="0" cy="0"/>
        </a:xfrm>
      </p:grpSpPr>
      <p:sp>
        <p:nvSpPr>
          <p:cNvPr id="590" name="Rectangle 778"/>
          <p:cNvSpPr/>
          <p:nvPr/>
        </p:nvSpPr>
        <p:spPr>
          <a:xfrm>
            <a:off x="-54866" y="-54865"/>
            <a:ext cx="12301427" cy="6967729"/>
          </a:xfrm>
          <a:prstGeom prst="rect">
            <a:avLst/>
          </a:prstGeom>
          <a:solidFill>
            <a:srgbClr val="FFFFFF"/>
          </a:solidFill>
          <a:ln w="12700">
            <a:miter lim="400000"/>
          </a:ln>
        </p:spPr>
        <p:txBody>
          <a:bodyPr lIns="45718" tIns="45718" rIns="45718" bIns="45718" anchor="ctr"/>
          <a:lstStyle/>
          <a:p>
            <a:pPr algn="ctr">
              <a:defRPr>
                <a:solidFill>
                  <a:srgbClr val="FFFFFF"/>
                </a:solidFill>
              </a:defRPr>
            </a:pPr>
          </a:p>
        </p:txBody>
      </p:sp>
      <p:pic>
        <p:nvPicPr>
          <p:cNvPr id="591" name="783247704.194397" descr="783247704.194397"/>
          <p:cNvPicPr>
            <a:picLocks noChangeAspect="1"/>
          </p:cNvPicPr>
          <p:nvPr/>
        </p:nvPicPr>
        <p:blipFill>
          <a:blip r:embed="rId3">
            <a:extLst/>
          </a:blip>
          <a:stretch>
            <a:fillRect/>
          </a:stretch>
        </p:blipFill>
        <p:spPr>
          <a:xfrm>
            <a:off x="3438144" y="1874519"/>
            <a:ext cx="2313432" cy="4114800"/>
          </a:xfrm>
          <a:prstGeom prst="rect">
            <a:avLst/>
          </a:prstGeom>
          <a:ln w="12700">
            <a:miter lim="400000"/>
          </a:ln>
        </p:spPr>
      </p:pic>
      <p:sp>
        <p:nvSpPr>
          <p:cNvPr id="592" name="TextBox 779"/>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RESEARCH OUTCOMES  ·  FLAGSHIP STUDY  ·  旗艦案例</a:t>
            </a:r>
          </a:p>
        </p:txBody>
      </p:sp>
      <p:sp>
        <p:nvSpPr>
          <p:cNvPr id="593" name="TextBox 780"/>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Film — Slow Jogging in an Immersive CAVE</a:t>
            </a:r>
          </a:p>
        </p:txBody>
      </p:sp>
      <p:sp>
        <p:nvSpPr>
          <p:cNvPr id="594" name="TextBox 781"/>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VR CAVE 超慢跑對慢性下背痛之效益　研究影片</a:t>
            </a:r>
          </a:p>
        </p:txBody>
      </p:sp>
      <p:sp>
        <p:nvSpPr>
          <p:cNvPr id="595" name="Rounded Rectangle 782"/>
          <p:cNvSpPr/>
          <p:nvPr/>
        </p:nvSpPr>
        <p:spPr>
          <a:xfrm>
            <a:off x="8686800" y="1874517"/>
            <a:ext cx="2816352" cy="214884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596" name="TextBox 783"/>
          <p:cNvSpPr txBox="1"/>
          <p:nvPr/>
        </p:nvSpPr>
        <p:spPr>
          <a:xfrm>
            <a:off x="8942830" y="2084831"/>
            <a:ext cx="2304290" cy="8356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800"/>
              </a:spcBef>
              <a:defRPr b="1" sz="1300">
                <a:solidFill>
                  <a:srgbClr val="2E6B4F"/>
                </a:solidFill>
                <a:latin typeface="Microsoft JhengHei"/>
                <a:ea typeface="Microsoft JhengHei"/>
                <a:cs typeface="Microsoft JhengHei"/>
                <a:sym typeface="Microsoft JhengHei"/>
              </a:defRPr>
            </a:pPr>
            <a:r>
              <a:t>▶  Film　影片</a:t>
            </a:r>
            <a:endParaRPr>
              <a:latin typeface="+mj-lt"/>
              <a:ea typeface="+mj-ea"/>
              <a:cs typeface="+mj-cs"/>
              <a:sym typeface="Calibri"/>
            </a:endParaRPr>
          </a:p>
          <a:p>
            <a:pPr>
              <a:lnSpc>
                <a:spcPct val="120000"/>
              </a:lnSpc>
              <a:spcBef>
                <a:spcPts val="600"/>
              </a:spcBef>
              <a:defRPr sz="1200">
                <a:solidFill>
                  <a:srgbClr val="1B2A22"/>
                </a:solidFill>
                <a:latin typeface="Cambria"/>
                <a:ea typeface="Microsoft JhengHei"/>
                <a:cs typeface="Cambria"/>
                <a:sym typeface="Cambria"/>
              </a:defRPr>
            </a:pPr>
            <a:r>
              <a:t>Clinical intervention with NTU Hospital</a:t>
            </a:r>
            <a:endParaRPr>
              <a:latin typeface="+mj-lt"/>
              <a:ea typeface="+mj-ea"/>
              <a:cs typeface="+mj-cs"/>
              <a:sym typeface="Calibri"/>
            </a:endParaRPr>
          </a:p>
          <a:p>
            <a:pPr>
              <a:lnSpc>
                <a:spcPct val="120000"/>
              </a:lnSpc>
              <a:defRPr sz="1100">
                <a:solidFill>
                  <a:srgbClr val="6F7C75"/>
                </a:solidFill>
                <a:latin typeface="Microsoft JhengHei"/>
                <a:ea typeface="Microsoft JhengHei"/>
                <a:cs typeface="Microsoft JhengHei"/>
                <a:sym typeface="Microsoft JhengHei"/>
              </a:defRPr>
            </a:pPr>
            <a:r>
              <a:t>臺大醫院跨域合作之臨床介入實況</a:t>
            </a:r>
          </a:p>
        </p:txBody>
      </p:sp>
      <p:sp>
        <p:nvSpPr>
          <p:cNvPr id="597" name="TextBox 784"/>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598" name="TextBox 785"/>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24</a:t>
            </a:r>
          </a:p>
        </p:txBody>
      </p:sp>
      <p:sp>
        <p:nvSpPr>
          <p:cNvPr id="599" name="TextBox 1144"/>
          <p:cNvSpPr txBox="1"/>
          <p:nvPr/>
        </p:nvSpPr>
        <p:spPr>
          <a:xfrm>
            <a:off x="2674620" y="6053328"/>
            <a:ext cx="3840480" cy="2194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500"/>
            </a:lvl1pPr>
          </a:lstStyle>
          <a:p>
            <a:pPr/>
            <a:r>
              <a:t>▶ Video · 影片（另附連結）</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3"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FIVE LABORATORIES  ·  05 PERCEIVE  ·  知覺</a:t>
            </a:r>
          </a:p>
        </p:txBody>
      </p:sp>
      <p:sp>
        <p:nvSpPr>
          <p:cNvPr id="604" name="TextBox 2"/>
          <p:cNvSpPr txBox="1"/>
          <p:nvPr/>
        </p:nvSpPr>
        <p:spPr>
          <a:xfrm>
            <a:off x="685799" y="603504"/>
            <a:ext cx="10820097"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2700">
                <a:solidFill>
                  <a:srgbClr val="1B2A22"/>
                </a:solidFill>
                <a:latin typeface="Cambria"/>
                <a:ea typeface="Microsoft JhengHei"/>
                <a:cs typeface="Cambria"/>
                <a:sym typeface="Cambria"/>
              </a:defRPr>
            </a:lvl1pPr>
          </a:lstStyle>
          <a:p>
            <a:pPr/>
            <a:r>
              <a:t>Lab 305 — Landscape and Place: Selected IVR Studies</a:t>
            </a:r>
          </a:p>
        </p:txBody>
      </p:sp>
      <p:sp>
        <p:nvSpPr>
          <p:cNvPr id="605"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景觀與場所　沉浸式虛擬實境研究選輯 2019–2025　·　鄭佳昆　Chia-Kuen Cheng</a:t>
            </a:r>
          </a:p>
        </p:txBody>
      </p:sp>
      <p:pic>
        <p:nvPicPr>
          <p:cNvPr id="606" name="Picture 4" descr="Picture 4"/>
          <p:cNvPicPr>
            <a:picLocks noChangeAspect="1"/>
          </p:cNvPicPr>
          <p:nvPr/>
        </p:nvPicPr>
        <p:blipFill>
          <a:blip r:embed="rId3">
            <a:extLst/>
          </a:blip>
          <a:srcRect l="0" t="4402" r="0" b="4402"/>
          <a:stretch>
            <a:fillRect/>
          </a:stretch>
        </p:blipFill>
        <p:spPr>
          <a:xfrm>
            <a:off x="685800" y="1938527"/>
            <a:ext cx="2526715" cy="1536194"/>
          </a:xfrm>
          <a:prstGeom prst="rect">
            <a:avLst/>
          </a:prstGeom>
          <a:ln w="12700">
            <a:miter lim="400000"/>
          </a:ln>
        </p:spPr>
      </p:pic>
      <p:sp>
        <p:nvSpPr>
          <p:cNvPr id="607" name="Rounded Rectangle 5"/>
          <p:cNvSpPr/>
          <p:nvPr/>
        </p:nvSpPr>
        <p:spPr>
          <a:xfrm>
            <a:off x="685800" y="3584447"/>
            <a:ext cx="2526715" cy="210312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608" name="TextBox 6"/>
          <p:cNvSpPr txBox="1"/>
          <p:nvPr/>
        </p:nvSpPr>
        <p:spPr>
          <a:xfrm>
            <a:off x="923544" y="3803903"/>
            <a:ext cx="2051226"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22"/>
                </a:solidFill>
                <a:latin typeface="Cambria"/>
                <a:ea typeface="Microsoft JhengHei"/>
                <a:cs typeface="Cambria"/>
                <a:sym typeface="Cambria"/>
              </a:defRPr>
            </a:lvl1pPr>
          </a:lstStyle>
          <a:p>
            <a:pPr/>
            <a:r>
              <a:t>Travel Behavior — Virtual Tour</a:t>
            </a:r>
          </a:p>
        </p:txBody>
      </p:sp>
      <p:sp>
        <p:nvSpPr>
          <p:cNvPr id="609" name="TextBox 7"/>
          <p:cNvSpPr txBox="1"/>
          <p:nvPr/>
        </p:nvSpPr>
        <p:spPr>
          <a:xfrm>
            <a:off x="923544" y="4370832"/>
            <a:ext cx="2051226"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E6B4F"/>
                </a:solidFill>
                <a:latin typeface="Microsoft JhengHei"/>
                <a:ea typeface="Microsoft JhengHei"/>
                <a:cs typeface="Microsoft JhengHei"/>
                <a:sym typeface="Microsoft JhengHei"/>
              </a:defRPr>
            </a:lvl1pPr>
          </a:lstStyle>
          <a:p>
            <a:pPr/>
            <a:r>
              <a:t>旅遊行為—虛擬導覽</a:t>
            </a:r>
          </a:p>
        </p:txBody>
      </p:sp>
      <p:sp>
        <p:nvSpPr>
          <p:cNvPr id="610" name="TextBox 8"/>
          <p:cNvSpPr txBox="1"/>
          <p:nvPr/>
        </p:nvSpPr>
        <p:spPr>
          <a:xfrm>
            <a:off x="923544" y="4663440"/>
            <a:ext cx="2051226" cy="4864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sz="1000">
                <a:solidFill>
                  <a:srgbClr val="1B2A22"/>
                </a:solidFill>
                <a:latin typeface="Cambria"/>
                <a:ea typeface="Microsoft JhengHei"/>
                <a:cs typeface="Cambria"/>
                <a:sym typeface="Cambria"/>
              </a:defRPr>
            </a:pPr>
            <a:r>
              <a:t>Can an IVR art exhibition substitute for an actual visit?</a:t>
            </a:r>
            <a:endParaRPr>
              <a:latin typeface="+mj-lt"/>
              <a:ea typeface="+mj-ea"/>
              <a:cs typeface="+mj-cs"/>
              <a:sym typeface="Calibri"/>
            </a:endParaRPr>
          </a:p>
          <a:p>
            <a:pPr>
              <a:lnSpc>
                <a:spcPct val="112000"/>
              </a:lnSpc>
              <a:defRPr sz="1000">
                <a:solidFill>
                  <a:srgbClr val="6F7C75"/>
                </a:solidFill>
                <a:latin typeface="Microsoft JhengHei"/>
                <a:ea typeface="Microsoft JhengHei"/>
                <a:cs typeface="Microsoft JhengHei"/>
                <a:sym typeface="Microsoft JhengHei"/>
              </a:defRPr>
            </a:pPr>
            <a:r>
              <a:t>探討 IVR 展覽能否替代實地造訪。</a:t>
            </a:r>
          </a:p>
        </p:txBody>
      </p:sp>
      <p:pic>
        <p:nvPicPr>
          <p:cNvPr id="611" name="Picture 9" descr="Picture 9"/>
          <p:cNvPicPr>
            <a:picLocks noChangeAspect="1"/>
          </p:cNvPicPr>
          <p:nvPr/>
        </p:nvPicPr>
        <p:blipFill>
          <a:blip r:embed="rId4">
            <a:extLst/>
          </a:blip>
          <a:srcRect l="0" t="4402" r="0" b="4402"/>
          <a:stretch>
            <a:fillRect/>
          </a:stretch>
        </p:blipFill>
        <p:spPr>
          <a:xfrm>
            <a:off x="3450259" y="1938527"/>
            <a:ext cx="2526717" cy="1536194"/>
          </a:xfrm>
          <a:prstGeom prst="rect">
            <a:avLst/>
          </a:prstGeom>
          <a:ln w="12700">
            <a:miter lim="400000"/>
          </a:ln>
        </p:spPr>
      </p:pic>
      <p:sp>
        <p:nvSpPr>
          <p:cNvPr id="612" name="Rounded Rectangle 10"/>
          <p:cNvSpPr/>
          <p:nvPr/>
        </p:nvSpPr>
        <p:spPr>
          <a:xfrm>
            <a:off x="3450259" y="3584447"/>
            <a:ext cx="2526717" cy="210312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613" name="TextBox 11"/>
          <p:cNvSpPr txBox="1"/>
          <p:nvPr/>
        </p:nvSpPr>
        <p:spPr>
          <a:xfrm>
            <a:off x="3688003" y="3803903"/>
            <a:ext cx="2051227"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22"/>
                </a:solidFill>
                <a:latin typeface="Cambria"/>
                <a:ea typeface="Microsoft JhengHei"/>
                <a:cs typeface="Cambria"/>
                <a:sym typeface="Cambria"/>
              </a:defRPr>
            </a:lvl1pPr>
          </a:lstStyle>
          <a:p>
            <a:pPr/>
            <a:r>
              <a:t>Spatial Perception — Crowding</a:t>
            </a:r>
          </a:p>
        </p:txBody>
      </p:sp>
      <p:sp>
        <p:nvSpPr>
          <p:cNvPr id="614" name="TextBox 12"/>
          <p:cNvSpPr txBox="1"/>
          <p:nvPr/>
        </p:nvSpPr>
        <p:spPr>
          <a:xfrm>
            <a:off x="3688003" y="4370832"/>
            <a:ext cx="205122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E6B4F"/>
                </a:solidFill>
                <a:latin typeface="Microsoft JhengHei"/>
                <a:ea typeface="Microsoft JhengHei"/>
                <a:cs typeface="Microsoft JhengHei"/>
                <a:sym typeface="Microsoft JhengHei"/>
              </a:defRPr>
            </a:lvl1pPr>
          </a:lstStyle>
          <a:p>
            <a:pPr/>
            <a:r>
              <a:t>空間知覺—擁擠感</a:t>
            </a:r>
          </a:p>
        </p:txBody>
      </p:sp>
      <p:sp>
        <p:nvSpPr>
          <p:cNvPr id="615" name="TextBox 13"/>
          <p:cNvSpPr txBox="1"/>
          <p:nvPr/>
        </p:nvSpPr>
        <p:spPr>
          <a:xfrm>
            <a:off x="3688003" y="4663440"/>
            <a:ext cx="2051227" cy="8319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sz="1000">
                <a:solidFill>
                  <a:srgbClr val="1B2A22"/>
                </a:solidFill>
                <a:latin typeface="Cambria"/>
                <a:ea typeface="Microsoft JhengHei"/>
                <a:cs typeface="Cambria"/>
                <a:sym typeface="Cambria"/>
              </a:defRPr>
            </a:pPr>
            <a:r>
              <a:t>How distance, crowd size and place context shape perceived crowding and acceptability.</a:t>
            </a:r>
            <a:endParaRPr>
              <a:latin typeface="+mj-lt"/>
              <a:ea typeface="+mj-ea"/>
              <a:cs typeface="+mj-cs"/>
              <a:sym typeface="Calibri"/>
            </a:endParaRPr>
          </a:p>
          <a:p>
            <a:pPr>
              <a:lnSpc>
                <a:spcPct val="112000"/>
              </a:lnSpc>
              <a:defRPr sz="1000">
                <a:solidFill>
                  <a:srgbClr val="6F7C75"/>
                </a:solidFill>
                <a:latin typeface="Microsoft JhengHei"/>
                <a:ea typeface="Microsoft JhengHei"/>
                <a:cs typeface="Microsoft JhengHei"/>
                <a:sym typeface="Microsoft JhengHei"/>
              </a:defRPr>
            </a:pPr>
            <a:r>
              <a:t>距離、人數與場所脈絡如何影響擁擠感知與可接受度。</a:t>
            </a:r>
          </a:p>
        </p:txBody>
      </p:sp>
      <p:pic>
        <p:nvPicPr>
          <p:cNvPr id="616" name="Picture 14" descr="Picture 14"/>
          <p:cNvPicPr>
            <a:picLocks noChangeAspect="1"/>
          </p:cNvPicPr>
          <p:nvPr/>
        </p:nvPicPr>
        <p:blipFill>
          <a:blip r:embed="rId5">
            <a:extLst/>
          </a:blip>
          <a:srcRect l="0" t="4402" r="0" b="4402"/>
          <a:stretch>
            <a:fillRect/>
          </a:stretch>
        </p:blipFill>
        <p:spPr>
          <a:xfrm>
            <a:off x="6214719" y="1938527"/>
            <a:ext cx="2526717" cy="1536194"/>
          </a:xfrm>
          <a:prstGeom prst="rect">
            <a:avLst/>
          </a:prstGeom>
          <a:ln w="12700">
            <a:miter lim="400000"/>
          </a:ln>
        </p:spPr>
      </p:pic>
      <p:sp>
        <p:nvSpPr>
          <p:cNvPr id="617" name="Rounded Rectangle 15"/>
          <p:cNvSpPr/>
          <p:nvPr/>
        </p:nvSpPr>
        <p:spPr>
          <a:xfrm>
            <a:off x="6214719" y="3584447"/>
            <a:ext cx="2526717" cy="210312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618" name="TextBox 16"/>
          <p:cNvSpPr txBox="1"/>
          <p:nvPr/>
        </p:nvSpPr>
        <p:spPr>
          <a:xfrm>
            <a:off x="6452463" y="3803903"/>
            <a:ext cx="2051227"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22"/>
                </a:solidFill>
                <a:latin typeface="Cambria"/>
                <a:ea typeface="Microsoft JhengHei"/>
                <a:cs typeface="Cambria"/>
                <a:sym typeface="Cambria"/>
              </a:defRPr>
            </a:lvl1pPr>
          </a:lstStyle>
          <a:p>
            <a:pPr/>
            <a:r>
              <a:t>Landscape Lighting</a:t>
            </a:r>
          </a:p>
        </p:txBody>
      </p:sp>
      <p:sp>
        <p:nvSpPr>
          <p:cNvPr id="619" name="TextBox 17"/>
          <p:cNvSpPr txBox="1"/>
          <p:nvPr/>
        </p:nvSpPr>
        <p:spPr>
          <a:xfrm>
            <a:off x="6452463" y="4370832"/>
            <a:ext cx="205122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E6B4F"/>
                </a:solidFill>
                <a:latin typeface="Microsoft JhengHei"/>
                <a:ea typeface="Microsoft JhengHei"/>
                <a:cs typeface="Microsoft JhengHei"/>
                <a:sym typeface="Microsoft JhengHei"/>
              </a:defRPr>
            </a:lvl1pPr>
          </a:lstStyle>
          <a:p>
            <a:pPr/>
            <a:r>
              <a:t>景觀照明</a:t>
            </a:r>
          </a:p>
        </p:txBody>
      </p:sp>
      <p:sp>
        <p:nvSpPr>
          <p:cNvPr id="620" name="TextBox 18"/>
          <p:cNvSpPr txBox="1"/>
          <p:nvPr/>
        </p:nvSpPr>
        <p:spPr>
          <a:xfrm>
            <a:off x="6452463" y="4663440"/>
            <a:ext cx="2051227" cy="8319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sz="1000">
                <a:solidFill>
                  <a:srgbClr val="1B2A22"/>
                </a:solidFill>
                <a:latin typeface="Cambria"/>
                <a:ea typeface="Microsoft JhengHei"/>
                <a:cs typeface="Cambria"/>
                <a:sym typeface="Cambria"/>
              </a:defRPr>
            </a:pPr>
            <a:r>
              <a:t>How light colour affects emotion and preference, in physical versus virtual settings.</a:t>
            </a:r>
            <a:endParaRPr>
              <a:latin typeface="+mj-lt"/>
              <a:ea typeface="+mj-ea"/>
              <a:cs typeface="+mj-cs"/>
              <a:sym typeface="Calibri"/>
            </a:endParaRPr>
          </a:p>
          <a:p>
            <a:pPr>
              <a:lnSpc>
                <a:spcPct val="112000"/>
              </a:lnSpc>
              <a:defRPr sz="1000">
                <a:solidFill>
                  <a:srgbClr val="6F7C75"/>
                </a:solidFill>
                <a:latin typeface="Microsoft JhengHei"/>
                <a:ea typeface="Microsoft JhengHei"/>
                <a:cs typeface="Microsoft JhengHei"/>
                <a:sym typeface="Microsoft JhengHei"/>
              </a:defRPr>
            </a:pPr>
            <a:r>
              <a:t>光色在實體與虛擬環境中對情緒與偏好的影響。</a:t>
            </a:r>
          </a:p>
        </p:txBody>
      </p:sp>
      <p:pic>
        <p:nvPicPr>
          <p:cNvPr id="621" name="Picture 19" descr="Picture 19"/>
          <p:cNvPicPr>
            <a:picLocks noChangeAspect="1"/>
          </p:cNvPicPr>
          <p:nvPr/>
        </p:nvPicPr>
        <p:blipFill>
          <a:blip r:embed="rId6">
            <a:extLst/>
          </a:blip>
          <a:srcRect l="0" t="4402" r="0" b="4402"/>
          <a:stretch>
            <a:fillRect/>
          </a:stretch>
        </p:blipFill>
        <p:spPr>
          <a:xfrm>
            <a:off x="8979179" y="1938527"/>
            <a:ext cx="2526716" cy="1536194"/>
          </a:xfrm>
          <a:prstGeom prst="rect">
            <a:avLst/>
          </a:prstGeom>
          <a:ln w="12700">
            <a:miter lim="400000"/>
          </a:ln>
        </p:spPr>
      </p:pic>
      <p:sp>
        <p:nvSpPr>
          <p:cNvPr id="622" name="Rounded Rectangle 20"/>
          <p:cNvSpPr/>
          <p:nvPr/>
        </p:nvSpPr>
        <p:spPr>
          <a:xfrm>
            <a:off x="8979179" y="3584447"/>
            <a:ext cx="2526716" cy="210312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623" name="TextBox 21"/>
          <p:cNvSpPr txBox="1"/>
          <p:nvPr/>
        </p:nvSpPr>
        <p:spPr>
          <a:xfrm>
            <a:off x="9216921" y="3803903"/>
            <a:ext cx="2051227"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22"/>
                </a:solidFill>
                <a:latin typeface="Cambria"/>
                <a:ea typeface="Microsoft JhengHei"/>
                <a:cs typeface="Cambria"/>
                <a:sym typeface="Cambria"/>
              </a:defRPr>
            </a:lvl1pPr>
          </a:lstStyle>
          <a:p>
            <a:pPr/>
            <a:r>
              <a:t>Drone Perception &amp; Acceptance</a:t>
            </a:r>
          </a:p>
        </p:txBody>
      </p:sp>
      <p:sp>
        <p:nvSpPr>
          <p:cNvPr id="624" name="TextBox 22"/>
          <p:cNvSpPr txBox="1"/>
          <p:nvPr/>
        </p:nvSpPr>
        <p:spPr>
          <a:xfrm>
            <a:off x="9216921" y="4370832"/>
            <a:ext cx="205122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E6B4F"/>
                </a:solidFill>
                <a:latin typeface="Microsoft JhengHei"/>
                <a:ea typeface="Microsoft JhengHei"/>
                <a:cs typeface="Microsoft JhengHei"/>
                <a:sym typeface="Microsoft JhengHei"/>
              </a:defRPr>
            </a:lvl1pPr>
          </a:lstStyle>
          <a:p>
            <a:pPr/>
            <a:r>
              <a:t>無人機知覺與接受度</a:t>
            </a:r>
          </a:p>
        </p:txBody>
      </p:sp>
      <p:sp>
        <p:nvSpPr>
          <p:cNvPr id="625" name="TextBox 23"/>
          <p:cNvSpPr txBox="1"/>
          <p:nvPr/>
        </p:nvSpPr>
        <p:spPr>
          <a:xfrm>
            <a:off x="9216921" y="4663440"/>
            <a:ext cx="2051227" cy="67132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sz="1000">
                <a:solidFill>
                  <a:srgbClr val="1B2A22"/>
                </a:solidFill>
                <a:latin typeface="Cambria"/>
                <a:ea typeface="Microsoft JhengHei"/>
                <a:cs typeface="Cambria"/>
                <a:sym typeface="Cambria"/>
              </a:defRPr>
            </a:pPr>
            <a:r>
              <a:t>How drone height and direction affect safety, privacy and acceptability.</a:t>
            </a:r>
            <a:endParaRPr>
              <a:latin typeface="+mj-lt"/>
              <a:ea typeface="+mj-ea"/>
              <a:cs typeface="+mj-cs"/>
              <a:sym typeface="Calibri"/>
            </a:endParaRPr>
          </a:p>
          <a:p>
            <a:pPr>
              <a:lnSpc>
                <a:spcPct val="112000"/>
              </a:lnSpc>
              <a:defRPr sz="1000">
                <a:solidFill>
                  <a:srgbClr val="6F7C75"/>
                </a:solidFill>
                <a:latin typeface="Microsoft JhengHei"/>
                <a:ea typeface="Microsoft JhengHei"/>
                <a:cs typeface="Microsoft JhengHei"/>
                <a:sym typeface="Microsoft JhengHei"/>
              </a:defRPr>
            </a:pPr>
            <a:r>
              <a:t>無人機高度與方向對安全感、隱私感與接受度的影響。</a:t>
            </a:r>
          </a:p>
        </p:txBody>
      </p:sp>
      <p:sp>
        <p:nvSpPr>
          <p:cNvPr id="626" name="TextBox 24"/>
          <p:cNvSpPr txBox="1"/>
          <p:nvPr/>
        </p:nvSpPr>
        <p:spPr>
          <a:xfrm>
            <a:off x="685799" y="5715000"/>
            <a:ext cx="10820097" cy="5374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7999"/>
              </a:lnSpc>
              <a:spcBef>
                <a:spcPts val="400"/>
              </a:spcBef>
              <a:defRPr sz="1200">
                <a:solidFill>
                  <a:srgbClr val="1B2A22"/>
                </a:solidFill>
                <a:latin typeface="Cambria"/>
                <a:ea typeface="Microsoft JhengHei"/>
                <a:cs typeface="Cambria"/>
                <a:sym typeface="Cambria"/>
              </a:defRPr>
            </a:pPr>
            <a:r>
              <a:t>Four studies on one methodological platform: immersive VR lets variables be manipulated and psychological responses measured under repeatable, controlled conditions — which is exactly what the Lab 303 equipment is for.</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四項研究以沉浸式虛擬實境（IVR）為共同方法平台，在可控且可重複的情境中操作變因、量測心理反應。</a:t>
            </a:r>
          </a:p>
        </p:txBody>
      </p:sp>
      <p:sp>
        <p:nvSpPr>
          <p:cNvPr id="627" name="TextBox 25"/>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628" name="TextBox 26"/>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25</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2"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FIVE LABORATORIES  ·  05 PERCEIVE  ·  知覺  ·  IVR STUDY 01</a:t>
            </a:r>
          </a:p>
        </p:txBody>
      </p:sp>
      <p:sp>
        <p:nvSpPr>
          <p:cNvPr id="633"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Travel Behavior — Virtual Tour (IVR)</a:t>
            </a:r>
          </a:p>
        </p:txBody>
      </p:sp>
      <p:sp>
        <p:nvSpPr>
          <p:cNvPr id="634"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旅遊行為—虛擬導覽　·　IVR 能否替代實地造訪</a:t>
            </a:r>
          </a:p>
        </p:txBody>
      </p:sp>
      <p:sp>
        <p:nvSpPr>
          <p:cNvPr id="635" name="Rounded Rectangle 4"/>
          <p:cNvSpPr/>
          <p:nvPr/>
        </p:nvSpPr>
        <p:spPr>
          <a:xfrm>
            <a:off x="685800" y="1938527"/>
            <a:ext cx="5349241" cy="2377440"/>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636" name="TextBox 5"/>
          <p:cNvSpPr txBox="1"/>
          <p:nvPr/>
        </p:nvSpPr>
        <p:spPr>
          <a:xfrm>
            <a:off x="960118" y="2103120"/>
            <a:ext cx="4800603"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2E6B4F"/>
                </a:solidFill>
                <a:latin typeface="Cambria"/>
                <a:ea typeface="Microsoft JhengHei"/>
                <a:cs typeface="Cambria"/>
                <a:sym typeface="Cambria"/>
              </a:defRPr>
            </a:lvl1pPr>
          </a:lstStyle>
          <a:p>
            <a:pPr/>
            <a:r>
              <a:t>Objectives</a:t>
            </a:r>
          </a:p>
        </p:txBody>
      </p:sp>
      <p:sp>
        <p:nvSpPr>
          <p:cNvPr id="637" name="TextBox 6"/>
          <p:cNvSpPr txBox="1"/>
          <p:nvPr/>
        </p:nvSpPr>
        <p:spPr>
          <a:xfrm>
            <a:off x="960118" y="2359150"/>
            <a:ext cx="480060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F7C75"/>
                </a:solidFill>
                <a:latin typeface="Microsoft JhengHei"/>
                <a:ea typeface="Microsoft JhengHei"/>
                <a:cs typeface="Microsoft JhengHei"/>
                <a:sym typeface="Microsoft JhengHei"/>
              </a:defRPr>
            </a:lvl1pPr>
          </a:lstStyle>
          <a:p>
            <a:pPr/>
            <a:r>
              <a:t>研究目的</a:t>
            </a:r>
          </a:p>
        </p:txBody>
      </p:sp>
      <p:sp>
        <p:nvSpPr>
          <p:cNvPr id="638" name="Oval 7"/>
          <p:cNvSpPr/>
          <p:nvPr/>
        </p:nvSpPr>
        <p:spPr>
          <a:xfrm>
            <a:off x="978408" y="2679189"/>
            <a:ext cx="82299" cy="82299"/>
          </a:xfrm>
          <a:prstGeom prst="ellipse">
            <a:avLst/>
          </a:prstGeom>
          <a:solidFill>
            <a:srgbClr val="8FB09C"/>
          </a:solidFill>
          <a:ln w="12700">
            <a:miter lim="400000"/>
          </a:ln>
        </p:spPr>
        <p:txBody>
          <a:bodyPr lIns="45718" tIns="45718" rIns="45718" bIns="45718" anchor="ctr"/>
          <a:lstStyle/>
          <a:p>
            <a:pPr algn="ctr">
              <a:defRPr>
                <a:solidFill>
                  <a:srgbClr val="FFFFFF"/>
                </a:solidFill>
              </a:defRPr>
            </a:pPr>
          </a:p>
        </p:txBody>
      </p:sp>
      <p:sp>
        <p:nvSpPr>
          <p:cNvPr id="639" name="TextBox 8"/>
          <p:cNvSpPr txBox="1"/>
          <p:nvPr/>
        </p:nvSpPr>
        <p:spPr>
          <a:xfrm>
            <a:off x="1188718" y="2587750"/>
            <a:ext cx="4572003" cy="4470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100"/>
              </a:spcBef>
              <a:defRPr sz="1000">
                <a:solidFill>
                  <a:srgbClr val="1B2A22"/>
                </a:solidFill>
                <a:latin typeface="Cambria"/>
                <a:ea typeface="Microsoft JhengHei"/>
                <a:cs typeface="Cambria"/>
                <a:sym typeface="Cambria"/>
              </a:defRPr>
            </a:pPr>
            <a:r>
              <a:t>Examine how visit motivation and enduring involvement influence perceived similarity between IVR and actual experience</a:t>
            </a:r>
            <a:endParaRPr>
              <a:latin typeface="+mj-lt"/>
              <a:ea typeface="+mj-ea"/>
              <a:cs typeface="+mj-cs"/>
              <a:sym typeface="Calibri"/>
            </a:endParaRPr>
          </a:p>
          <a:p>
            <a:pPr>
              <a:lnSpc>
                <a:spcPct val="110000"/>
              </a:lnSpc>
              <a:defRPr sz="900">
                <a:solidFill>
                  <a:srgbClr val="6F7C75"/>
                </a:solidFill>
                <a:latin typeface="Microsoft JhengHei"/>
                <a:ea typeface="Microsoft JhengHei"/>
                <a:cs typeface="Microsoft JhengHei"/>
                <a:sym typeface="Microsoft JhengHei"/>
              </a:defRPr>
            </a:pPr>
            <a:r>
              <a:t>檢視造訪動機與持久涉入如何影響感知相似性</a:t>
            </a:r>
          </a:p>
        </p:txBody>
      </p:sp>
      <p:sp>
        <p:nvSpPr>
          <p:cNvPr id="640" name="Oval 9"/>
          <p:cNvSpPr/>
          <p:nvPr/>
        </p:nvSpPr>
        <p:spPr>
          <a:xfrm>
            <a:off x="978408" y="3209544"/>
            <a:ext cx="82299" cy="82299"/>
          </a:xfrm>
          <a:prstGeom prst="ellipse">
            <a:avLst/>
          </a:prstGeom>
          <a:solidFill>
            <a:srgbClr val="8FB09C"/>
          </a:solidFill>
          <a:ln w="12700">
            <a:miter lim="400000"/>
          </a:ln>
        </p:spPr>
        <p:txBody>
          <a:bodyPr lIns="45718" tIns="45718" rIns="45718" bIns="45718" anchor="ctr"/>
          <a:lstStyle/>
          <a:p>
            <a:pPr algn="ctr">
              <a:defRPr>
                <a:solidFill>
                  <a:srgbClr val="FFFFFF"/>
                </a:solidFill>
              </a:defRPr>
            </a:pPr>
          </a:p>
        </p:txBody>
      </p:sp>
      <p:sp>
        <p:nvSpPr>
          <p:cNvPr id="641" name="TextBox 10"/>
          <p:cNvSpPr txBox="1"/>
          <p:nvPr/>
        </p:nvSpPr>
        <p:spPr>
          <a:xfrm>
            <a:off x="1188718" y="3118104"/>
            <a:ext cx="4572003" cy="2933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100"/>
              </a:spcBef>
              <a:defRPr sz="1000">
                <a:solidFill>
                  <a:srgbClr val="1B2A22"/>
                </a:solidFill>
                <a:latin typeface="Cambria"/>
                <a:ea typeface="Microsoft JhengHei"/>
                <a:cs typeface="Cambria"/>
                <a:sym typeface="Cambria"/>
              </a:defRPr>
            </a:pPr>
            <a:r>
              <a:t>Explore the role of perceived similarity in evaluating IVR and actual experiences</a:t>
            </a:r>
            <a:endParaRPr>
              <a:latin typeface="+mj-lt"/>
              <a:ea typeface="+mj-ea"/>
              <a:cs typeface="+mj-cs"/>
              <a:sym typeface="Calibri"/>
            </a:endParaRPr>
          </a:p>
          <a:p>
            <a:pPr>
              <a:lnSpc>
                <a:spcPct val="110000"/>
              </a:lnSpc>
              <a:defRPr sz="900">
                <a:solidFill>
                  <a:srgbClr val="6F7C75"/>
                </a:solidFill>
                <a:latin typeface="Microsoft JhengHei"/>
                <a:ea typeface="Microsoft JhengHei"/>
                <a:cs typeface="Microsoft JhengHei"/>
                <a:sym typeface="Microsoft JhengHei"/>
              </a:defRPr>
            </a:pPr>
            <a:r>
              <a:t>探討感知相似性在評價體驗時的角色</a:t>
            </a:r>
          </a:p>
        </p:txBody>
      </p:sp>
      <p:sp>
        <p:nvSpPr>
          <p:cNvPr id="642" name="Oval 11"/>
          <p:cNvSpPr/>
          <p:nvPr/>
        </p:nvSpPr>
        <p:spPr>
          <a:xfrm>
            <a:off x="978408" y="3739896"/>
            <a:ext cx="82299" cy="82299"/>
          </a:xfrm>
          <a:prstGeom prst="ellipse">
            <a:avLst/>
          </a:prstGeom>
          <a:solidFill>
            <a:srgbClr val="8FB09C"/>
          </a:solidFill>
          <a:ln w="12700">
            <a:miter lim="400000"/>
          </a:ln>
        </p:spPr>
        <p:txBody>
          <a:bodyPr lIns="45718" tIns="45718" rIns="45718" bIns="45718" anchor="ctr"/>
          <a:lstStyle/>
          <a:p>
            <a:pPr algn="ctr">
              <a:defRPr>
                <a:solidFill>
                  <a:srgbClr val="FFFFFF"/>
                </a:solidFill>
              </a:defRPr>
            </a:pPr>
          </a:p>
        </p:txBody>
      </p:sp>
      <p:sp>
        <p:nvSpPr>
          <p:cNvPr id="643" name="TextBox 12"/>
          <p:cNvSpPr txBox="1"/>
          <p:nvPr/>
        </p:nvSpPr>
        <p:spPr>
          <a:xfrm>
            <a:off x="1188718" y="3648454"/>
            <a:ext cx="4572003" cy="2933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100"/>
              </a:spcBef>
              <a:defRPr sz="1000">
                <a:solidFill>
                  <a:srgbClr val="1B2A22"/>
                </a:solidFill>
                <a:latin typeface="Cambria"/>
                <a:ea typeface="Microsoft JhengHei"/>
                <a:cs typeface="Cambria"/>
                <a:sym typeface="Cambria"/>
              </a:defRPr>
            </a:pPr>
            <a:r>
              <a:t>Investigate whether IVR can substitute for actual visits and affect future visit intention</a:t>
            </a:r>
            <a:endParaRPr>
              <a:latin typeface="+mj-lt"/>
              <a:ea typeface="+mj-ea"/>
              <a:cs typeface="+mj-cs"/>
              <a:sym typeface="Calibri"/>
            </a:endParaRPr>
          </a:p>
          <a:p>
            <a:pPr>
              <a:lnSpc>
                <a:spcPct val="110000"/>
              </a:lnSpc>
              <a:defRPr sz="900">
                <a:solidFill>
                  <a:srgbClr val="6F7C75"/>
                </a:solidFill>
                <a:latin typeface="Microsoft JhengHei"/>
                <a:ea typeface="Microsoft JhengHei"/>
                <a:cs typeface="Microsoft JhengHei"/>
                <a:sym typeface="Microsoft JhengHei"/>
              </a:defRPr>
            </a:pPr>
            <a:r>
              <a:t>檢驗 IVR 能否替代實地造訪並影響造訪意願</a:t>
            </a:r>
          </a:p>
        </p:txBody>
      </p:sp>
      <p:sp>
        <p:nvSpPr>
          <p:cNvPr id="644" name="Rounded Rectangle 13"/>
          <p:cNvSpPr/>
          <p:nvPr/>
        </p:nvSpPr>
        <p:spPr>
          <a:xfrm>
            <a:off x="6355079" y="1938527"/>
            <a:ext cx="5148074" cy="2377440"/>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645" name="TextBox 14"/>
          <p:cNvSpPr txBox="1"/>
          <p:nvPr/>
        </p:nvSpPr>
        <p:spPr>
          <a:xfrm>
            <a:off x="6611111" y="2103120"/>
            <a:ext cx="463601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2E6B4F"/>
                </a:solidFill>
                <a:latin typeface="Cambria"/>
                <a:ea typeface="Microsoft JhengHei"/>
                <a:cs typeface="Cambria"/>
                <a:sym typeface="Cambria"/>
              </a:defRPr>
            </a:lvl1pPr>
          </a:lstStyle>
          <a:p>
            <a:pPr/>
            <a:r>
              <a:t>Research tool</a:t>
            </a:r>
          </a:p>
        </p:txBody>
      </p:sp>
      <p:sp>
        <p:nvSpPr>
          <p:cNvPr id="646" name="TextBox 15"/>
          <p:cNvSpPr txBox="1"/>
          <p:nvPr/>
        </p:nvSpPr>
        <p:spPr>
          <a:xfrm>
            <a:off x="6611111" y="2359150"/>
            <a:ext cx="463601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F7C75"/>
                </a:solidFill>
                <a:latin typeface="Microsoft JhengHei"/>
                <a:ea typeface="Microsoft JhengHei"/>
                <a:cs typeface="Microsoft JhengHei"/>
                <a:sym typeface="Microsoft JhengHei"/>
              </a:defRPr>
            </a:lvl1pPr>
          </a:lstStyle>
          <a:p>
            <a:pPr/>
            <a:r>
              <a:t>研究工具</a:t>
            </a:r>
          </a:p>
        </p:txBody>
      </p:sp>
      <p:sp>
        <p:nvSpPr>
          <p:cNvPr id="647" name="TextBox 16"/>
          <p:cNvSpPr txBox="1"/>
          <p:nvPr/>
        </p:nvSpPr>
        <p:spPr>
          <a:xfrm>
            <a:off x="6611111" y="2615183"/>
            <a:ext cx="4636011" cy="6908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300"/>
              </a:spcBef>
              <a:defRPr sz="1100">
                <a:solidFill>
                  <a:srgbClr val="1B2A22"/>
                </a:solidFill>
                <a:latin typeface="Cambria"/>
                <a:ea typeface="Microsoft JhengHei"/>
                <a:cs typeface="Cambria"/>
                <a:sym typeface="Cambria"/>
              </a:defRPr>
            </a:pPr>
            <a:r>
              <a:t>The “City Tempo Oil Painting Exhibition” was modelled in SketchUp and rendered in Enscape. Participants explored it through HTC Vive and moved freely with the controllers.</a:t>
            </a:r>
            <a:endParaRPr>
              <a:latin typeface="+mj-lt"/>
              <a:ea typeface="+mj-ea"/>
              <a:cs typeface="+mj-cs"/>
              <a:sym typeface="Calibri"/>
            </a:endParaRPr>
          </a:p>
          <a:p>
            <a:pPr>
              <a:defRPr sz="1000">
                <a:solidFill>
                  <a:srgbClr val="6F7C75"/>
                </a:solidFill>
                <a:latin typeface="Microsoft JhengHei"/>
                <a:ea typeface="Microsoft JhengHei"/>
                <a:cs typeface="Microsoft JhengHei"/>
                <a:sym typeface="Microsoft JhengHei"/>
              </a:defRPr>
            </a:pPr>
            <a:r>
              <a:t>以 SketchUp 建模、Enscape 渲染重建展場，受試者透過 HTC Vive 自由移動。</a:t>
            </a:r>
          </a:p>
        </p:txBody>
      </p:sp>
      <p:pic>
        <p:nvPicPr>
          <p:cNvPr id="648" name="Picture 17" descr="Picture 17"/>
          <p:cNvPicPr>
            <a:picLocks noChangeAspect="1"/>
          </p:cNvPicPr>
          <p:nvPr/>
        </p:nvPicPr>
        <p:blipFill>
          <a:blip r:embed="rId3">
            <a:extLst/>
          </a:blip>
          <a:srcRect l="0" t="32022" r="0" b="32022"/>
          <a:stretch>
            <a:fillRect/>
          </a:stretch>
        </p:blipFill>
        <p:spPr>
          <a:xfrm>
            <a:off x="6611111" y="3529584"/>
            <a:ext cx="1447802" cy="548640"/>
          </a:xfrm>
          <a:prstGeom prst="rect">
            <a:avLst/>
          </a:prstGeom>
          <a:ln w="12700">
            <a:miter lim="400000"/>
          </a:ln>
        </p:spPr>
      </p:pic>
      <p:pic>
        <p:nvPicPr>
          <p:cNvPr id="649" name="Picture 18" descr="Picture 18"/>
          <p:cNvPicPr>
            <a:picLocks noChangeAspect="1"/>
          </p:cNvPicPr>
          <p:nvPr/>
        </p:nvPicPr>
        <p:blipFill>
          <a:blip r:embed="rId4">
            <a:extLst/>
          </a:blip>
          <a:srcRect l="0" t="20771" r="0" b="20771"/>
          <a:stretch>
            <a:fillRect/>
          </a:stretch>
        </p:blipFill>
        <p:spPr>
          <a:xfrm>
            <a:off x="8205213" y="3529584"/>
            <a:ext cx="1447802" cy="548640"/>
          </a:xfrm>
          <a:prstGeom prst="rect">
            <a:avLst/>
          </a:prstGeom>
          <a:ln w="12700">
            <a:miter lim="400000"/>
          </a:ln>
        </p:spPr>
      </p:pic>
      <p:pic>
        <p:nvPicPr>
          <p:cNvPr id="650" name="Picture 19" descr="Picture 19"/>
          <p:cNvPicPr>
            <a:picLocks noChangeAspect="1"/>
          </p:cNvPicPr>
          <p:nvPr/>
        </p:nvPicPr>
        <p:blipFill>
          <a:blip r:embed="rId5">
            <a:extLst/>
          </a:blip>
          <a:srcRect l="0" t="18668" r="0" b="18668"/>
          <a:stretch>
            <a:fillRect/>
          </a:stretch>
        </p:blipFill>
        <p:spPr>
          <a:xfrm>
            <a:off x="9799318" y="3529584"/>
            <a:ext cx="1447802" cy="548640"/>
          </a:xfrm>
          <a:prstGeom prst="rect">
            <a:avLst/>
          </a:prstGeom>
          <a:ln w="12700">
            <a:miter lim="400000"/>
          </a:ln>
        </p:spPr>
      </p:pic>
      <p:sp>
        <p:nvSpPr>
          <p:cNvPr id="651" name="TextBox 20"/>
          <p:cNvSpPr txBox="1"/>
          <p:nvPr/>
        </p:nvSpPr>
        <p:spPr>
          <a:xfrm>
            <a:off x="6611111" y="4114800"/>
            <a:ext cx="4636011" cy="14059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000">
                <a:solidFill>
                  <a:srgbClr val="6F7C75"/>
                </a:solidFill>
                <a:latin typeface="Cambria"/>
                <a:ea typeface="Microsoft JhengHei"/>
                <a:cs typeface="Cambria"/>
                <a:sym typeface="Cambria"/>
              </a:defRPr>
            </a:pPr>
            <a:r>
              <a:t>Site photo</a:t>
            </a:r>
            <a:r>
              <a:rPr>
                <a:latin typeface="Microsoft JhengHei"/>
                <a:ea typeface="Microsoft JhengHei"/>
                <a:cs typeface="Microsoft JhengHei"/>
                <a:sym typeface="Microsoft JhengHei"/>
              </a:rPr>
              <a:t>　</a:t>
            </a:r>
            <a:r>
              <a:t>·</a:t>
            </a:r>
            <a:r>
              <a:rPr>
                <a:latin typeface="Microsoft JhengHei"/>
                <a:ea typeface="Microsoft JhengHei"/>
                <a:cs typeface="Microsoft JhengHei"/>
                <a:sym typeface="Microsoft JhengHei"/>
              </a:rPr>
              <a:t>　</a:t>
            </a:r>
            <a:r>
              <a:t>SketchUp model</a:t>
            </a:r>
            <a:r>
              <a:rPr>
                <a:latin typeface="Microsoft JhengHei"/>
                <a:ea typeface="Microsoft JhengHei"/>
                <a:cs typeface="Microsoft JhengHei"/>
                <a:sym typeface="Microsoft JhengHei"/>
              </a:rPr>
              <a:t>　</a:t>
            </a:r>
            <a:r>
              <a:t>·</a:t>
            </a:r>
            <a:r>
              <a:rPr>
                <a:latin typeface="Microsoft JhengHei"/>
                <a:ea typeface="Microsoft JhengHei"/>
                <a:cs typeface="Microsoft JhengHei"/>
                <a:sym typeface="Microsoft JhengHei"/>
              </a:rPr>
              <a:t>　</a:t>
            </a:r>
            <a:r>
              <a:t>Enscape rendering</a:t>
            </a:r>
          </a:p>
        </p:txBody>
      </p:sp>
      <p:sp>
        <p:nvSpPr>
          <p:cNvPr id="652" name="Rounded Rectangle 21"/>
          <p:cNvSpPr/>
          <p:nvPr/>
        </p:nvSpPr>
        <p:spPr>
          <a:xfrm>
            <a:off x="685800" y="4443984"/>
            <a:ext cx="2458137" cy="100584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653" name="TextBox 22"/>
          <p:cNvSpPr txBox="1"/>
          <p:nvPr/>
        </p:nvSpPr>
        <p:spPr>
          <a:xfrm>
            <a:off x="685800" y="4626864"/>
            <a:ext cx="245813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1B2A22"/>
                </a:solidFill>
                <a:latin typeface="Cambria"/>
                <a:ea typeface="Microsoft JhengHei"/>
                <a:cs typeface="Cambria"/>
                <a:sym typeface="Cambria"/>
              </a:defRPr>
            </a:lvl1pPr>
          </a:lstStyle>
          <a:p>
            <a:pPr/>
            <a:r>
              <a:t>Motivation</a:t>
            </a:r>
          </a:p>
        </p:txBody>
      </p:sp>
      <p:sp>
        <p:nvSpPr>
          <p:cNvPr id="654" name="TextBox 23"/>
          <p:cNvSpPr txBox="1"/>
          <p:nvPr/>
        </p:nvSpPr>
        <p:spPr>
          <a:xfrm>
            <a:off x="685800" y="4937759"/>
            <a:ext cx="245813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F7C75"/>
                </a:solidFill>
                <a:latin typeface="Microsoft JhengHei"/>
                <a:ea typeface="Microsoft JhengHei"/>
                <a:cs typeface="Microsoft JhengHei"/>
                <a:sym typeface="Microsoft JhengHei"/>
              </a:defRPr>
            </a:lvl1pPr>
          </a:lstStyle>
          <a:p>
            <a:pPr/>
            <a:r>
              <a:t>造訪動機</a:t>
            </a:r>
          </a:p>
        </p:txBody>
      </p:sp>
      <p:sp>
        <p:nvSpPr>
          <p:cNvPr id="655" name="TextBox 24"/>
          <p:cNvSpPr txBox="1"/>
          <p:nvPr/>
        </p:nvSpPr>
        <p:spPr>
          <a:xfrm>
            <a:off x="3143935" y="4754879"/>
            <a:ext cx="329186"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600">
                <a:solidFill>
                  <a:srgbClr val="8FB09C"/>
                </a:solidFill>
                <a:latin typeface="Microsoft JhengHei"/>
                <a:ea typeface="Microsoft JhengHei"/>
                <a:cs typeface="Microsoft JhengHei"/>
                <a:sym typeface="Microsoft JhengHei"/>
              </a:defRPr>
            </a:lvl1pPr>
          </a:lstStyle>
          <a:p>
            <a:pPr/>
            <a:r>
              <a:t>＋</a:t>
            </a:r>
          </a:p>
        </p:txBody>
      </p:sp>
      <p:sp>
        <p:nvSpPr>
          <p:cNvPr id="656" name="Rounded Rectangle 25"/>
          <p:cNvSpPr/>
          <p:nvPr/>
        </p:nvSpPr>
        <p:spPr>
          <a:xfrm>
            <a:off x="3473119" y="4443984"/>
            <a:ext cx="2458137" cy="100584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657" name="TextBox 26"/>
          <p:cNvSpPr txBox="1"/>
          <p:nvPr/>
        </p:nvSpPr>
        <p:spPr>
          <a:xfrm>
            <a:off x="3473119" y="4626864"/>
            <a:ext cx="245813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1B2A22"/>
                </a:solidFill>
                <a:latin typeface="Cambria"/>
                <a:ea typeface="Microsoft JhengHei"/>
                <a:cs typeface="Cambria"/>
                <a:sym typeface="Cambria"/>
              </a:defRPr>
            </a:lvl1pPr>
          </a:lstStyle>
          <a:p>
            <a:pPr/>
            <a:r>
              <a:t>Enduring Involvement</a:t>
            </a:r>
          </a:p>
        </p:txBody>
      </p:sp>
      <p:sp>
        <p:nvSpPr>
          <p:cNvPr id="658" name="TextBox 27"/>
          <p:cNvSpPr txBox="1"/>
          <p:nvPr/>
        </p:nvSpPr>
        <p:spPr>
          <a:xfrm>
            <a:off x="3473119" y="4937759"/>
            <a:ext cx="245813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F7C75"/>
                </a:solidFill>
                <a:latin typeface="Microsoft JhengHei"/>
                <a:ea typeface="Microsoft JhengHei"/>
                <a:cs typeface="Microsoft JhengHei"/>
                <a:sym typeface="Microsoft JhengHei"/>
              </a:defRPr>
            </a:lvl1pPr>
          </a:lstStyle>
          <a:p>
            <a:pPr/>
            <a:r>
              <a:t>持久涉入</a:t>
            </a:r>
          </a:p>
        </p:txBody>
      </p:sp>
      <p:sp>
        <p:nvSpPr>
          <p:cNvPr id="659" name="TextBox 28"/>
          <p:cNvSpPr txBox="1"/>
          <p:nvPr/>
        </p:nvSpPr>
        <p:spPr>
          <a:xfrm>
            <a:off x="5931255" y="4754879"/>
            <a:ext cx="329186"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600">
                <a:solidFill>
                  <a:srgbClr val="8FB09C"/>
                </a:solidFill>
                <a:latin typeface="Microsoft JhengHei"/>
                <a:ea typeface="Microsoft JhengHei"/>
                <a:cs typeface="Microsoft JhengHei"/>
                <a:sym typeface="Microsoft JhengHei"/>
              </a:defRPr>
            </a:lvl1pPr>
          </a:lstStyle>
          <a:p>
            <a:pPr/>
            <a:r>
              <a:t>→</a:t>
            </a:r>
          </a:p>
        </p:txBody>
      </p:sp>
      <p:sp>
        <p:nvSpPr>
          <p:cNvPr id="660" name="Rounded Rectangle 29"/>
          <p:cNvSpPr/>
          <p:nvPr/>
        </p:nvSpPr>
        <p:spPr>
          <a:xfrm>
            <a:off x="6260439" y="4443984"/>
            <a:ext cx="2458137" cy="1005842"/>
          </a:xfrm>
          <a:prstGeom prst="roundRect">
            <a:avLst>
              <a:gd name="adj" fmla="val 4500"/>
            </a:avLst>
          </a:prstGeom>
          <a:solidFill>
            <a:srgbClr val="E3ECE6"/>
          </a:solidFill>
          <a:ln w="12700">
            <a:miter lim="400000"/>
          </a:ln>
        </p:spPr>
        <p:txBody>
          <a:bodyPr lIns="45718" tIns="45718" rIns="45718" bIns="45718" anchor="ctr"/>
          <a:lstStyle/>
          <a:p>
            <a:pPr algn="ctr">
              <a:defRPr>
                <a:solidFill>
                  <a:srgbClr val="FFFFFF"/>
                </a:solidFill>
              </a:defRPr>
            </a:pPr>
          </a:p>
        </p:txBody>
      </p:sp>
      <p:sp>
        <p:nvSpPr>
          <p:cNvPr id="661" name="TextBox 30"/>
          <p:cNvSpPr txBox="1"/>
          <p:nvPr/>
        </p:nvSpPr>
        <p:spPr>
          <a:xfrm>
            <a:off x="6260439" y="4626864"/>
            <a:ext cx="245813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1B2A22"/>
                </a:solidFill>
                <a:latin typeface="Cambria"/>
                <a:ea typeface="Microsoft JhengHei"/>
                <a:cs typeface="Cambria"/>
                <a:sym typeface="Cambria"/>
              </a:defRPr>
            </a:lvl1pPr>
          </a:lstStyle>
          <a:p>
            <a:pPr/>
            <a:r>
              <a:t>Perceived Similarity</a:t>
            </a:r>
          </a:p>
        </p:txBody>
      </p:sp>
      <p:sp>
        <p:nvSpPr>
          <p:cNvPr id="662" name="TextBox 31"/>
          <p:cNvSpPr txBox="1"/>
          <p:nvPr/>
        </p:nvSpPr>
        <p:spPr>
          <a:xfrm>
            <a:off x="6260439" y="4937759"/>
            <a:ext cx="245813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F7C75"/>
                </a:solidFill>
                <a:latin typeface="Microsoft JhengHei"/>
                <a:ea typeface="Microsoft JhengHei"/>
                <a:cs typeface="Microsoft JhengHei"/>
                <a:sym typeface="Microsoft JhengHei"/>
              </a:defRPr>
            </a:lvl1pPr>
          </a:lstStyle>
          <a:p>
            <a:pPr/>
            <a:r>
              <a:t>感知相似性</a:t>
            </a:r>
          </a:p>
        </p:txBody>
      </p:sp>
      <p:sp>
        <p:nvSpPr>
          <p:cNvPr id="663" name="TextBox 32"/>
          <p:cNvSpPr txBox="1"/>
          <p:nvPr/>
        </p:nvSpPr>
        <p:spPr>
          <a:xfrm>
            <a:off x="8718574" y="4754879"/>
            <a:ext cx="329186"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600">
                <a:solidFill>
                  <a:srgbClr val="8FB09C"/>
                </a:solidFill>
                <a:latin typeface="Microsoft JhengHei"/>
                <a:ea typeface="Microsoft JhengHei"/>
                <a:cs typeface="Microsoft JhengHei"/>
                <a:sym typeface="Microsoft JhengHei"/>
              </a:defRPr>
            </a:lvl1pPr>
          </a:lstStyle>
          <a:p>
            <a:pPr/>
            <a:r>
              <a:t>→</a:t>
            </a:r>
          </a:p>
        </p:txBody>
      </p:sp>
      <p:sp>
        <p:nvSpPr>
          <p:cNvPr id="664" name="Rounded Rectangle 33"/>
          <p:cNvSpPr/>
          <p:nvPr/>
        </p:nvSpPr>
        <p:spPr>
          <a:xfrm>
            <a:off x="9047759" y="4443984"/>
            <a:ext cx="2458137" cy="1005842"/>
          </a:xfrm>
          <a:prstGeom prst="roundRect">
            <a:avLst>
              <a:gd name="adj" fmla="val 4500"/>
            </a:avLst>
          </a:prstGeom>
          <a:solidFill>
            <a:srgbClr val="E3ECE6"/>
          </a:solidFill>
          <a:ln w="12700">
            <a:miter lim="400000"/>
          </a:ln>
        </p:spPr>
        <p:txBody>
          <a:bodyPr lIns="45718" tIns="45718" rIns="45718" bIns="45718" anchor="ctr"/>
          <a:lstStyle/>
          <a:p>
            <a:pPr algn="ctr">
              <a:defRPr>
                <a:solidFill>
                  <a:srgbClr val="FFFFFF"/>
                </a:solidFill>
              </a:defRPr>
            </a:pPr>
          </a:p>
        </p:txBody>
      </p:sp>
      <p:sp>
        <p:nvSpPr>
          <p:cNvPr id="665" name="TextBox 34"/>
          <p:cNvSpPr txBox="1"/>
          <p:nvPr/>
        </p:nvSpPr>
        <p:spPr>
          <a:xfrm>
            <a:off x="9047759" y="4626864"/>
            <a:ext cx="245813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1B2A22"/>
                </a:solidFill>
                <a:latin typeface="Cambria"/>
                <a:ea typeface="Microsoft JhengHei"/>
                <a:cs typeface="Cambria"/>
                <a:sym typeface="Cambria"/>
              </a:defRPr>
            </a:lvl1pPr>
          </a:lstStyle>
          <a:p>
            <a:pPr/>
            <a:r>
              <a:t>Intention to Visit</a:t>
            </a:r>
          </a:p>
        </p:txBody>
      </p:sp>
      <p:sp>
        <p:nvSpPr>
          <p:cNvPr id="666" name="TextBox 35"/>
          <p:cNvSpPr txBox="1"/>
          <p:nvPr/>
        </p:nvSpPr>
        <p:spPr>
          <a:xfrm>
            <a:off x="9047759" y="4937759"/>
            <a:ext cx="245813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F7C75"/>
                </a:solidFill>
                <a:latin typeface="Microsoft JhengHei"/>
                <a:ea typeface="Microsoft JhengHei"/>
                <a:cs typeface="Microsoft JhengHei"/>
                <a:sym typeface="Microsoft JhengHei"/>
              </a:defRPr>
            </a:lvl1pPr>
          </a:lstStyle>
          <a:p>
            <a:pPr/>
            <a:r>
              <a:t>造訪意願</a:t>
            </a:r>
          </a:p>
        </p:txBody>
      </p:sp>
      <p:sp>
        <p:nvSpPr>
          <p:cNvPr id="667" name="TextBox 36"/>
          <p:cNvSpPr txBox="1"/>
          <p:nvPr/>
        </p:nvSpPr>
        <p:spPr>
          <a:xfrm>
            <a:off x="685799" y="5632703"/>
            <a:ext cx="10820097" cy="3449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7999"/>
              </a:lnSpc>
              <a:spcBef>
                <a:spcPts val="400"/>
              </a:spcBef>
              <a:defRPr sz="1200">
                <a:solidFill>
                  <a:srgbClr val="1B2A22"/>
                </a:solidFill>
                <a:latin typeface="Cambria"/>
                <a:ea typeface="Microsoft JhengHei"/>
                <a:cs typeface="Cambria"/>
                <a:sym typeface="Cambria"/>
              </a:defRPr>
            </a:pPr>
            <a:r>
              <a:t>IVR may substitute for actual visits when perceived similarity is high; different motivations and levels of involvement lead to different similarity judgements and visit intentions.</a:t>
            </a:r>
            <a:endParaRPr>
              <a:latin typeface="+mj-lt"/>
              <a:ea typeface="+mj-ea"/>
              <a:cs typeface="+mj-cs"/>
              <a:sym typeface="Calibri"/>
            </a:endParaRPr>
          </a:p>
          <a:p>
            <a:pPr>
              <a:defRPr sz="1000">
                <a:solidFill>
                  <a:srgbClr val="6F7C75"/>
                </a:solidFill>
                <a:latin typeface="Microsoft JhengHei"/>
                <a:ea typeface="Microsoft JhengHei"/>
                <a:cs typeface="Microsoft JhengHei"/>
                <a:sym typeface="Microsoft JhengHei"/>
              </a:defRPr>
            </a:pPr>
            <a:r>
              <a:t>當感知相似性夠高時，IVR 有機會替代實地造訪。　·　陳璿卉（2019）以沉浸式虛擬實境探討活動涉入、感知相似性與造訪意願之關係，國立臺灣大學園藝暨景觀學系碩士論文。</a:t>
            </a:r>
          </a:p>
        </p:txBody>
      </p:sp>
      <p:sp>
        <p:nvSpPr>
          <p:cNvPr id="668" name="TextBox 37"/>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669" name="TextBox 38"/>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26</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3"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FIVE LABORATORIES  ·  05 PERCEIVE  ·  知覺  ·  IVR STUDY 02</a:t>
            </a:r>
          </a:p>
        </p:txBody>
      </p:sp>
      <p:sp>
        <p:nvSpPr>
          <p:cNvPr id="674"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Spatial Perception — Crowding: Study Design</a:t>
            </a:r>
          </a:p>
        </p:txBody>
      </p:sp>
      <p:sp>
        <p:nvSpPr>
          <p:cNvPr id="675"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空間知覺—擁擠感　·　研究設計與實驗情境</a:t>
            </a:r>
          </a:p>
        </p:txBody>
      </p:sp>
      <p:sp>
        <p:nvSpPr>
          <p:cNvPr id="676" name="Rounded Rectangle 4"/>
          <p:cNvSpPr/>
          <p:nvPr/>
        </p:nvSpPr>
        <p:spPr>
          <a:xfrm>
            <a:off x="685800" y="1938527"/>
            <a:ext cx="5349241" cy="2148841"/>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677" name="TextBox 5"/>
          <p:cNvSpPr txBox="1"/>
          <p:nvPr/>
        </p:nvSpPr>
        <p:spPr>
          <a:xfrm>
            <a:off x="960118" y="2084831"/>
            <a:ext cx="4800603"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2E6B4F"/>
                </a:solidFill>
                <a:latin typeface="Cambria"/>
                <a:ea typeface="Microsoft JhengHei"/>
                <a:cs typeface="Cambria"/>
                <a:sym typeface="Cambria"/>
              </a:defRPr>
            </a:lvl1pPr>
          </a:lstStyle>
          <a:p>
            <a:pPr/>
            <a:r>
              <a:t>Objectives</a:t>
            </a:r>
          </a:p>
        </p:txBody>
      </p:sp>
      <p:sp>
        <p:nvSpPr>
          <p:cNvPr id="678" name="TextBox 6"/>
          <p:cNvSpPr txBox="1"/>
          <p:nvPr/>
        </p:nvSpPr>
        <p:spPr>
          <a:xfrm>
            <a:off x="960118" y="2340864"/>
            <a:ext cx="480060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F7C75"/>
                </a:solidFill>
                <a:latin typeface="Microsoft JhengHei"/>
                <a:ea typeface="Microsoft JhengHei"/>
                <a:cs typeface="Microsoft JhengHei"/>
                <a:sym typeface="Microsoft JhengHei"/>
              </a:defRPr>
            </a:lvl1pPr>
          </a:lstStyle>
          <a:p>
            <a:pPr/>
            <a:r>
              <a:t>研究目的</a:t>
            </a:r>
          </a:p>
        </p:txBody>
      </p:sp>
      <p:sp>
        <p:nvSpPr>
          <p:cNvPr id="679" name="Oval 7"/>
          <p:cNvSpPr/>
          <p:nvPr/>
        </p:nvSpPr>
        <p:spPr>
          <a:xfrm>
            <a:off x="978408" y="2670048"/>
            <a:ext cx="82299" cy="82299"/>
          </a:xfrm>
          <a:prstGeom prst="ellipse">
            <a:avLst/>
          </a:prstGeom>
          <a:solidFill>
            <a:srgbClr val="8FB09C"/>
          </a:solidFill>
          <a:ln w="12700">
            <a:miter lim="400000"/>
          </a:ln>
        </p:spPr>
        <p:txBody>
          <a:bodyPr lIns="45718" tIns="45718" rIns="45718" bIns="45718" anchor="ctr"/>
          <a:lstStyle/>
          <a:p>
            <a:pPr algn="ctr">
              <a:defRPr>
                <a:solidFill>
                  <a:srgbClr val="FFFFFF"/>
                </a:solidFill>
              </a:defRPr>
            </a:pPr>
          </a:p>
        </p:txBody>
      </p:sp>
      <p:sp>
        <p:nvSpPr>
          <p:cNvPr id="680" name="TextBox 8"/>
          <p:cNvSpPr txBox="1"/>
          <p:nvPr/>
        </p:nvSpPr>
        <p:spPr>
          <a:xfrm>
            <a:off x="1188718" y="2578606"/>
            <a:ext cx="4572003" cy="2933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100"/>
              </a:spcBef>
              <a:defRPr sz="1000">
                <a:solidFill>
                  <a:srgbClr val="1B2A22"/>
                </a:solidFill>
                <a:latin typeface="Cambria"/>
                <a:ea typeface="Microsoft JhengHei"/>
                <a:cs typeface="Cambria"/>
                <a:sym typeface="Cambria"/>
              </a:defRPr>
            </a:pPr>
            <a:r>
              <a:t>Examine how environment, crowd size and distance affect spatial perception</a:t>
            </a:r>
            <a:endParaRPr>
              <a:latin typeface="+mj-lt"/>
              <a:ea typeface="+mj-ea"/>
              <a:cs typeface="+mj-cs"/>
              <a:sym typeface="Calibri"/>
            </a:endParaRPr>
          </a:p>
          <a:p>
            <a:pPr>
              <a:lnSpc>
                <a:spcPct val="110000"/>
              </a:lnSpc>
              <a:defRPr sz="900">
                <a:solidFill>
                  <a:srgbClr val="6F7C75"/>
                </a:solidFill>
                <a:latin typeface="Microsoft JhengHei"/>
                <a:ea typeface="Microsoft JhengHei"/>
                <a:cs typeface="Microsoft JhengHei"/>
                <a:sym typeface="Microsoft JhengHei"/>
              </a:defRPr>
            </a:pPr>
            <a:r>
              <a:t>環境、人數與距離如何影響空間知覺</a:t>
            </a:r>
          </a:p>
        </p:txBody>
      </p:sp>
      <p:sp>
        <p:nvSpPr>
          <p:cNvPr id="681" name="Oval 9"/>
          <p:cNvSpPr/>
          <p:nvPr/>
        </p:nvSpPr>
        <p:spPr>
          <a:xfrm>
            <a:off x="978408" y="3017520"/>
            <a:ext cx="82299" cy="82299"/>
          </a:xfrm>
          <a:prstGeom prst="ellipse">
            <a:avLst/>
          </a:prstGeom>
          <a:solidFill>
            <a:srgbClr val="8FB09C"/>
          </a:solidFill>
          <a:ln w="12700">
            <a:miter lim="400000"/>
          </a:ln>
        </p:spPr>
        <p:txBody>
          <a:bodyPr lIns="45718" tIns="45718" rIns="45718" bIns="45718" anchor="ctr"/>
          <a:lstStyle/>
          <a:p>
            <a:pPr algn="ctr">
              <a:defRPr>
                <a:solidFill>
                  <a:srgbClr val="FFFFFF"/>
                </a:solidFill>
              </a:defRPr>
            </a:pPr>
          </a:p>
        </p:txBody>
      </p:sp>
      <p:sp>
        <p:nvSpPr>
          <p:cNvPr id="682" name="TextBox 10"/>
          <p:cNvSpPr txBox="1"/>
          <p:nvPr/>
        </p:nvSpPr>
        <p:spPr>
          <a:xfrm>
            <a:off x="1188718" y="2926077"/>
            <a:ext cx="4572003" cy="2933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100"/>
              </a:spcBef>
              <a:defRPr sz="1000">
                <a:solidFill>
                  <a:srgbClr val="1B2A22"/>
                </a:solidFill>
                <a:latin typeface="Cambria"/>
                <a:ea typeface="Microsoft JhengHei"/>
                <a:cs typeface="Cambria"/>
                <a:sym typeface="Cambria"/>
              </a:defRPr>
            </a:pPr>
            <a:r>
              <a:t>Analyse how distance and crowd size jointly influence perceived crowding</a:t>
            </a:r>
            <a:endParaRPr>
              <a:latin typeface="+mj-lt"/>
              <a:ea typeface="+mj-ea"/>
              <a:cs typeface="+mj-cs"/>
              <a:sym typeface="Calibri"/>
            </a:endParaRPr>
          </a:p>
          <a:p>
            <a:pPr>
              <a:lnSpc>
                <a:spcPct val="110000"/>
              </a:lnSpc>
              <a:defRPr sz="900">
                <a:solidFill>
                  <a:srgbClr val="6F7C75"/>
                </a:solidFill>
                <a:latin typeface="Microsoft JhengHei"/>
                <a:ea typeface="Microsoft JhengHei"/>
                <a:cs typeface="Microsoft JhengHei"/>
                <a:sym typeface="Microsoft JhengHei"/>
              </a:defRPr>
            </a:pPr>
            <a:r>
              <a:t>距離與人數如何共同影響擁擠感知</a:t>
            </a:r>
          </a:p>
        </p:txBody>
      </p:sp>
      <p:sp>
        <p:nvSpPr>
          <p:cNvPr id="683" name="Oval 11"/>
          <p:cNvSpPr/>
          <p:nvPr/>
        </p:nvSpPr>
        <p:spPr>
          <a:xfrm>
            <a:off x="978408" y="3364991"/>
            <a:ext cx="82299" cy="82299"/>
          </a:xfrm>
          <a:prstGeom prst="ellipse">
            <a:avLst/>
          </a:prstGeom>
          <a:solidFill>
            <a:srgbClr val="8FB09C"/>
          </a:solidFill>
          <a:ln w="12700">
            <a:miter lim="400000"/>
          </a:ln>
        </p:spPr>
        <p:txBody>
          <a:bodyPr lIns="45718" tIns="45718" rIns="45718" bIns="45718" anchor="ctr"/>
          <a:lstStyle/>
          <a:p>
            <a:pPr algn="ctr">
              <a:defRPr>
                <a:solidFill>
                  <a:srgbClr val="FFFFFF"/>
                </a:solidFill>
              </a:defRPr>
            </a:pPr>
          </a:p>
        </p:txBody>
      </p:sp>
      <p:sp>
        <p:nvSpPr>
          <p:cNvPr id="684" name="TextBox 12"/>
          <p:cNvSpPr txBox="1"/>
          <p:nvPr/>
        </p:nvSpPr>
        <p:spPr>
          <a:xfrm>
            <a:off x="1188718" y="3273552"/>
            <a:ext cx="4572003" cy="2933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100"/>
              </a:spcBef>
              <a:defRPr sz="1000">
                <a:solidFill>
                  <a:srgbClr val="1B2A22"/>
                </a:solidFill>
                <a:latin typeface="Cambria"/>
                <a:ea typeface="Microsoft JhengHei"/>
                <a:cs typeface="Cambria"/>
                <a:sym typeface="Cambria"/>
              </a:defRPr>
            </a:pPr>
            <a:r>
              <a:t>Explore how a dynamic approach affects personal-space pressure</a:t>
            </a:r>
            <a:endParaRPr>
              <a:latin typeface="+mj-lt"/>
              <a:ea typeface="+mj-ea"/>
              <a:cs typeface="+mj-cs"/>
              <a:sym typeface="Calibri"/>
            </a:endParaRPr>
          </a:p>
          <a:p>
            <a:pPr>
              <a:lnSpc>
                <a:spcPct val="110000"/>
              </a:lnSpc>
              <a:defRPr sz="900">
                <a:solidFill>
                  <a:srgbClr val="6F7C75"/>
                </a:solidFill>
                <a:latin typeface="Microsoft JhengHei"/>
                <a:ea typeface="Microsoft JhengHei"/>
                <a:cs typeface="Microsoft JhengHei"/>
                <a:sym typeface="Microsoft JhengHei"/>
              </a:defRPr>
            </a:pPr>
            <a:r>
              <a:t>動態接近對個人空間壓力的影響</a:t>
            </a:r>
          </a:p>
        </p:txBody>
      </p:sp>
      <p:sp>
        <p:nvSpPr>
          <p:cNvPr id="685" name="Oval 13"/>
          <p:cNvSpPr/>
          <p:nvPr/>
        </p:nvSpPr>
        <p:spPr>
          <a:xfrm>
            <a:off x="978408" y="3712462"/>
            <a:ext cx="82299" cy="82299"/>
          </a:xfrm>
          <a:prstGeom prst="ellipse">
            <a:avLst/>
          </a:prstGeom>
          <a:solidFill>
            <a:srgbClr val="8FB09C"/>
          </a:solidFill>
          <a:ln w="12700">
            <a:miter lim="400000"/>
          </a:ln>
        </p:spPr>
        <p:txBody>
          <a:bodyPr lIns="45718" tIns="45718" rIns="45718" bIns="45718" anchor="ctr"/>
          <a:lstStyle/>
          <a:p>
            <a:pPr algn="ctr">
              <a:defRPr>
                <a:solidFill>
                  <a:srgbClr val="FFFFFF"/>
                </a:solidFill>
              </a:defRPr>
            </a:pPr>
          </a:p>
        </p:txBody>
      </p:sp>
      <p:sp>
        <p:nvSpPr>
          <p:cNvPr id="686" name="TextBox 14"/>
          <p:cNvSpPr txBox="1"/>
          <p:nvPr/>
        </p:nvSpPr>
        <p:spPr>
          <a:xfrm>
            <a:off x="1188718" y="3621023"/>
            <a:ext cx="4572003" cy="2933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100"/>
              </a:spcBef>
              <a:defRPr sz="1000">
                <a:solidFill>
                  <a:srgbClr val="1B2A22"/>
                </a:solidFill>
                <a:latin typeface="Cambria"/>
                <a:ea typeface="Microsoft JhengHei"/>
                <a:cs typeface="Cambria"/>
                <a:sym typeface="Cambria"/>
              </a:defRPr>
            </a:pPr>
            <a:r>
              <a:t>Compare perceived crowding against spatial acceptability</a:t>
            </a:r>
            <a:endParaRPr>
              <a:latin typeface="+mj-lt"/>
              <a:ea typeface="+mj-ea"/>
              <a:cs typeface="+mj-cs"/>
              <a:sym typeface="Calibri"/>
            </a:endParaRPr>
          </a:p>
          <a:p>
            <a:pPr>
              <a:lnSpc>
                <a:spcPct val="110000"/>
              </a:lnSpc>
              <a:defRPr sz="900">
                <a:solidFill>
                  <a:srgbClr val="6F7C75"/>
                </a:solidFill>
                <a:latin typeface="Microsoft JhengHei"/>
                <a:ea typeface="Microsoft JhengHei"/>
                <a:cs typeface="Microsoft JhengHei"/>
                <a:sym typeface="Microsoft JhengHei"/>
              </a:defRPr>
            </a:pPr>
            <a:r>
              <a:t>擁擠感知與空間可接受度的差異</a:t>
            </a:r>
          </a:p>
        </p:txBody>
      </p:sp>
      <p:pic>
        <p:nvPicPr>
          <p:cNvPr id="687" name="Picture 15" descr="Picture 15"/>
          <p:cNvPicPr>
            <a:picLocks noChangeAspect="1"/>
          </p:cNvPicPr>
          <p:nvPr/>
        </p:nvPicPr>
        <p:blipFill>
          <a:blip r:embed="rId3">
            <a:extLst/>
          </a:blip>
          <a:srcRect l="18243" t="0" r="18243" b="0"/>
          <a:stretch>
            <a:fillRect/>
          </a:stretch>
        </p:blipFill>
        <p:spPr>
          <a:xfrm>
            <a:off x="6355079" y="1938527"/>
            <a:ext cx="1606298" cy="1234442"/>
          </a:xfrm>
          <a:prstGeom prst="rect">
            <a:avLst/>
          </a:prstGeom>
          <a:ln w="12700">
            <a:miter lim="400000"/>
          </a:ln>
        </p:spPr>
      </p:pic>
      <p:sp>
        <p:nvSpPr>
          <p:cNvPr id="688" name="TextBox 16"/>
          <p:cNvSpPr txBox="1"/>
          <p:nvPr/>
        </p:nvSpPr>
        <p:spPr>
          <a:xfrm>
            <a:off x="6355079" y="3255264"/>
            <a:ext cx="1606298"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1B2A22"/>
                </a:solidFill>
                <a:latin typeface="Cambria"/>
                <a:ea typeface="Microsoft JhengHei"/>
                <a:cs typeface="Cambria"/>
                <a:sym typeface="Cambria"/>
              </a:defRPr>
            </a:pPr>
            <a:r>
              <a:t>Urban park</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都市公園情境</a:t>
            </a:r>
          </a:p>
        </p:txBody>
      </p:sp>
      <p:pic>
        <p:nvPicPr>
          <p:cNvPr id="689" name="Picture 17" descr="Picture 17"/>
          <p:cNvPicPr>
            <a:picLocks noChangeAspect="1"/>
          </p:cNvPicPr>
          <p:nvPr/>
        </p:nvPicPr>
        <p:blipFill>
          <a:blip r:embed="rId4">
            <a:extLst/>
          </a:blip>
          <a:srcRect l="14684" t="0" r="14684" b="0"/>
          <a:stretch>
            <a:fillRect/>
          </a:stretch>
        </p:blipFill>
        <p:spPr>
          <a:xfrm>
            <a:off x="8125968" y="1938527"/>
            <a:ext cx="1606298" cy="1234442"/>
          </a:xfrm>
          <a:prstGeom prst="rect">
            <a:avLst/>
          </a:prstGeom>
          <a:ln w="12700">
            <a:miter lim="400000"/>
          </a:ln>
        </p:spPr>
      </p:pic>
      <p:sp>
        <p:nvSpPr>
          <p:cNvPr id="690" name="TextBox 18"/>
          <p:cNvSpPr txBox="1"/>
          <p:nvPr/>
        </p:nvSpPr>
        <p:spPr>
          <a:xfrm>
            <a:off x="8125968" y="3255264"/>
            <a:ext cx="1606298"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1B2A22"/>
                </a:solidFill>
                <a:latin typeface="Cambria"/>
                <a:ea typeface="Microsoft JhengHei"/>
                <a:cs typeface="Cambria"/>
                <a:sym typeface="Cambria"/>
              </a:defRPr>
            </a:pPr>
            <a:r>
              <a:t>Forest trail</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森林步道情境</a:t>
            </a:r>
          </a:p>
        </p:txBody>
      </p:sp>
      <p:sp>
        <p:nvSpPr>
          <p:cNvPr id="691" name="Rectangle 19"/>
          <p:cNvSpPr/>
          <p:nvPr/>
        </p:nvSpPr>
        <p:spPr>
          <a:xfrm>
            <a:off x="9896856" y="1938527"/>
            <a:ext cx="1606298" cy="1234443"/>
          </a:xfrm>
          <a:prstGeom prst="rect">
            <a:avLst/>
          </a:prstGeom>
          <a:solidFill>
            <a:srgbClr val="EEF3EF"/>
          </a:solidFill>
          <a:ln w="12700">
            <a:miter lim="400000"/>
          </a:ln>
        </p:spPr>
        <p:txBody>
          <a:bodyPr lIns="45718" tIns="45718" rIns="45718" bIns="45718" anchor="ctr"/>
          <a:lstStyle/>
          <a:p>
            <a:pPr algn="ctr">
              <a:defRPr>
                <a:solidFill>
                  <a:srgbClr val="FFFFFF"/>
                </a:solidFill>
              </a:defRPr>
            </a:pPr>
          </a:p>
        </p:txBody>
      </p:sp>
      <p:pic>
        <p:nvPicPr>
          <p:cNvPr id="692" name="Picture 20" descr="Picture 20"/>
          <p:cNvPicPr>
            <a:picLocks noChangeAspect="1"/>
          </p:cNvPicPr>
          <p:nvPr/>
        </p:nvPicPr>
        <p:blipFill>
          <a:blip r:embed="rId5">
            <a:extLst/>
          </a:blip>
          <a:stretch>
            <a:fillRect/>
          </a:stretch>
        </p:blipFill>
        <p:spPr>
          <a:xfrm>
            <a:off x="10135313" y="1993392"/>
            <a:ext cx="1129380" cy="1124714"/>
          </a:xfrm>
          <a:prstGeom prst="rect">
            <a:avLst/>
          </a:prstGeom>
          <a:ln w="12700">
            <a:miter lim="400000"/>
          </a:ln>
        </p:spPr>
      </p:pic>
      <p:sp>
        <p:nvSpPr>
          <p:cNvPr id="693" name="TextBox 21"/>
          <p:cNvSpPr txBox="1"/>
          <p:nvPr/>
        </p:nvSpPr>
        <p:spPr>
          <a:xfrm>
            <a:off x="9896856" y="3255264"/>
            <a:ext cx="1606298"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1B2A22"/>
                </a:solidFill>
                <a:latin typeface="Cambria"/>
                <a:ea typeface="Microsoft JhengHei"/>
                <a:cs typeface="Cambria"/>
                <a:sym typeface="Cambria"/>
              </a:defRPr>
            </a:pPr>
            <a:r>
              <a:t>Place labels</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場所標示操作</a:t>
            </a:r>
          </a:p>
        </p:txBody>
      </p:sp>
      <p:sp>
        <p:nvSpPr>
          <p:cNvPr id="694" name="Rounded Rectangle 22"/>
          <p:cNvSpPr/>
          <p:nvPr/>
        </p:nvSpPr>
        <p:spPr>
          <a:xfrm>
            <a:off x="6355079" y="3584447"/>
            <a:ext cx="5148074" cy="54864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695" name="TextBox 23"/>
          <p:cNvSpPr txBox="1"/>
          <p:nvPr/>
        </p:nvSpPr>
        <p:spPr>
          <a:xfrm>
            <a:off x="6611111" y="3694176"/>
            <a:ext cx="4636011" cy="31849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2E6B4F"/>
                </a:solidFill>
                <a:latin typeface="Cambria"/>
                <a:ea typeface="Microsoft JhengHei"/>
                <a:cs typeface="Cambria"/>
                <a:sym typeface="Cambria"/>
              </a:defRPr>
            </a:pPr>
            <a:r>
              <a:t>Participants: 48</a:t>
            </a:r>
            <a:r>
              <a:rPr b="1">
                <a:latin typeface="Microsoft JhengHei"/>
                <a:ea typeface="Microsoft JhengHei"/>
                <a:cs typeface="Microsoft JhengHei"/>
                <a:sym typeface="Microsoft JhengHei"/>
              </a:rPr>
              <a:t>　</a:t>
            </a:r>
            <a:r>
              <a:t>·</a:t>
            </a:r>
            <a:r>
              <a:rPr b="1">
                <a:latin typeface="Microsoft JhengHei"/>
                <a:ea typeface="Microsoft JhengHei"/>
                <a:cs typeface="Microsoft JhengHei"/>
                <a:sym typeface="Microsoft JhengHei"/>
              </a:rPr>
              <a:t>　</a:t>
            </a:r>
            <a:r>
              <a:t>Perceived crowding and acceptability measured</a:t>
            </a:r>
            <a:endParaRPr>
              <a:latin typeface="+mj-lt"/>
              <a:ea typeface="+mj-ea"/>
              <a:cs typeface="+mj-cs"/>
              <a:sym typeface="Calibri"/>
            </a:endParaRPr>
          </a:p>
          <a:p>
            <a:pPr>
              <a:defRPr sz="1000">
                <a:solidFill>
                  <a:srgbClr val="6F7C75"/>
                </a:solidFill>
                <a:latin typeface="Microsoft JhengHei"/>
                <a:ea typeface="Microsoft JhengHei"/>
                <a:cs typeface="Microsoft JhengHei"/>
                <a:sym typeface="Microsoft JhengHei"/>
              </a:defRPr>
            </a:pPr>
            <a:r>
              <a:t>受試者 48 人，量測擁擠感知與可接受度</a:t>
            </a:r>
          </a:p>
        </p:txBody>
      </p:sp>
      <p:sp>
        <p:nvSpPr>
          <p:cNvPr id="696" name="Rounded Rectangle 24"/>
          <p:cNvSpPr/>
          <p:nvPr/>
        </p:nvSpPr>
        <p:spPr>
          <a:xfrm>
            <a:off x="685800" y="4224528"/>
            <a:ext cx="3436011" cy="1755650"/>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697" name="TextBox 25"/>
          <p:cNvSpPr txBox="1"/>
          <p:nvPr/>
        </p:nvSpPr>
        <p:spPr>
          <a:xfrm>
            <a:off x="941830" y="4370832"/>
            <a:ext cx="292395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E6B4F"/>
                </a:solidFill>
                <a:latin typeface="Cambria"/>
                <a:ea typeface="Microsoft JhengHei"/>
                <a:cs typeface="Cambria"/>
                <a:sym typeface="Cambria"/>
              </a:defRPr>
            </a:lvl1pPr>
          </a:lstStyle>
          <a:p>
            <a:pPr/>
            <a:r>
              <a:t>Exp. 1</a:t>
            </a:r>
          </a:p>
        </p:txBody>
      </p:sp>
      <p:sp>
        <p:nvSpPr>
          <p:cNvPr id="698" name="TextBox 26"/>
          <p:cNvSpPr txBox="1"/>
          <p:nvPr/>
        </p:nvSpPr>
        <p:spPr>
          <a:xfrm>
            <a:off x="941830" y="4626864"/>
            <a:ext cx="2923950"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22"/>
                </a:solidFill>
                <a:latin typeface="Cambria"/>
                <a:ea typeface="Microsoft JhengHei"/>
                <a:cs typeface="Cambria"/>
                <a:sym typeface="Cambria"/>
              </a:defRPr>
            </a:lvl1pPr>
          </a:lstStyle>
          <a:p>
            <a:pPr/>
            <a:r>
              <a:t>Location context</a:t>
            </a:r>
          </a:p>
        </p:txBody>
      </p:sp>
      <p:sp>
        <p:nvSpPr>
          <p:cNvPr id="699" name="TextBox 27"/>
          <p:cNvSpPr txBox="1"/>
          <p:nvPr/>
        </p:nvSpPr>
        <p:spPr>
          <a:xfrm>
            <a:off x="941830" y="4919471"/>
            <a:ext cx="292395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F7C75"/>
                </a:solidFill>
                <a:latin typeface="Microsoft JhengHei"/>
                <a:ea typeface="Microsoft JhengHei"/>
                <a:cs typeface="Microsoft JhengHei"/>
                <a:sym typeface="Microsoft JhengHei"/>
              </a:defRPr>
            </a:lvl1pPr>
          </a:lstStyle>
          <a:p>
            <a:pPr/>
            <a:r>
              <a:t>場所脈絡</a:t>
            </a:r>
          </a:p>
        </p:txBody>
      </p:sp>
      <p:sp>
        <p:nvSpPr>
          <p:cNvPr id="700" name="TextBox 28"/>
          <p:cNvSpPr txBox="1"/>
          <p:nvPr/>
        </p:nvSpPr>
        <p:spPr>
          <a:xfrm>
            <a:off x="941830" y="5193791"/>
            <a:ext cx="2923950" cy="4864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300"/>
              </a:spcBef>
              <a:defRPr sz="1000">
                <a:solidFill>
                  <a:srgbClr val="1B2A22"/>
                </a:solidFill>
                <a:latin typeface="Cambria"/>
                <a:ea typeface="Microsoft JhengHei"/>
                <a:cs typeface="Cambria"/>
                <a:sym typeface="Cambria"/>
              </a:defRPr>
            </a:pPr>
            <a:r>
              <a:t>Tests how location context — a nature reserve versus a national scenic area — affects crowding and acceptability.</a:t>
            </a:r>
            <a:endParaRPr>
              <a:latin typeface="+mj-lt"/>
              <a:ea typeface="+mj-ea"/>
              <a:cs typeface="+mj-cs"/>
              <a:sym typeface="Calibri"/>
            </a:endParaRPr>
          </a:p>
          <a:p>
            <a:pPr>
              <a:defRPr sz="1000">
                <a:solidFill>
                  <a:srgbClr val="6F7C75"/>
                </a:solidFill>
                <a:latin typeface="Microsoft JhengHei"/>
                <a:ea typeface="Microsoft JhengHei"/>
                <a:cs typeface="Microsoft JhengHei"/>
                <a:sym typeface="Microsoft JhengHei"/>
              </a:defRPr>
            </a:pPr>
            <a:r>
              <a:t>檢驗場所脈絡如何影響擁擠感知與可接受度。</a:t>
            </a:r>
          </a:p>
        </p:txBody>
      </p:sp>
      <p:sp>
        <p:nvSpPr>
          <p:cNvPr id="701" name="Rounded Rectangle 29"/>
          <p:cNvSpPr/>
          <p:nvPr/>
        </p:nvSpPr>
        <p:spPr>
          <a:xfrm>
            <a:off x="4377842" y="4224528"/>
            <a:ext cx="3436011" cy="1755650"/>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702" name="TextBox 30"/>
          <p:cNvSpPr txBox="1"/>
          <p:nvPr/>
        </p:nvSpPr>
        <p:spPr>
          <a:xfrm>
            <a:off x="4633874" y="4370832"/>
            <a:ext cx="2923948"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E6B4F"/>
                </a:solidFill>
                <a:latin typeface="Cambria"/>
                <a:ea typeface="Microsoft JhengHei"/>
                <a:cs typeface="Cambria"/>
                <a:sym typeface="Cambria"/>
              </a:defRPr>
            </a:lvl1pPr>
          </a:lstStyle>
          <a:p>
            <a:pPr/>
            <a:r>
              <a:t>Exp. 2</a:t>
            </a:r>
          </a:p>
        </p:txBody>
      </p:sp>
      <p:sp>
        <p:nvSpPr>
          <p:cNvPr id="703" name="TextBox 31"/>
          <p:cNvSpPr txBox="1"/>
          <p:nvPr/>
        </p:nvSpPr>
        <p:spPr>
          <a:xfrm>
            <a:off x="4633874" y="4626864"/>
            <a:ext cx="2923948"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22"/>
                </a:solidFill>
                <a:latin typeface="Cambria"/>
                <a:ea typeface="Microsoft JhengHei"/>
                <a:cs typeface="Cambria"/>
                <a:sym typeface="Cambria"/>
              </a:defRPr>
            </a:lvl1pPr>
          </a:lstStyle>
          <a:p>
            <a:pPr/>
            <a:r>
              <a:t>Interpersonal distance</a:t>
            </a:r>
          </a:p>
        </p:txBody>
      </p:sp>
      <p:sp>
        <p:nvSpPr>
          <p:cNvPr id="704" name="TextBox 32"/>
          <p:cNvSpPr txBox="1"/>
          <p:nvPr/>
        </p:nvSpPr>
        <p:spPr>
          <a:xfrm>
            <a:off x="4633874" y="4919471"/>
            <a:ext cx="2923948"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F7C75"/>
                </a:solidFill>
                <a:latin typeface="Microsoft JhengHei"/>
                <a:ea typeface="Microsoft JhengHei"/>
                <a:cs typeface="Microsoft JhengHei"/>
                <a:sym typeface="Microsoft JhengHei"/>
              </a:defRPr>
            </a:lvl1pPr>
          </a:lstStyle>
          <a:p>
            <a:pPr/>
            <a:r>
              <a:t>人際距離</a:t>
            </a:r>
          </a:p>
        </p:txBody>
      </p:sp>
      <p:sp>
        <p:nvSpPr>
          <p:cNvPr id="705" name="TextBox 33"/>
          <p:cNvSpPr txBox="1"/>
          <p:nvPr/>
        </p:nvSpPr>
        <p:spPr>
          <a:xfrm>
            <a:off x="4633874" y="5193791"/>
            <a:ext cx="2923948" cy="4864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300"/>
              </a:spcBef>
              <a:defRPr sz="1000">
                <a:solidFill>
                  <a:srgbClr val="1B2A22"/>
                </a:solidFill>
                <a:latin typeface="Cambria"/>
                <a:ea typeface="Microsoft JhengHei"/>
                <a:cs typeface="Cambria"/>
                <a:sym typeface="Cambria"/>
              </a:defRPr>
            </a:pPr>
            <a:r>
              <a:t>Tests how interpersonal distance affects crowding and acceptability.</a:t>
            </a:r>
            <a:endParaRPr>
              <a:latin typeface="+mj-lt"/>
              <a:ea typeface="+mj-ea"/>
              <a:cs typeface="+mj-cs"/>
              <a:sym typeface="Calibri"/>
            </a:endParaRPr>
          </a:p>
          <a:p>
            <a:pPr>
              <a:defRPr sz="1000">
                <a:solidFill>
                  <a:srgbClr val="6F7C75"/>
                </a:solidFill>
                <a:latin typeface="Microsoft JhengHei"/>
                <a:ea typeface="Microsoft JhengHei"/>
                <a:cs typeface="Microsoft JhengHei"/>
                <a:sym typeface="Microsoft JhengHei"/>
              </a:defRPr>
            </a:pPr>
            <a:r>
              <a:t>檢驗人際距離如何影響擁擠感知與可接受度。</a:t>
            </a:r>
          </a:p>
        </p:txBody>
      </p:sp>
      <p:sp>
        <p:nvSpPr>
          <p:cNvPr id="706" name="Rounded Rectangle 34"/>
          <p:cNvSpPr/>
          <p:nvPr/>
        </p:nvSpPr>
        <p:spPr>
          <a:xfrm>
            <a:off x="8069884" y="4224528"/>
            <a:ext cx="3436011" cy="1755650"/>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707" name="TextBox 35"/>
          <p:cNvSpPr txBox="1"/>
          <p:nvPr/>
        </p:nvSpPr>
        <p:spPr>
          <a:xfrm>
            <a:off x="8325915" y="4370832"/>
            <a:ext cx="2923948"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E6B4F"/>
                </a:solidFill>
                <a:latin typeface="Cambria"/>
                <a:ea typeface="Microsoft JhengHei"/>
                <a:cs typeface="Cambria"/>
                <a:sym typeface="Cambria"/>
              </a:defRPr>
            </a:lvl1pPr>
          </a:lstStyle>
          <a:p>
            <a:pPr/>
            <a:r>
              <a:t>Exp. 3</a:t>
            </a:r>
          </a:p>
        </p:txBody>
      </p:sp>
      <p:sp>
        <p:nvSpPr>
          <p:cNvPr id="708" name="TextBox 36"/>
          <p:cNvSpPr txBox="1"/>
          <p:nvPr/>
        </p:nvSpPr>
        <p:spPr>
          <a:xfrm>
            <a:off x="8325915" y="4626864"/>
            <a:ext cx="2923948"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22"/>
                </a:solidFill>
                <a:latin typeface="Cambria"/>
                <a:ea typeface="Microsoft JhengHei"/>
                <a:cs typeface="Cambria"/>
                <a:sym typeface="Cambria"/>
              </a:defRPr>
            </a:lvl1pPr>
          </a:lstStyle>
          <a:p>
            <a:pPr/>
            <a:r>
              <a:t>Dynamic × context</a:t>
            </a:r>
          </a:p>
        </p:txBody>
      </p:sp>
      <p:sp>
        <p:nvSpPr>
          <p:cNvPr id="709" name="TextBox 37"/>
          <p:cNvSpPr txBox="1"/>
          <p:nvPr/>
        </p:nvSpPr>
        <p:spPr>
          <a:xfrm>
            <a:off x="8325915" y="4919471"/>
            <a:ext cx="2923948"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F7C75"/>
                </a:solidFill>
                <a:latin typeface="Microsoft JhengHei"/>
                <a:ea typeface="Microsoft JhengHei"/>
                <a:cs typeface="Microsoft JhengHei"/>
                <a:sym typeface="Microsoft JhengHei"/>
              </a:defRPr>
            </a:lvl1pPr>
          </a:lstStyle>
          <a:p>
            <a:pPr/>
            <a:r>
              <a:t>動靜態 × 場所脈絡</a:t>
            </a:r>
          </a:p>
        </p:txBody>
      </p:sp>
      <p:sp>
        <p:nvSpPr>
          <p:cNvPr id="710" name="TextBox 38"/>
          <p:cNvSpPr txBox="1"/>
          <p:nvPr/>
        </p:nvSpPr>
        <p:spPr>
          <a:xfrm>
            <a:off x="8325915" y="5193791"/>
            <a:ext cx="2923948" cy="4864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300"/>
              </a:spcBef>
              <a:defRPr sz="1000">
                <a:solidFill>
                  <a:srgbClr val="1B2A22"/>
                </a:solidFill>
                <a:latin typeface="Cambria"/>
                <a:ea typeface="Microsoft JhengHei"/>
                <a:cs typeface="Cambria"/>
                <a:sym typeface="Cambria"/>
              </a:defRPr>
            </a:pPr>
            <a:r>
              <a:t>Tests the combined effects of dynamic/static change and location context.</a:t>
            </a:r>
            <a:endParaRPr>
              <a:latin typeface="+mj-lt"/>
              <a:ea typeface="+mj-ea"/>
              <a:cs typeface="+mj-cs"/>
              <a:sym typeface="Calibri"/>
            </a:endParaRPr>
          </a:p>
          <a:p>
            <a:pPr>
              <a:defRPr sz="1000">
                <a:solidFill>
                  <a:srgbClr val="6F7C75"/>
                </a:solidFill>
                <a:latin typeface="Microsoft JhengHei"/>
                <a:ea typeface="Microsoft JhengHei"/>
                <a:cs typeface="Microsoft JhengHei"/>
                <a:sym typeface="Microsoft JhengHei"/>
              </a:defRPr>
            </a:pPr>
            <a:r>
              <a:t>檢驗動靜態變化與場所脈絡的交互作用。</a:t>
            </a:r>
          </a:p>
        </p:txBody>
      </p:sp>
      <p:sp>
        <p:nvSpPr>
          <p:cNvPr id="711" name="TextBox 39"/>
          <p:cNvSpPr txBox="1"/>
          <p:nvPr/>
        </p:nvSpPr>
        <p:spPr>
          <a:xfrm>
            <a:off x="685799" y="6108191"/>
            <a:ext cx="108200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F7C75"/>
                </a:solidFill>
                <a:latin typeface="Microsoft JhengHei"/>
                <a:ea typeface="Microsoft JhengHei"/>
                <a:cs typeface="Microsoft JhengHei"/>
                <a:sym typeface="Microsoft JhengHei"/>
              </a:defRPr>
            </a:lvl1pPr>
          </a:lstStyle>
          <a:p>
            <a:pPr/>
            <a:r>
              <a:t>Pei-Ching Cho (2024), master's thesis　卓沛璟（2024）不同因子對擁擠感知與可接受度的影響，國立臺灣大學園藝暨景觀學系。</a:t>
            </a:r>
          </a:p>
        </p:txBody>
      </p:sp>
      <p:sp>
        <p:nvSpPr>
          <p:cNvPr id="712" name="TextBox 40"/>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713" name="TextBox 41"/>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27</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7"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FIVE LABORATORIES  ·  05 PERCEIVE  ·  知覺  ·  IVR STUDY 02</a:t>
            </a:r>
          </a:p>
        </p:txBody>
      </p:sp>
      <p:sp>
        <p:nvSpPr>
          <p:cNvPr id="718"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Spatial Perception — Crowding: Findings</a:t>
            </a:r>
          </a:p>
        </p:txBody>
      </p:sp>
      <p:sp>
        <p:nvSpPr>
          <p:cNvPr id="719"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空間知覺—擁擠感　·　研究發現</a:t>
            </a:r>
          </a:p>
        </p:txBody>
      </p:sp>
      <p:sp>
        <p:nvSpPr>
          <p:cNvPr id="720" name="Rounded Rectangle 4"/>
          <p:cNvSpPr/>
          <p:nvPr/>
        </p:nvSpPr>
        <p:spPr>
          <a:xfrm>
            <a:off x="685800" y="1938527"/>
            <a:ext cx="4663441" cy="96012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grpSp>
        <p:nvGrpSpPr>
          <p:cNvPr id="723" name="Oval 5"/>
          <p:cNvGrpSpPr/>
          <p:nvPr/>
        </p:nvGrpSpPr>
        <p:grpSpPr>
          <a:xfrm>
            <a:off x="905254" y="2231133"/>
            <a:ext cx="365764" cy="365765"/>
            <a:chOff x="0" y="0"/>
            <a:chExt cx="365763" cy="365763"/>
          </a:xfrm>
        </p:grpSpPr>
        <p:sp>
          <p:nvSpPr>
            <p:cNvPr id="721" name="Circle"/>
            <p:cNvSpPr/>
            <p:nvPr/>
          </p:nvSpPr>
          <p:spPr>
            <a:xfrm>
              <a:off x="-1" y="-1"/>
              <a:ext cx="365764" cy="365764"/>
            </a:xfrm>
            <a:prstGeom prst="ellipse">
              <a:avLst/>
            </a:prstGeom>
            <a:solidFill>
              <a:srgbClr val="2E6B4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722" name="1"/>
            <p:cNvSpPr txBox="1"/>
            <p:nvPr/>
          </p:nvSpPr>
          <p:spPr>
            <a:xfrm>
              <a:off x="53563" y="93979"/>
              <a:ext cx="258635" cy="177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300">
                  <a:solidFill>
                    <a:srgbClr val="FFFFFF"/>
                  </a:solidFill>
                  <a:latin typeface="Cambria"/>
                  <a:ea typeface="Microsoft JhengHei"/>
                  <a:cs typeface="Cambria"/>
                  <a:sym typeface="Cambria"/>
                </a:defRPr>
              </a:lvl1pPr>
            </a:lstStyle>
            <a:p>
              <a:pPr/>
              <a:r>
                <a:t>1</a:t>
              </a:r>
            </a:p>
          </p:txBody>
        </p:sp>
      </p:grpSp>
      <p:sp>
        <p:nvSpPr>
          <p:cNvPr id="724" name="TextBox 6"/>
          <p:cNvSpPr txBox="1"/>
          <p:nvPr/>
        </p:nvSpPr>
        <p:spPr>
          <a:xfrm>
            <a:off x="1399031" y="2029966"/>
            <a:ext cx="3749042" cy="6438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spcBef>
                <a:spcPts val="200"/>
              </a:spcBef>
              <a:defRPr sz="1200">
                <a:solidFill>
                  <a:srgbClr val="1B2A22"/>
                </a:solidFill>
                <a:latin typeface="Cambria"/>
                <a:ea typeface="Microsoft JhengHei"/>
                <a:cs typeface="Cambria"/>
                <a:sym typeface="Cambria"/>
              </a:defRPr>
            </a:pPr>
            <a:r>
              <a:t>Distance and crowd size interact</a:t>
            </a:r>
            <a:endParaRPr>
              <a:latin typeface="+mj-lt"/>
              <a:ea typeface="+mj-ea"/>
              <a:cs typeface="+mj-cs"/>
              <a:sym typeface="Calibri"/>
            </a:endParaRPr>
          </a:p>
          <a:p>
            <a:pPr>
              <a:spcBef>
                <a:spcPts val="200"/>
              </a:spcBef>
              <a:defRPr sz="1000">
                <a:solidFill>
                  <a:srgbClr val="2E6B4F"/>
                </a:solidFill>
                <a:latin typeface="Microsoft JhengHei"/>
                <a:ea typeface="Microsoft JhengHei"/>
                <a:cs typeface="Microsoft JhengHei"/>
                <a:sym typeface="Microsoft JhengHei"/>
              </a:defRPr>
            </a:pPr>
            <a:r>
              <a:t>距離與人數交互作用</a:t>
            </a:r>
            <a:endParaRPr>
              <a:latin typeface="+mj-lt"/>
              <a:ea typeface="+mj-ea"/>
              <a:cs typeface="+mj-cs"/>
              <a:sym typeface="Calibri"/>
            </a:endParaRPr>
          </a:p>
          <a:p>
            <a:pPr>
              <a:lnSpc>
                <a:spcPct val="110000"/>
              </a:lnSpc>
              <a:defRPr sz="1000">
                <a:solidFill>
                  <a:srgbClr val="6F7C75"/>
                </a:solidFill>
                <a:latin typeface="Cambria"/>
                <a:ea typeface="Microsoft JhengHei"/>
                <a:cs typeface="Cambria"/>
                <a:sym typeface="Cambria"/>
              </a:defRPr>
            </a:pPr>
            <a:r>
              <a:t>Closer distances amplify perceived crowding but do not directly change acceptability.</a:t>
            </a:r>
          </a:p>
        </p:txBody>
      </p:sp>
      <p:sp>
        <p:nvSpPr>
          <p:cNvPr id="725" name="Rounded Rectangle 7"/>
          <p:cNvSpPr/>
          <p:nvPr/>
        </p:nvSpPr>
        <p:spPr>
          <a:xfrm>
            <a:off x="685800" y="2980944"/>
            <a:ext cx="4663441" cy="960120"/>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grpSp>
        <p:nvGrpSpPr>
          <p:cNvPr id="728" name="Oval 8"/>
          <p:cNvGrpSpPr/>
          <p:nvPr/>
        </p:nvGrpSpPr>
        <p:grpSpPr>
          <a:xfrm>
            <a:off x="905254" y="3273549"/>
            <a:ext cx="365764" cy="365765"/>
            <a:chOff x="0" y="0"/>
            <a:chExt cx="365763" cy="365763"/>
          </a:xfrm>
        </p:grpSpPr>
        <p:sp>
          <p:nvSpPr>
            <p:cNvPr id="726" name="Circle"/>
            <p:cNvSpPr/>
            <p:nvPr/>
          </p:nvSpPr>
          <p:spPr>
            <a:xfrm>
              <a:off x="-1" y="-1"/>
              <a:ext cx="365764" cy="365764"/>
            </a:xfrm>
            <a:prstGeom prst="ellipse">
              <a:avLst/>
            </a:prstGeom>
            <a:solidFill>
              <a:srgbClr val="2E6B4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727" name="2"/>
            <p:cNvSpPr txBox="1"/>
            <p:nvPr/>
          </p:nvSpPr>
          <p:spPr>
            <a:xfrm>
              <a:off x="53563" y="93979"/>
              <a:ext cx="258635" cy="177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300">
                  <a:solidFill>
                    <a:srgbClr val="FFFFFF"/>
                  </a:solidFill>
                  <a:latin typeface="Cambria"/>
                  <a:ea typeface="Microsoft JhengHei"/>
                  <a:cs typeface="Cambria"/>
                  <a:sym typeface="Cambria"/>
                </a:defRPr>
              </a:lvl1pPr>
            </a:lstStyle>
            <a:p>
              <a:pPr/>
              <a:r>
                <a:t>2</a:t>
              </a:r>
            </a:p>
          </p:txBody>
        </p:sp>
      </p:grpSp>
      <p:sp>
        <p:nvSpPr>
          <p:cNvPr id="729" name="TextBox 9"/>
          <p:cNvSpPr txBox="1"/>
          <p:nvPr/>
        </p:nvSpPr>
        <p:spPr>
          <a:xfrm>
            <a:off x="1399031" y="3072383"/>
            <a:ext cx="3749042" cy="6438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spcBef>
                <a:spcPts val="200"/>
              </a:spcBef>
              <a:defRPr sz="1200">
                <a:solidFill>
                  <a:srgbClr val="1B2A22"/>
                </a:solidFill>
                <a:latin typeface="Cambria"/>
                <a:ea typeface="Microsoft JhengHei"/>
                <a:cs typeface="Cambria"/>
                <a:sym typeface="Cambria"/>
              </a:defRPr>
            </a:pPr>
            <a:r>
              <a:t>Environment affects acceptability</a:t>
            </a:r>
            <a:endParaRPr>
              <a:latin typeface="+mj-lt"/>
              <a:ea typeface="+mj-ea"/>
              <a:cs typeface="+mj-cs"/>
              <a:sym typeface="Calibri"/>
            </a:endParaRPr>
          </a:p>
          <a:p>
            <a:pPr>
              <a:spcBef>
                <a:spcPts val="200"/>
              </a:spcBef>
              <a:defRPr sz="1000">
                <a:solidFill>
                  <a:srgbClr val="2E6B4F"/>
                </a:solidFill>
                <a:latin typeface="Microsoft JhengHei"/>
                <a:ea typeface="Microsoft JhengHei"/>
                <a:cs typeface="Microsoft JhengHei"/>
                <a:sym typeface="Microsoft JhengHei"/>
              </a:defRPr>
            </a:pPr>
            <a:r>
              <a:t>環境影響可接受度</a:t>
            </a:r>
            <a:endParaRPr>
              <a:latin typeface="+mj-lt"/>
              <a:ea typeface="+mj-ea"/>
              <a:cs typeface="+mj-cs"/>
              <a:sym typeface="Calibri"/>
            </a:endParaRPr>
          </a:p>
          <a:p>
            <a:pPr>
              <a:lnSpc>
                <a:spcPct val="110000"/>
              </a:lnSpc>
              <a:defRPr sz="1000">
                <a:solidFill>
                  <a:srgbClr val="6F7C75"/>
                </a:solidFill>
                <a:latin typeface="Cambria"/>
                <a:ea typeface="Microsoft JhengHei"/>
                <a:cs typeface="Cambria"/>
                <a:sym typeface="Cambria"/>
              </a:defRPr>
            </a:pPr>
            <a:r>
              <a:t>Acceptability depends on location context and overall conditions, not distance alone.</a:t>
            </a:r>
          </a:p>
        </p:txBody>
      </p:sp>
      <p:sp>
        <p:nvSpPr>
          <p:cNvPr id="730" name="Rounded Rectangle 10"/>
          <p:cNvSpPr/>
          <p:nvPr/>
        </p:nvSpPr>
        <p:spPr>
          <a:xfrm>
            <a:off x="685800" y="4023359"/>
            <a:ext cx="4663441" cy="96012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grpSp>
        <p:nvGrpSpPr>
          <p:cNvPr id="733" name="Oval 11"/>
          <p:cNvGrpSpPr/>
          <p:nvPr/>
        </p:nvGrpSpPr>
        <p:grpSpPr>
          <a:xfrm>
            <a:off x="905254" y="4315966"/>
            <a:ext cx="365764" cy="365765"/>
            <a:chOff x="0" y="0"/>
            <a:chExt cx="365763" cy="365763"/>
          </a:xfrm>
        </p:grpSpPr>
        <p:sp>
          <p:nvSpPr>
            <p:cNvPr id="731" name="Circle"/>
            <p:cNvSpPr/>
            <p:nvPr/>
          </p:nvSpPr>
          <p:spPr>
            <a:xfrm>
              <a:off x="-1" y="-1"/>
              <a:ext cx="365764" cy="365764"/>
            </a:xfrm>
            <a:prstGeom prst="ellipse">
              <a:avLst/>
            </a:prstGeom>
            <a:solidFill>
              <a:srgbClr val="2E6B4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732" name="3"/>
            <p:cNvSpPr txBox="1"/>
            <p:nvPr/>
          </p:nvSpPr>
          <p:spPr>
            <a:xfrm>
              <a:off x="53563" y="93979"/>
              <a:ext cx="258635" cy="177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300">
                  <a:solidFill>
                    <a:srgbClr val="FFFFFF"/>
                  </a:solidFill>
                  <a:latin typeface="Cambria"/>
                  <a:ea typeface="Microsoft JhengHei"/>
                  <a:cs typeface="Cambria"/>
                  <a:sym typeface="Cambria"/>
                </a:defRPr>
              </a:lvl1pPr>
            </a:lstStyle>
            <a:p>
              <a:pPr/>
              <a:r>
                <a:t>3</a:t>
              </a:r>
            </a:p>
          </p:txBody>
        </p:sp>
      </p:grpSp>
      <p:sp>
        <p:nvSpPr>
          <p:cNvPr id="734" name="TextBox 12"/>
          <p:cNvSpPr txBox="1"/>
          <p:nvPr/>
        </p:nvSpPr>
        <p:spPr>
          <a:xfrm>
            <a:off x="1399031" y="4114800"/>
            <a:ext cx="3749042" cy="6438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spcBef>
                <a:spcPts val="200"/>
              </a:spcBef>
              <a:defRPr sz="1200">
                <a:solidFill>
                  <a:srgbClr val="1B2A22"/>
                </a:solidFill>
                <a:latin typeface="Cambria"/>
                <a:ea typeface="Microsoft JhengHei"/>
                <a:cs typeface="Cambria"/>
                <a:sym typeface="Cambria"/>
              </a:defRPr>
            </a:pPr>
            <a:r>
              <a:t>Crowding stems from personal-space pressure</a:t>
            </a:r>
            <a:endParaRPr>
              <a:latin typeface="+mj-lt"/>
              <a:ea typeface="+mj-ea"/>
              <a:cs typeface="+mj-cs"/>
              <a:sym typeface="Calibri"/>
            </a:endParaRPr>
          </a:p>
          <a:p>
            <a:pPr>
              <a:spcBef>
                <a:spcPts val="200"/>
              </a:spcBef>
              <a:defRPr sz="1000">
                <a:solidFill>
                  <a:srgbClr val="2E6B4F"/>
                </a:solidFill>
                <a:latin typeface="Microsoft JhengHei"/>
                <a:ea typeface="Microsoft JhengHei"/>
                <a:cs typeface="Microsoft JhengHei"/>
                <a:sym typeface="Microsoft JhengHei"/>
              </a:defRPr>
            </a:pPr>
            <a:r>
              <a:t>擁擠感源自個人空間壓力</a:t>
            </a:r>
            <a:endParaRPr>
              <a:latin typeface="+mj-lt"/>
              <a:ea typeface="+mj-ea"/>
              <a:cs typeface="+mj-cs"/>
              <a:sym typeface="Calibri"/>
            </a:endParaRPr>
          </a:p>
          <a:p>
            <a:pPr>
              <a:lnSpc>
                <a:spcPct val="110000"/>
              </a:lnSpc>
              <a:defRPr sz="1000">
                <a:solidFill>
                  <a:srgbClr val="6F7C75"/>
                </a:solidFill>
                <a:latin typeface="Cambria"/>
                <a:ea typeface="Microsoft JhengHei"/>
                <a:cs typeface="Cambria"/>
                <a:sym typeface="Cambria"/>
              </a:defRPr>
            </a:pPr>
            <a:r>
              <a:t>Perceived crowding relates to environmental psychology and personal-space intrusion.</a:t>
            </a:r>
          </a:p>
        </p:txBody>
      </p:sp>
      <p:sp>
        <p:nvSpPr>
          <p:cNvPr id="735" name="Rounded Rectangle 13"/>
          <p:cNvSpPr/>
          <p:nvPr/>
        </p:nvSpPr>
        <p:spPr>
          <a:xfrm>
            <a:off x="685800" y="5065776"/>
            <a:ext cx="4663441" cy="96012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grpSp>
        <p:nvGrpSpPr>
          <p:cNvPr id="738" name="Oval 14"/>
          <p:cNvGrpSpPr/>
          <p:nvPr/>
        </p:nvGrpSpPr>
        <p:grpSpPr>
          <a:xfrm>
            <a:off x="905254" y="5358383"/>
            <a:ext cx="365764" cy="365765"/>
            <a:chOff x="0" y="0"/>
            <a:chExt cx="365763" cy="365763"/>
          </a:xfrm>
        </p:grpSpPr>
        <p:sp>
          <p:nvSpPr>
            <p:cNvPr id="736" name="Circle"/>
            <p:cNvSpPr/>
            <p:nvPr/>
          </p:nvSpPr>
          <p:spPr>
            <a:xfrm>
              <a:off x="-1" y="-1"/>
              <a:ext cx="365764" cy="365764"/>
            </a:xfrm>
            <a:prstGeom prst="ellipse">
              <a:avLst/>
            </a:prstGeom>
            <a:solidFill>
              <a:srgbClr val="2E6B4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737" name="4"/>
            <p:cNvSpPr txBox="1"/>
            <p:nvPr/>
          </p:nvSpPr>
          <p:spPr>
            <a:xfrm>
              <a:off x="53563" y="93979"/>
              <a:ext cx="258635" cy="177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300">
                  <a:solidFill>
                    <a:srgbClr val="FFFFFF"/>
                  </a:solidFill>
                  <a:latin typeface="Cambria"/>
                  <a:ea typeface="Microsoft JhengHei"/>
                  <a:cs typeface="Cambria"/>
                  <a:sym typeface="Cambria"/>
                </a:defRPr>
              </a:lvl1pPr>
            </a:lstStyle>
            <a:p>
              <a:pPr/>
              <a:r>
                <a:t>4</a:t>
              </a:r>
            </a:p>
          </p:txBody>
        </p:sp>
      </p:grpSp>
      <p:sp>
        <p:nvSpPr>
          <p:cNvPr id="739" name="TextBox 15"/>
          <p:cNvSpPr txBox="1"/>
          <p:nvPr/>
        </p:nvSpPr>
        <p:spPr>
          <a:xfrm>
            <a:off x="1399031" y="5157215"/>
            <a:ext cx="3749042" cy="6438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spcBef>
                <a:spcPts val="200"/>
              </a:spcBef>
              <a:defRPr sz="1200">
                <a:solidFill>
                  <a:srgbClr val="1B2A22"/>
                </a:solidFill>
                <a:latin typeface="Cambria"/>
                <a:ea typeface="Microsoft JhengHei"/>
                <a:cs typeface="Cambria"/>
                <a:sym typeface="Cambria"/>
              </a:defRPr>
            </a:pPr>
            <a:r>
              <a:t>Dynamic assessment reflects real experience</a:t>
            </a:r>
            <a:endParaRPr>
              <a:latin typeface="+mj-lt"/>
              <a:ea typeface="+mj-ea"/>
              <a:cs typeface="+mj-cs"/>
              <a:sym typeface="Calibri"/>
            </a:endParaRPr>
          </a:p>
          <a:p>
            <a:pPr>
              <a:spcBef>
                <a:spcPts val="200"/>
              </a:spcBef>
              <a:defRPr sz="1000">
                <a:solidFill>
                  <a:srgbClr val="2E6B4F"/>
                </a:solidFill>
                <a:latin typeface="Microsoft JhengHei"/>
                <a:ea typeface="Microsoft JhengHei"/>
                <a:cs typeface="Microsoft JhengHei"/>
                <a:sym typeface="Microsoft JhengHei"/>
              </a:defRPr>
            </a:pPr>
            <a:r>
              <a:t>動態評估反映真實體驗</a:t>
            </a:r>
            <a:endParaRPr>
              <a:latin typeface="+mj-lt"/>
              <a:ea typeface="+mj-ea"/>
              <a:cs typeface="+mj-cs"/>
              <a:sym typeface="Calibri"/>
            </a:endParaRPr>
          </a:p>
          <a:p>
            <a:pPr>
              <a:lnSpc>
                <a:spcPct val="110000"/>
              </a:lnSpc>
              <a:defRPr sz="1000">
                <a:solidFill>
                  <a:srgbClr val="6F7C75"/>
                </a:solidFill>
                <a:latin typeface="Cambria"/>
                <a:ea typeface="Microsoft JhengHei"/>
                <a:cs typeface="Cambria"/>
                <a:sym typeface="Cambria"/>
              </a:defRPr>
            </a:pPr>
            <a:r>
              <a:t>Acceptability focuses on overall crowd size and is less influenced by movement.</a:t>
            </a:r>
          </a:p>
        </p:txBody>
      </p:sp>
      <p:sp>
        <p:nvSpPr>
          <p:cNvPr id="740" name="Rectangle 16"/>
          <p:cNvSpPr/>
          <p:nvPr/>
        </p:nvSpPr>
        <p:spPr>
          <a:xfrm>
            <a:off x="5577840" y="1938527"/>
            <a:ext cx="5925314" cy="3950211"/>
          </a:xfrm>
          <a:prstGeom prst="rect">
            <a:avLst/>
          </a:prstGeom>
          <a:solidFill>
            <a:srgbClr val="EEF3EF"/>
          </a:solidFill>
          <a:ln w="12700">
            <a:miter lim="400000"/>
          </a:ln>
        </p:spPr>
        <p:txBody>
          <a:bodyPr lIns="45718" tIns="45718" rIns="45718" bIns="45718" anchor="ctr"/>
          <a:lstStyle/>
          <a:p>
            <a:pPr algn="ctr">
              <a:defRPr>
                <a:solidFill>
                  <a:srgbClr val="FFFFFF"/>
                </a:solidFill>
              </a:defRPr>
            </a:pPr>
          </a:p>
        </p:txBody>
      </p:sp>
      <p:pic>
        <p:nvPicPr>
          <p:cNvPr id="741" name="Picture 17" descr="Picture 17"/>
          <p:cNvPicPr>
            <a:picLocks noChangeAspect="1"/>
          </p:cNvPicPr>
          <p:nvPr/>
        </p:nvPicPr>
        <p:blipFill>
          <a:blip r:embed="rId3">
            <a:extLst/>
          </a:blip>
          <a:stretch>
            <a:fillRect/>
          </a:stretch>
        </p:blipFill>
        <p:spPr>
          <a:xfrm>
            <a:off x="5658825" y="1993392"/>
            <a:ext cx="5763341" cy="3840482"/>
          </a:xfrm>
          <a:prstGeom prst="rect">
            <a:avLst/>
          </a:prstGeom>
          <a:ln w="12700">
            <a:miter lim="400000"/>
          </a:ln>
        </p:spPr>
      </p:pic>
      <p:sp>
        <p:nvSpPr>
          <p:cNvPr id="742" name="TextBox 18"/>
          <p:cNvSpPr txBox="1"/>
          <p:nvPr/>
        </p:nvSpPr>
        <p:spPr>
          <a:xfrm>
            <a:off x="5577840" y="5961888"/>
            <a:ext cx="5925314"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1B2A22"/>
                </a:solidFill>
                <a:latin typeface="Cambria"/>
                <a:ea typeface="Microsoft JhengHei"/>
                <a:cs typeface="Cambria"/>
                <a:sym typeface="Cambria"/>
              </a:defRPr>
            </a:pPr>
            <a:r>
              <a:t>Summary of the four crowding findings</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四項研究發現彙整圖</a:t>
            </a:r>
          </a:p>
        </p:txBody>
      </p:sp>
      <p:sp>
        <p:nvSpPr>
          <p:cNvPr id="743" name="TextBox 19"/>
          <p:cNvSpPr txBox="1"/>
          <p:nvPr/>
        </p:nvSpPr>
        <p:spPr>
          <a:xfrm>
            <a:off x="685798" y="6172200"/>
            <a:ext cx="4663444" cy="165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F7C75"/>
                </a:solidFill>
                <a:latin typeface="Microsoft JhengHei"/>
                <a:ea typeface="Microsoft JhengHei"/>
                <a:cs typeface="Microsoft JhengHei"/>
                <a:sym typeface="Microsoft JhengHei"/>
              </a:defRPr>
            </a:lvl1pPr>
          </a:lstStyle>
          <a:p>
            <a:pPr/>
            <a:r>
              <a:t>Pei-Ching Cho (2024)　卓沛璟（2024）碩士論文</a:t>
            </a:r>
          </a:p>
        </p:txBody>
      </p:sp>
      <p:sp>
        <p:nvSpPr>
          <p:cNvPr id="744" name="TextBox 20"/>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745" name="TextBox 21"/>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28</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49"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FIVE LABORATORIES  ·  05 PERCEIVE  ·  知覺  ·  IVR STUDY 03</a:t>
            </a:r>
          </a:p>
        </p:txBody>
      </p:sp>
      <p:sp>
        <p:nvSpPr>
          <p:cNvPr id="750"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Landscape Lighting — Physical and Virtual</a:t>
            </a:r>
          </a:p>
        </p:txBody>
      </p:sp>
      <p:sp>
        <p:nvSpPr>
          <p:cNvPr id="751"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景觀照明　·　實體與虛擬環境中的光色反應</a:t>
            </a:r>
          </a:p>
        </p:txBody>
      </p:sp>
      <p:sp>
        <p:nvSpPr>
          <p:cNvPr id="752" name="Rounded Rectangle 4"/>
          <p:cNvSpPr/>
          <p:nvPr/>
        </p:nvSpPr>
        <p:spPr>
          <a:xfrm>
            <a:off x="685800" y="1938527"/>
            <a:ext cx="5349241" cy="2322579"/>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753" name="TextBox 5"/>
          <p:cNvSpPr txBox="1"/>
          <p:nvPr/>
        </p:nvSpPr>
        <p:spPr>
          <a:xfrm>
            <a:off x="960118" y="2084831"/>
            <a:ext cx="4800603"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2E6B4F"/>
                </a:solidFill>
                <a:latin typeface="Cambria"/>
                <a:ea typeface="Microsoft JhengHei"/>
                <a:cs typeface="Cambria"/>
                <a:sym typeface="Cambria"/>
              </a:defRPr>
            </a:lvl1pPr>
          </a:lstStyle>
          <a:p>
            <a:pPr/>
            <a:r>
              <a:t>Objectives</a:t>
            </a:r>
          </a:p>
        </p:txBody>
      </p:sp>
      <p:sp>
        <p:nvSpPr>
          <p:cNvPr id="754" name="TextBox 6"/>
          <p:cNvSpPr txBox="1"/>
          <p:nvPr/>
        </p:nvSpPr>
        <p:spPr>
          <a:xfrm>
            <a:off x="960118" y="2340864"/>
            <a:ext cx="480060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F7C75"/>
                </a:solidFill>
                <a:latin typeface="Microsoft JhengHei"/>
                <a:ea typeface="Microsoft JhengHei"/>
                <a:cs typeface="Microsoft JhengHei"/>
                <a:sym typeface="Microsoft JhengHei"/>
              </a:defRPr>
            </a:lvl1pPr>
          </a:lstStyle>
          <a:p>
            <a:pPr/>
            <a:r>
              <a:t>研究目的</a:t>
            </a:r>
          </a:p>
        </p:txBody>
      </p:sp>
      <p:sp>
        <p:nvSpPr>
          <p:cNvPr id="755" name="Oval 7"/>
          <p:cNvSpPr/>
          <p:nvPr/>
        </p:nvSpPr>
        <p:spPr>
          <a:xfrm>
            <a:off x="978408" y="2651760"/>
            <a:ext cx="82299" cy="82299"/>
          </a:xfrm>
          <a:prstGeom prst="ellipse">
            <a:avLst/>
          </a:prstGeom>
          <a:solidFill>
            <a:srgbClr val="8FB09C"/>
          </a:solidFill>
          <a:ln w="12700">
            <a:miter lim="400000"/>
          </a:ln>
        </p:spPr>
        <p:txBody>
          <a:bodyPr lIns="45718" tIns="45718" rIns="45718" bIns="45718" anchor="ctr"/>
          <a:lstStyle/>
          <a:p>
            <a:pPr algn="ctr">
              <a:defRPr>
                <a:solidFill>
                  <a:srgbClr val="FFFFFF"/>
                </a:solidFill>
              </a:defRPr>
            </a:pPr>
          </a:p>
        </p:txBody>
      </p:sp>
      <p:sp>
        <p:nvSpPr>
          <p:cNvPr id="756" name="TextBox 8"/>
          <p:cNvSpPr txBox="1"/>
          <p:nvPr/>
        </p:nvSpPr>
        <p:spPr>
          <a:xfrm>
            <a:off x="1188718" y="2560320"/>
            <a:ext cx="4572003" cy="2933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100"/>
              </a:spcBef>
              <a:defRPr sz="1000">
                <a:solidFill>
                  <a:srgbClr val="1B2A22"/>
                </a:solidFill>
                <a:latin typeface="Cambria"/>
                <a:ea typeface="Microsoft JhengHei"/>
                <a:cs typeface="Cambria"/>
                <a:sym typeface="Cambria"/>
              </a:defRPr>
            </a:pPr>
            <a:r>
              <a:t>Compare lighting responses in physical and virtual settings</a:t>
            </a:r>
            <a:endParaRPr>
              <a:latin typeface="+mj-lt"/>
              <a:ea typeface="+mj-ea"/>
              <a:cs typeface="+mj-cs"/>
              <a:sym typeface="Calibri"/>
            </a:endParaRPr>
          </a:p>
          <a:p>
            <a:pPr>
              <a:lnSpc>
                <a:spcPct val="110000"/>
              </a:lnSpc>
              <a:defRPr sz="900">
                <a:solidFill>
                  <a:srgbClr val="6F7C75"/>
                </a:solidFill>
                <a:latin typeface="Microsoft JhengHei"/>
                <a:ea typeface="Microsoft JhengHei"/>
                <a:cs typeface="Microsoft JhengHei"/>
                <a:sym typeface="Microsoft JhengHei"/>
              </a:defRPr>
            </a:pPr>
            <a:r>
              <a:t>比較實體與虛擬環境中的照明心理反應</a:t>
            </a:r>
          </a:p>
        </p:txBody>
      </p:sp>
      <p:sp>
        <p:nvSpPr>
          <p:cNvPr id="757" name="Oval 9"/>
          <p:cNvSpPr/>
          <p:nvPr/>
        </p:nvSpPr>
        <p:spPr>
          <a:xfrm>
            <a:off x="978408" y="3054094"/>
            <a:ext cx="82299" cy="82299"/>
          </a:xfrm>
          <a:prstGeom prst="ellipse">
            <a:avLst/>
          </a:prstGeom>
          <a:solidFill>
            <a:srgbClr val="8FB09C"/>
          </a:solidFill>
          <a:ln w="12700">
            <a:miter lim="400000"/>
          </a:ln>
        </p:spPr>
        <p:txBody>
          <a:bodyPr lIns="45718" tIns="45718" rIns="45718" bIns="45718" anchor="ctr"/>
          <a:lstStyle/>
          <a:p>
            <a:pPr algn="ctr">
              <a:defRPr>
                <a:solidFill>
                  <a:srgbClr val="FFFFFF"/>
                </a:solidFill>
              </a:defRPr>
            </a:pPr>
          </a:p>
        </p:txBody>
      </p:sp>
      <p:sp>
        <p:nvSpPr>
          <p:cNvPr id="758" name="TextBox 10"/>
          <p:cNvSpPr txBox="1"/>
          <p:nvPr/>
        </p:nvSpPr>
        <p:spPr>
          <a:xfrm>
            <a:off x="1188718" y="2962655"/>
            <a:ext cx="4572003" cy="2933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100"/>
              </a:spcBef>
              <a:defRPr sz="1000">
                <a:solidFill>
                  <a:srgbClr val="1B2A22"/>
                </a:solidFill>
                <a:latin typeface="Cambria"/>
                <a:ea typeface="Microsoft JhengHei"/>
                <a:cs typeface="Cambria"/>
                <a:sym typeface="Cambria"/>
              </a:defRPr>
            </a:pPr>
            <a:r>
              <a:t>Test the feasibility of VR for coloured-lighting research</a:t>
            </a:r>
            <a:endParaRPr>
              <a:latin typeface="+mj-lt"/>
              <a:ea typeface="+mj-ea"/>
              <a:cs typeface="+mj-cs"/>
              <a:sym typeface="Calibri"/>
            </a:endParaRPr>
          </a:p>
          <a:p>
            <a:pPr>
              <a:lnSpc>
                <a:spcPct val="110000"/>
              </a:lnSpc>
              <a:defRPr sz="900">
                <a:solidFill>
                  <a:srgbClr val="6F7C75"/>
                </a:solidFill>
                <a:latin typeface="Microsoft JhengHei"/>
                <a:ea typeface="Microsoft JhengHei"/>
                <a:cs typeface="Microsoft JhengHei"/>
                <a:sym typeface="Microsoft JhengHei"/>
              </a:defRPr>
            </a:pPr>
            <a:r>
              <a:t>評估以 VR 模擬進行光色研究的可行性</a:t>
            </a:r>
          </a:p>
        </p:txBody>
      </p:sp>
      <p:sp>
        <p:nvSpPr>
          <p:cNvPr id="759" name="Oval 11"/>
          <p:cNvSpPr/>
          <p:nvPr/>
        </p:nvSpPr>
        <p:spPr>
          <a:xfrm>
            <a:off x="978408" y="3456432"/>
            <a:ext cx="82299" cy="82299"/>
          </a:xfrm>
          <a:prstGeom prst="ellipse">
            <a:avLst/>
          </a:prstGeom>
          <a:solidFill>
            <a:srgbClr val="8FB09C"/>
          </a:solidFill>
          <a:ln w="12700">
            <a:miter lim="400000"/>
          </a:ln>
        </p:spPr>
        <p:txBody>
          <a:bodyPr lIns="45718" tIns="45718" rIns="45718" bIns="45718" anchor="ctr"/>
          <a:lstStyle/>
          <a:p>
            <a:pPr algn="ctr">
              <a:defRPr>
                <a:solidFill>
                  <a:srgbClr val="FFFFFF"/>
                </a:solidFill>
              </a:defRPr>
            </a:pPr>
          </a:p>
        </p:txBody>
      </p:sp>
      <p:sp>
        <p:nvSpPr>
          <p:cNvPr id="760" name="TextBox 12"/>
          <p:cNvSpPr txBox="1"/>
          <p:nvPr/>
        </p:nvSpPr>
        <p:spPr>
          <a:xfrm>
            <a:off x="1188718" y="3364991"/>
            <a:ext cx="4572003" cy="2933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100"/>
              </a:spcBef>
              <a:defRPr sz="1000">
                <a:solidFill>
                  <a:srgbClr val="1B2A22"/>
                </a:solidFill>
                <a:latin typeface="Cambria"/>
                <a:ea typeface="Microsoft JhengHei"/>
                <a:cs typeface="Cambria"/>
                <a:sym typeface="Cambria"/>
              </a:defRPr>
            </a:pPr>
            <a:r>
              <a:t>How light colour affects emotional response and preference</a:t>
            </a:r>
            <a:endParaRPr>
              <a:latin typeface="+mj-lt"/>
              <a:ea typeface="+mj-ea"/>
              <a:cs typeface="+mj-cs"/>
              <a:sym typeface="Calibri"/>
            </a:endParaRPr>
          </a:p>
          <a:p>
            <a:pPr>
              <a:lnSpc>
                <a:spcPct val="110000"/>
              </a:lnSpc>
              <a:defRPr sz="900">
                <a:solidFill>
                  <a:srgbClr val="6F7C75"/>
                </a:solidFill>
                <a:latin typeface="Microsoft JhengHei"/>
                <a:ea typeface="Microsoft JhengHei"/>
                <a:cs typeface="Microsoft JhengHei"/>
                <a:sym typeface="Microsoft JhengHei"/>
              </a:defRPr>
            </a:pPr>
            <a:r>
              <a:t>不同光色如何影響情緒反應與偏好</a:t>
            </a:r>
          </a:p>
        </p:txBody>
      </p:sp>
      <p:sp>
        <p:nvSpPr>
          <p:cNvPr id="761" name="Oval 13"/>
          <p:cNvSpPr/>
          <p:nvPr/>
        </p:nvSpPr>
        <p:spPr>
          <a:xfrm>
            <a:off x="978408" y="3858767"/>
            <a:ext cx="82299" cy="82299"/>
          </a:xfrm>
          <a:prstGeom prst="ellipse">
            <a:avLst/>
          </a:prstGeom>
          <a:solidFill>
            <a:srgbClr val="8FB09C"/>
          </a:solidFill>
          <a:ln w="12700">
            <a:miter lim="400000"/>
          </a:ln>
        </p:spPr>
        <p:txBody>
          <a:bodyPr lIns="45718" tIns="45718" rIns="45718" bIns="45718" anchor="ctr"/>
          <a:lstStyle/>
          <a:p>
            <a:pPr algn="ctr">
              <a:defRPr>
                <a:solidFill>
                  <a:srgbClr val="FFFFFF"/>
                </a:solidFill>
              </a:defRPr>
            </a:pPr>
          </a:p>
        </p:txBody>
      </p:sp>
      <p:sp>
        <p:nvSpPr>
          <p:cNvPr id="762" name="TextBox 14"/>
          <p:cNvSpPr txBox="1"/>
          <p:nvPr/>
        </p:nvSpPr>
        <p:spPr>
          <a:xfrm>
            <a:off x="1188718" y="3767328"/>
            <a:ext cx="4572003" cy="2933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100"/>
              </a:spcBef>
              <a:defRPr sz="1000">
                <a:solidFill>
                  <a:srgbClr val="1B2A22"/>
                </a:solidFill>
                <a:latin typeface="Cambria"/>
                <a:ea typeface="Microsoft JhengHei"/>
                <a:cs typeface="Cambria"/>
                <a:sym typeface="Cambria"/>
              </a:defRPr>
            </a:pPr>
            <a:r>
              <a:t>How colour rendering shapes environmental perception</a:t>
            </a:r>
            <a:endParaRPr>
              <a:latin typeface="+mj-lt"/>
              <a:ea typeface="+mj-ea"/>
              <a:cs typeface="+mj-cs"/>
              <a:sym typeface="Calibri"/>
            </a:endParaRPr>
          </a:p>
          <a:p>
            <a:pPr>
              <a:lnSpc>
                <a:spcPct val="110000"/>
              </a:lnSpc>
              <a:defRPr sz="900">
                <a:solidFill>
                  <a:srgbClr val="6F7C75"/>
                </a:solidFill>
                <a:latin typeface="Microsoft JhengHei"/>
                <a:ea typeface="Microsoft JhengHei"/>
                <a:cs typeface="Microsoft JhengHei"/>
                <a:sym typeface="Microsoft JhengHei"/>
              </a:defRPr>
            </a:pPr>
            <a:r>
              <a:t>光色與演色性如何影響環境知覺</a:t>
            </a:r>
          </a:p>
        </p:txBody>
      </p:sp>
      <p:pic>
        <p:nvPicPr>
          <p:cNvPr id="763" name="Picture 15" descr="Picture 15"/>
          <p:cNvPicPr>
            <a:picLocks noChangeAspect="1"/>
          </p:cNvPicPr>
          <p:nvPr/>
        </p:nvPicPr>
        <p:blipFill>
          <a:blip r:embed="rId3">
            <a:extLst/>
          </a:blip>
          <a:srcRect l="0" t="9961" r="0" b="9960"/>
          <a:stretch>
            <a:fillRect/>
          </a:stretch>
        </p:blipFill>
        <p:spPr>
          <a:xfrm>
            <a:off x="6355079" y="1938527"/>
            <a:ext cx="5148074" cy="2322577"/>
          </a:xfrm>
          <a:prstGeom prst="rect">
            <a:avLst/>
          </a:prstGeom>
          <a:ln w="12700">
            <a:miter lim="400000"/>
          </a:ln>
        </p:spPr>
      </p:pic>
      <p:sp>
        <p:nvSpPr>
          <p:cNvPr id="764" name="TextBox 16"/>
          <p:cNvSpPr txBox="1"/>
          <p:nvPr/>
        </p:nvSpPr>
        <p:spPr>
          <a:xfrm>
            <a:off x="6355080" y="4261103"/>
            <a:ext cx="514807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1B2A22"/>
                </a:solidFill>
                <a:latin typeface="Cambria"/>
                <a:ea typeface="Microsoft JhengHei"/>
                <a:cs typeface="Cambria"/>
                <a:sym typeface="Cambria"/>
              </a:defRPr>
            </a:pPr>
            <a:r>
              <a:t>Park landscape simulated in IVR, with tree uplighting</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以 IVR 模擬戶外公園，並以樹木投射燈建立不同光色情境</a:t>
            </a:r>
          </a:p>
        </p:txBody>
      </p:sp>
      <p:sp>
        <p:nvSpPr>
          <p:cNvPr id="765" name="Rectangle 17"/>
          <p:cNvSpPr/>
          <p:nvPr/>
        </p:nvSpPr>
        <p:spPr>
          <a:xfrm>
            <a:off x="685798" y="4700015"/>
            <a:ext cx="5349244" cy="1188722"/>
          </a:xfrm>
          <a:prstGeom prst="rect">
            <a:avLst/>
          </a:prstGeom>
          <a:solidFill>
            <a:srgbClr val="EEF3EF"/>
          </a:solidFill>
          <a:ln w="12700">
            <a:miter lim="400000"/>
          </a:ln>
        </p:spPr>
        <p:txBody>
          <a:bodyPr lIns="45718" tIns="45718" rIns="45718" bIns="45718" anchor="ctr"/>
          <a:lstStyle/>
          <a:p>
            <a:pPr algn="ctr">
              <a:defRPr>
                <a:solidFill>
                  <a:srgbClr val="FFFFFF"/>
                </a:solidFill>
              </a:defRPr>
            </a:pPr>
          </a:p>
        </p:txBody>
      </p:sp>
      <p:pic>
        <p:nvPicPr>
          <p:cNvPr id="766" name="Picture 18" descr="Picture 18"/>
          <p:cNvPicPr>
            <a:picLocks noChangeAspect="1"/>
          </p:cNvPicPr>
          <p:nvPr/>
        </p:nvPicPr>
        <p:blipFill>
          <a:blip r:embed="rId4">
            <a:extLst/>
          </a:blip>
          <a:stretch>
            <a:fillRect/>
          </a:stretch>
        </p:blipFill>
        <p:spPr>
          <a:xfrm>
            <a:off x="1014783" y="4754879"/>
            <a:ext cx="4691273" cy="1078994"/>
          </a:xfrm>
          <a:prstGeom prst="rect">
            <a:avLst/>
          </a:prstGeom>
          <a:ln w="12700">
            <a:miter lim="400000"/>
          </a:ln>
        </p:spPr>
      </p:pic>
      <p:sp>
        <p:nvSpPr>
          <p:cNvPr id="767" name="TextBox 19"/>
          <p:cNvSpPr txBox="1"/>
          <p:nvPr/>
        </p:nvSpPr>
        <p:spPr>
          <a:xfrm>
            <a:off x="685798" y="5943600"/>
            <a:ext cx="5349244" cy="330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1B2A22"/>
                </a:solidFill>
                <a:latin typeface="Cambria"/>
                <a:ea typeface="Microsoft JhengHei"/>
                <a:cs typeface="Cambria"/>
                <a:sym typeface="Cambria"/>
              </a:defRPr>
            </a:pPr>
            <a:r>
              <a:t>Coloured-light scenarios</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不同光色情境</a:t>
            </a:r>
          </a:p>
        </p:txBody>
      </p:sp>
      <p:sp>
        <p:nvSpPr>
          <p:cNvPr id="768" name="Rounded Rectangle 20"/>
          <p:cNvSpPr/>
          <p:nvPr/>
        </p:nvSpPr>
        <p:spPr>
          <a:xfrm>
            <a:off x="6355079" y="4681728"/>
            <a:ext cx="5148074" cy="1627634"/>
          </a:xfrm>
          <a:prstGeom prst="roundRect">
            <a:avLst>
              <a:gd name="adj" fmla="val 4500"/>
            </a:avLst>
          </a:prstGeom>
          <a:solidFill>
            <a:srgbClr val="E3ECE6"/>
          </a:solidFill>
          <a:ln w="12700">
            <a:miter lim="400000"/>
          </a:ln>
        </p:spPr>
        <p:txBody>
          <a:bodyPr lIns="45718" tIns="45718" rIns="45718" bIns="45718" anchor="ctr"/>
          <a:lstStyle/>
          <a:p>
            <a:pPr algn="ctr">
              <a:defRPr>
                <a:solidFill>
                  <a:srgbClr val="FFFFFF"/>
                </a:solidFill>
              </a:defRPr>
            </a:pPr>
          </a:p>
        </p:txBody>
      </p:sp>
      <p:sp>
        <p:nvSpPr>
          <p:cNvPr id="769" name="TextBox 21"/>
          <p:cNvSpPr txBox="1"/>
          <p:nvPr/>
        </p:nvSpPr>
        <p:spPr>
          <a:xfrm>
            <a:off x="6611111" y="4809744"/>
            <a:ext cx="4636011" cy="1041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500"/>
              </a:spcBef>
              <a:defRPr b="1" sz="1400">
                <a:solidFill>
                  <a:srgbClr val="2E6B4F"/>
                </a:solidFill>
                <a:latin typeface="Microsoft JhengHei"/>
                <a:ea typeface="Microsoft JhengHei"/>
                <a:cs typeface="Microsoft JhengHei"/>
                <a:sym typeface="Microsoft JhengHei"/>
              </a:defRPr>
            </a:pPr>
            <a:r>
              <a:t>Findings　研究發現</a:t>
            </a:r>
            <a:endParaRPr>
              <a:latin typeface="+mj-lt"/>
              <a:ea typeface="+mj-ea"/>
              <a:cs typeface="+mj-cs"/>
              <a:sym typeface="Calibri"/>
            </a:endParaRPr>
          </a:p>
          <a:p>
            <a:pPr>
              <a:spcBef>
                <a:spcPts val="300"/>
              </a:spcBef>
              <a:defRPr sz="1100">
                <a:solidFill>
                  <a:srgbClr val="1B2A22"/>
                </a:solidFill>
                <a:latin typeface="Microsoft JhengHei"/>
                <a:ea typeface="Microsoft JhengHei"/>
                <a:cs typeface="Microsoft JhengHei"/>
                <a:sym typeface="Microsoft JhengHei"/>
              </a:defRPr>
            </a:pPr>
            <a:r>
              <a:t>Red light — least preferred, more negative affect　紅光最不受偏好</a:t>
            </a:r>
            <a:endParaRPr>
              <a:latin typeface="+mj-lt"/>
              <a:ea typeface="+mj-ea"/>
              <a:cs typeface="+mj-cs"/>
              <a:sym typeface="Calibri"/>
            </a:endParaRPr>
          </a:p>
          <a:p>
            <a:pPr>
              <a:spcBef>
                <a:spcPts val="300"/>
              </a:spcBef>
              <a:defRPr sz="1100">
                <a:solidFill>
                  <a:srgbClr val="1B2A22"/>
                </a:solidFill>
                <a:latin typeface="Microsoft JhengHei"/>
                <a:ea typeface="Microsoft JhengHei"/>
                <a:cs typeface="Microsoft JhengHei"/>
                <a:sym typeface="Microsoft JhengHei"/>
              </a:defRPr>
            </a:pPr>
            <a:r>
              <a:t>Yellow and white light — more comfortable and stable　黃光與白光較舒適穩定</a:t>
            </a:r>
            <a:endParaRPr>
              <a:latin typeface="+mj-lt"/>
              <a:ea typeface="+mj-ea"/>
              <a:cs typeface="+mj-cs"/>
              <a:sym typeface="Calibri"/>
            </a:endParaRPr>
          </a:p>
          <a:p>
            <a:pPr>
              <a:spcBef>
                <a:spcPts val="500"/>
              </a:spcBef>
              <a:defRPr sz="1100">
                <a:solidFill>
                  <a:srgbClr val="1B2A22"/>
                </a:solidFill>
                <a:latin typeface="Microsoft JhengHei"/>
                <a:ea typeface="Microsoft JhengHei"/>
                <a:cs typeface="Microsoft JhengHei"/>
                <a:sym typeface="Microsoft JhengHei"/>
              </a:defRPr>
            </a:pPr>
            <a:r>
              <a:t>Mixed white light — most positive and most preferred　混合白光最受偏好</a:t>
            </a:r>
            <a:endParaRPr>
              <a:latin typeface="+mj-lt"/>
              <a:ea typeface="+mj-ea"/>
              <a:cs typeface="+mj-cs"/>
              <a:sym typeface="Calibri"/>
            </a:endParaRPr>
          </a:p>
          <a:p>
            <a:pPr>
              <a:lnSpc>
                <a:spcPct val="115000"/>
              </a:lnSpc>
              <a:defRPr sz="1000">
                <a:solidFill>
                  <a:srgbClr val="6F7C75"/>
                </a:solidFill>
                <a:latin typeface="Cambria"/>
                <a:ea typeface="Microsoft JhengHei"/>
                <a:cs typeface="Cambria"/>
                <a:sym typeface="Cambria"/>
              </a:defRPr>
            </a:pPr>
            <a:r>
              <a:t>Constructs: light intensity, brightness, visual and locomotor accessibility, prospect, refuge.</a:t>
            </a:r>
          </a:p>
        </p:txBody>
      </p:sp>
      <p:sp>
        <p:nvSpPr>
          <p:cNvPr id="770" name="TextBox 22"/>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771" name="TextBox 23"/>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29</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85"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02  ·  RESEARCH OUTCOMES  ·  COMMISSIONED RESEARCH  ·  委託研究</a:t>
            </a:r>
          </a:p>
        </p:txBody>
      </p:sp>
      <p:sp>
        <p:nvSpPr>
          <p:cNvPr id="786"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Commissioned Research Projects</a:t>
            </a:r>
          </a:p>
        </p:txBody>
      </p:sp>
      <p:sp>
        <p:nvSpPr>
          <p:cNvPr id="787"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承攬執行之委託研究計畫</a:t>
            </a:r>
          </a:p>
        </p:txBody>
      </p:sp>
      <p:graphicFrame>
        <p:nvGraphicFramePr>
          <p:cNvPr id="788" name="Table 4"/>
          <p:cNvGraphicFramePr/>
          <p:nvPr/>
        </p:nvGraphicFramePr>
        <p:xfrm>
          <a:off x="685800" y="1938527"/>
          <a:ext cx="7635241" cy="374904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434840"/>
                <a:gridCol w="2468880"/>
                <a:gridCol w="731520"/>
              </a:tblGrid>
              <a:tr h="347472">
                <a:tc>
                  <a:txBody>
                    <a:bodyPr/>
                    <a:lstStyle/>
                    <a:p>
                      <a:pPr algn="l">
                        <a:defRPr sz="1200">
                          <a:solidFill>
                            <a:srgbClr val="FFFFFF"/>
                          </a:solidFill>
                          <a:latin typeface="Cambria"/>
                          <a:ea typeface="Microsoft JhengHei"/>
                          <a:cs typeface="Cambria"/>
                          <a:sym typeface="Cambria"/>
                        </a:defRPr>
                      </a:pPr>
                      <a:r>
                        <a:t>Project </a:t>
                      </a:r>
                      <a:r>
                        <a:rPr b="1">
                          <a:latin typeface="Microsoft JhengHei"/>
                          <a:ea typeface="Microsoft JhengHei"/>
                          <a:cs typeface="Microsoft JhengHei"/>
                          <a:sym typeface="Microsoft JhengHei"/>
                        </a:rPr>
                        <a:t>計畫名稱</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2E6B4F"/>
                    </a:solidFill>
                  </a:tcPr>
                </a:tc>
                <a:tc>
                  <a:txBody>
                    <a:bodyPr/>
                    <a:lstStyle/>
                    <a:p>
                      <a:pPr algn="l">
                        <a:defRPr sz="1200">
                          <a:solidFill>
                            <a:srgbClr val="FFFFFF"/>
                          </a:solidFill>
                          <a:latin typeface="Cambria"/>
                          <a:ea typeface="Microsoft JhengHei"/>
                          <a:cs typeface="Cambria"/>
                          <a:sym typeface="Cambria"/>
                        </a:defRPr>
                      </a:pPr>
                      <a:r>
                        <a:t>Client </a:t>
                      </a:r>
                      <a:r>
                        <a:rPr b="1">
                          <a:latin typeface="Microsoft JhengHei"/>
                          <a:ea typeface="Microsoft JhengHei"/>
                          <a:cs typeface="Microsoft JhengHei"/>
                          <a:sym typeface="Microsoft JhengHei"/>
                        </a:rPr>
                        <a:t>委託單位</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2E6B4F"/>
                    </a:solidFill>
                  </a:tcPr>
                </a:tc>
                <a:tc>
                  <a:txBody>
                    <a:bodyPr/>
                    <a:lstStyle/>
                    <a:p>
                      <a:pPr algn="l">
                        <a:defRPr sz="1900"/>
                      </a:pPr>
                      <a:r>
                        <a:rPr sz="1200">
                          <a:solidFill>
                            <a:srgbClr val="FFFFFF"/>
                          </a:solidFill>
                          <a:latin typeface="Cambria"/>
                          <a:ea typeface="Microsoft JhengHei"/>
                          <a:cs typeface="Cambria"/>
                          <a:sym typeface="Cambria"/>
                        </a:rPr>
                        <a:t>Year</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2E6B4F"/>
                    </a:solidFill>
                  </a:tcPr>
                </a:tc>
              </a:tr>
              <a:tr h="566928">
                <a:tc>
                  <a:txBody>
                    <a:bodyPr/>
                    <a:lstStyle/>
                    <a:p>
                      <a:pPr algn="l">
                        <a:defRPr sz="900">
                          <a:solidFill>
                            <a:srgbClr val="1B2A22"/>
                          </a:solidFill>
                          <a:latin typeface="Cambria"/>
                          <a:ea typeface="Microsoft JhengHei"/>
                          <a:cs typeface="Cambria"/>
                          <a:sym typeface="Cambria"/>
                        </a:defRPr>
                      </a:pPr>
                      <a:r>
                        <a:t>Environmental improvement and horticultural-therapy zone design, Taoyuan DARES Taipei branch</a:t>
                      </a:r>
                    </a:p>
                    <a:p>
                      <a:pPr algn="l">
                        <a:defRPr sz="900">
                          <a:solidFill>
                            <a:srgbClr val="1B2A22"/>
                          </a:solidFill>
                          <a:latin typeface="Microsoft JhengHei"/>
                          <a:ea typeface="Microsoft JhengHei"/>
                          <a:cs typeface="Microsoft JhengHei"/>
                          <a:sym typeface="Microsoft JhengHei"/>
                        </a:defRPr>
                      </a:pPr>
                      <a:r>
                        <a:t>科技導入桃園改良場臺北分場環境改善規劃與園藝治療區環境設計研究</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FFFFFF"/>
                    </a:solidFill>
                  </a:tcPr>
                </a:tc>
                <a:tc>
                  <a:txBody>
                    <a:bodyPr/>
                    <a:lstStyle/>
                    <a:p>
                      <a:pPr algn="l">
                        <a:defRPr sz="900">
                          <a:solidFill>
                            <a:srgbClr val="1B2A22"/>
                          </a:solidFill>
                          <a:latin typeface="Cambria"/>
                          <a:ea typeface="Microsoft JhengHei"/>
                          <a:cs typeface="Cambria"/>
                          <a:sym typeface="Cambria"/>
                        </a:defRPr>
                      </a:pPr>
                      <a:r>
                        <a:t>Taoyuan DARES, MOA</a:t>
                      </a:r>
                    </a:p>
                    <a:p>
                      <a:pPr algn="l">
                        <a:defRPr sz="900">
                          <a:solidFill>
                            <a:srgbClr val="1B2A22"/>
                          </a:solidFill>
                          <a:latin typeface="Microsoft JhengHei"/>
                          <a:ea typeface="Microsoft JhengHei"/>
                          <a:cs typeface="Microsoft JhengHei"/>
                          <a:sym typeface="Microsoft JhengHei"/>
                        </a:defRPr>
                      </a:pPr>
                      <a:r>
                        <a:t>農業部桃園區農業改良場</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FFFFFF"/>
                    </a:solidFill>
                  </a:tcPr>
                </a:tc>
                <a:tc>
                  <a:txBody>
                    <a:bodyPr/>
                    <a:lstStyle/>
                    <a:p>
                      <a:pPr algn="l">
                        <a:defRPr sz="1900"/>
                      </a:pPr>
                      <a:r>
                        <a:rPr sz="900">
                          <a:solidFill>
                            <a:srgbClr val="1B2A22"/>
                          </a:solidFill>
                          <a:latin typeface="Cambria"/>
                          <a:ea typeface="Microsoft JhengHei"/>
                          <a:cs typeface="Cambria"/>
                          <a:sym typeface="Cambria"/>
                        </a:rPr>
                        <a:t>2024</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FFFFFF"/>
                    </a:solidFill>
                  </a:tcPr>
                </a:tc>
              </a:tr>
              <a:tr h="566928">
                <a:tc>
                  <a:txBody>
                    <a:bodyPr/>
                    <a:lstStyle/>
                    <a:p>
                      <a:pPr algn="l">
                        <a:defRPr sz="900">
                          <a:solidFill>
                            <a:srgbClr val="1B2A22"/>
                          </a:solidFill>
                          <a:latin typeface="Cambria"/>
                          <a:ea typeface="Microsoft JhengHei"/>
                          <a:cs typeface="Cambria"/>
                          <a:sym typeface="Cambria"/>
                        </a:defRPr>
                      </a:pPr>
                      <a:r>
                        <a:t>Northern Taiwan rural green-care guidance programme</a:t>
                      </a:r>
                    </a:p>
                    <a:p>
                      <a:pPr algn="l">
                        <a:defRPr sz="900">
                          <a:solidFill>
                            <a:srgbClr val="1B2A22"/>
                          </a:solidFill>
                          <a:latin typeface="Microsoft JhengHei"/>
                          <a:ea typeface="Microsoft JhengHei"/>
                          <a:cs typeface="Microsoft JhengHei"/>
                          <a:sym typeface="Microsoft JhengHei"/>
                        </a:defRPr>
                      </a:pPr>
                      <a:r>
                        <a:t>北區農村綠色照顧輔導計畫</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EEF3EF"/>
                    </a:solidFill>
                  </a:tcPr>
                </a:tc>
                <a:tc>
                  <a:txBody>
                    <a:bodyPr/>
                    <a:lstStyle/>
                    <a:p>
                      <a:pPr algn="l">
                        <a:defRPr sz="900">
                          <a:solidFill>
                            <a:srgbClr val="1B2A22"/>
                          </a:solidFill>
                          <a:latin typeface="Cambria"/>
                          <a:ea typeface="Microsoft JhengHei"/>
                          <a:cs typeface="Cambria"/>
                          <a:sym typeface="Cambria"/>
                        </a:defRPr>
                      </a:pPr>
                      <a:r>
                        <a:t>Rural Development and Soil and Water Conservation Agency, MOA</a:t>
                      </a:r>
                    </a:p>
                    <a:p>
                      <a:pPr algn="l">
                        <a:defRPr sz="900">
                          <a:solidFill>
                            <a:srgbClr val="1B2A22"/>
                          </a:solidFill>
                          <a:latin typeface="Microsoft JhengHei"/>
                          <a:ea typeface="Microsoft JhengHei"/>
                          <a:cs typeface="Microsoft JhengHei"/>
                          <a:sym typeface="Microsoft JhengHei"/>
                        </a:defRPr>
                      </a:pPr>
                      <a:r>
                        <a:t>農業部農村發展及水土保持署</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EEF3EF"/>
                    </a:solidFill>
                  </a:tcPr>
                </a:tc>
                <a:tc>
                  <a:txBody>
                    <a:bodyPr/>
                    <a:lstStyle/>
                    <a:p>
                      <a:pPr algn="l">
                        <a:defRPr sz="1900"/>
                      </a:pPr>
                      <a:r>
                        <a:rPr sz="900">
                          <a:solidFill>
                            <a:srgbClr val="1B2A22"/>
                          </a:solidFill>
                          <a:latin typeface="Cambria"/>
                          <a:ea typeface="Microsoft JhengHei"/>
                          <a:cs typeface="Cambria"/>
                          <a:sym typeface="Cambria"/>
                        </a:rPr>
                        <a:t>2024</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EEF3EF"/>
                    </a:solidFill>
                  </a:tcPr>
                </a:tc>
              </a:tr>
              <a:tr h="566928">
                <a:tc>
                  <a:txBody>
                    <a:bodyPr/>
                    <a:lstStyle/>
                    <a:p>
                      <a:pPr algn="l">
                        <a:defRPr sz="900">
                          <a:solidFill>
                            <a:srgbClr val="1B2A22"/>
                          </a:solidFill>
                          <a:latin typeface="Cambria"/>
                          <a:ea typeface="Microsoft JhengHei"/>
                          <a:cs typeface="Cambria"/>
                          <a:sym typeface="Cambria"/>
                        </a:defRPr>
                      </a:pPr>
                      <a:r>
                        <a:t>Northern Taiwan rural green-care guidance programme</a:t>
                      </a:r>
                    </a:p>
                    <a:p>
                      <a:pPr algn="l">
                        <a:defRPr sz="900">
                          <a:solidFill>
                            <a:srgbClr val="1B2A22"/>
                          </a:solidFill>
                          <a:latin typeface="Microsoft JhengHei"/>
                          <a:ea typeface="Microsoft JhengHei"/>
                          <a:cs typeface="Microsoft JhengHei"/>
                          <a:sym typeface="Microsoft JhengHei"/>
                        </a:defRPr>
                      </a:pPr>
                      <a:r>
                        <a:t>北區農村綠色照顧輔導計畫</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FFFFFF"/>
                    </a:solidFill>
                  </a:tcPr>
                </a:tc>
                <a:tc>
                  <a:txBody>
                    <a:bodyPr/>
                    <a:lstStyle/>
                    <a:p>
                      <a:pPr algn="l">
                        <a:defRPr sz="900">
                          <a:solidFill>
                            <a:srgbClr val="1B2A22"/>
                          </a:solidFill>
                          <a:latin typeface="Cambria"/>
                          <a:ea typeface="Microsoft JhengHei"/>
                          <a:cs typeface="Cambria"/>
                          <a:sym typeface="Cambria"/>
                        </a:defRPr>
                      </a:pPr>
                      <a:r>
                        <a:t>Balba Creative Development Consulting (industry–academia)</a:t>
                      </a:r>
                    </a:p>
                    <a:p>
                      <a:pPr algn="l">
                        <a:defRPr sz="900">
                          <a:solidFill>
                            <a:srgbClr val="1B2A22"/>
                          </a:solidFill>
                          <a:latin typeface="Microsoft JhengHei"/>
                          <a:ea typeface="Microsoft JhengHei"/>
                          <a:cs typeface="Microsoft JhengHei"/>
                          <a:sym typeface="Microsoft JhengHei"/>
                        </a:defRPr>
                      </a:pPr>
                      <a:r>
                        <a:t>巴爾巴創意開發管理顧問（產學合作）</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FFFFFF"/>
                    </a:solidFill>
                  </a:tcPr>
                </a:tc>
                <a:tc>
                  <a:txBody>
                    <a:bodyPr/>
                    <a:lstStyle/>
                    <a:p>
                      <a:pPr algn="l">
                        <a:defRPr sz="1900"/>
                      </a:pPr>
                      <a:r>
                        <a:rPr sz="900">
                          <a:solidFill>
                            <a:srgbClr val="1B2A22"/>
                          </a:solidFill>
                          <a:latin typeface="Cambria"/>
                          <a:ea typeface="Microsoft JhengHei"/>
                          <a:cs typeface="Cambria"/>
                          <a:sym typeface="Cambria"/>
                        </a:rPr>
                        <a:t>2025</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FFFFFF"/>
                    </a:solidFill>
                  </a:tcPr>
                </a:tc>
              </a:tr>
              <a:tr h="566928">
                <a:tc>
                  <a:txBody>
                    <a:bodyPr/>
                    <a:lstStyle/>
                    <a:p>
                      <a:pPr algn="l">
                        <a:defRPr sz="900">
                          <a:solidFill>
                            <a:srgbClr val="1B2A22"/>
                          </a:solidFill>
                          <a:latin typeface="Cambria"/>
                          <a:ea typeface="Microsoft JhengHei"/>
                          <a:cs typeface="Cambria"/>
                          <a:sym typeface="Cambria"/>
                        </a:defRPr>
                      </a:pPr>
                      <a:r>
                        <a:t>Landscape quality and human-friendliness around urban transport nodes: an AI-based assessment method</a:t>
                      </a:r>
                    </a:p>
                    <a:p>
                      <a:pPr algn="l">
                        <a:defRPr sz="900">
                          <a:solidFill>
                            <a:srgbClr val="1B2A22"/>
                          </a:solidFill>
                          <a:latin typeface="Microsoft JhengHei"/>
                          <a:ea typeface="Microsoft JhengHei"/>
                          <a:cs typeface="Microsoft JhengHei"/>
                          <a:sym typeface="Microsoft JhengHei"/>
                        </a:defRPr>
                      </a:pPr>
                      <a:r>
                        <a:t>探討都市交通節點周邊景觀美質與人本友善性：基於人工智慧的評估法</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EEF3EF"/>
                    </a:solidFill>
                  </a:tcPr>
                </a:tc>
                <a:tc>
                  <a:txBody>
                    <a:bodyPr/>
                    <a:lstStyle/>
                    <a:p>
                      <a:pPr algn="l">
                        <a:defRPr sz="900">
                          <a:solidFill>
                            <a:srgbClr val="1B2A22"/>
                          </a:solidFill>
                          <a:latin typeface="Cambria"/>
                          <a:ea typeface="Microsoft JhengHei"/>
                          <a:cs typeface="Cambria"/>
                          <a:sym typeface="Cambria"/>
                        </a:defRPr>
                      </a:pPr>
                      <a:r>
                        <a:t>CECI Engineering Consultants</a:t>
                      </a:r>
                    </a:p>
                    <a:p>
                      <a:pPr algn="l">
                        <a:defRPr sz="900">
                          <a:solidFill>
                            <a:srgbClr val="1B2A22"/>
                          </a:solidFill>
                          <a:latin typeface="Microsoft JhengHei"/>
                          <a:ea typeface="Microsoft JhengHei"/>
                          <a:cs typeface="Microsoft JhengHei"/>
                          <a:sym typeface="Microsoft JhengHei"/>
                        </a:defRPr>
                      </a:pPr>
                      <a:r>
                        <a:t>台灣世曦工程顧問</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EEF3EF"/>
                    </a:solidFill>
                  </a:tcPr>
                </a:tc>
                <a:tc>
                  <a:txBody>
                    <a:bodyPr/>
                    <a:lstStyle/>
                    <a:p>
                      <a:pPr algn="l">
                        <a:defRPr sz="1900"/>
                      </a:pPr>
                      <a:r>
                        <a:rPr sz="900">
                          <a:solidFill>
                            <a:srgbClr val="1B2A22"/>
                          </a:solidFill>
                          <a:latin typeface="Cambria"/>
                          <a:ea typeface="Microsoft JhengHei"/>
                          <a:cs typeface="Cambria"/>
                          <a:sym typeface="Cambria"/>
                        </a:rPr>
                        <a:t>2025</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EEF3EF"/>
                    </a:solidFill>
                  </a:tcPr>
                </a:tc>
              </a:tr>
              <a:tr h="566928">
                <a:tc>
                  <a:txBody>
                    <a:bodyPr/>
                    <a:lstStyle/>
                    <a:p>
                      <a:pPr algn="l">
                        <a:defRPr sz="900">
                          <a:solidFill>
                            <a:srgbClr val="1B2A22"/>
                          </a:solidFill>
                          <a:latin typeface="Cambria"/>
                          <a:ea typeface="Microsoft JhengHei"/>
                          <a:cs typeface="Cambria"/>
                          <a:sym typeface="Cambria"/>
                        </a:defRPr>
                      </a:pPr>
                      <a:r>
                        <a:t>VR-assisted participatory design for urban renewal</a:t>
                      </a:r>
                    </a:p>
                    <a:p>
                      <a:pPr algn="l">
                        <a:defRPr sz="900">
                          <a:solidFill>
                            <a:srgbClr val="1B2A22"/>
                          </a:solidFill>
                          <a:latin typeface="Microsoft JhengHei"/>
                          <a:ea typeface="Microsoft JhengHei"/>
                          <a:cs typeface="Microsoft JhengHei"/>
                          <a:sym typeface="Microsoft JhengHei"/>
                        </a:defRPr>
                      </a:pPr>
                      <a:r>
                        <a:t>虛擬實境輔助都市更新參與式設計</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FFFFFF"/>
                    </a:solidFill>
                  </a:tcPr>
                </a:tc>
                <a:tc>
                  <a:txBody>
                    <a:bodyPr/>
                    <a:lstStyle/>
                    <a:p>
                      <a:pPr algn="l">
                        <a:defRPr sz="900">
                          <a:solidFill>
                            <a:srgbClr val="1B2A22"/>
                          </a:solidFill>
                          <a:latin typeface="Cambria"/>
                          <a:ea typeface="Microsoft JhengHei"/>
                          <a:cs typeface="Cambria"/>
                          <a:sym typeface="Cambria"/>
                        </a:defRPr>
                      </a:pPr>
                      <a:r>
                        <a:t>Taipei Urban Regeneration Office; Jing-Dian Landscape</a:t>
                      </a:r>
                    </a:p>
                    <a:p>
                      <a:pPr algn="l">
                        <a:defRPr sz="900">
                          <a:solidFill>
                            <a:srgbClr val="1B2A22"/>
                          </a:solidFill>
                          <a:latin typeface="Microsoft JhengHei"/>
                          <a:ea typeface="Microsoft JhengHei"/>
                          <a:cs typeface="Microsoft JhengHei"/>
                          <a:sym typeface="Microsoft JhengHei"/>
                        </a:defRPr>
                      </a:pPr>
                      <a:r>
                        <a:t>臺北市都市更新處、經典景觀工程顧問</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FFFFFF"/>
                    </a:solidFill>
                  </a:tcPr>
                </a:tc>
                <a:tc>
                  <a:txBody>
                    <a:bodyPr/>
                    <a:lstStyle/>
                    <a:p>
                      <a:pPr algn="l">
                        <a:defRPr sz="1900"/>
                      </a:pPr>
                      <a:r>
                        <a:rPr sz="900">
                          <a:solidFill>
                            <a:srgbClr val="1B2A22"/>
                          </a:solidFill>
                          <a:latin typeface="Cambria"/>
                          <a:ea typeface="Microsoft JhengHei"/>
                          <a:cs typeface="Cambria"/>
                          <a:sym typeface="Cambria"/>
                        </a:rPr>
                        <a:t>2024</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FFFFFF"/>
                    </a:solidFill>
                  </a:tcPr>
                </a:tc>
              </a:tr>
              <a:tr h="566928">
                <a:tc>
                  <a:txBody>
                    <a:bodyPr/>
                    <a:lstStyle/>
                    <a:p>
                      <a:pPr algn="l">
                        <a:defRPr sz="900">
                          <a:solidFill>
                            <a:srgbClr val="1B2A22"/>
                          </a:solidFill>
                          <a:latin typeface="Cambria"/>
                          <a:ea typeface="Microsoft JhengHei"/>
                          <a:cs typeface="Cambria"/>
                          <a:sym typeface="Cambria"/>
                        </a:defRPr>
                      </a:pPr>
                      <a:r>
                        <a:t>VR for mower and tiller training (supporting role)</a:t>
                      </a:r>
                    </a:p>
                    <a:p>
                      <a:pPr algn="l">
                        <a:defRPr sz="900">
                          <a:solidFill>
                            <a:srgbClr val="1B2A22"/>
                          </a:solidFill>
                          <a:latin typeface="Cambria"/>
                          <a:ea typeface="Microsoft JhengHei"/>
                          <a:cs typeface="Cambria"/>
                          <a:sym typeface="Cambria"/>
                        </a:defRPr>
                      </a:pPr>
                      <a:r>
                        <a:t>VR </a:t>
                      </a:r>
                      <a:r>
                        <a:rPr>
                          <a:latin typeface="Microsoft JhengHei"/>
                          <a:ea typeface="Microsoft JhengHei"/>
                          <a:cs typeface="Microsoft JhengHei"/>
                          <a:sym typeface="Microsoft JhengHei"/>
                        </a:rPr>
                        <a:t>於割草機及中耕機教育訓練之應用（協助執行）</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EEF3EF"/>
                    </a:solidFill>
                  </a:tcPr>
                </a:tc>
                <a:tc>
                  <a:txBody>
                    <a:bodyPr/>
                    <a:lstStyle/>
                    <a:p>
                      <a:pPr algn="l">
                        <a:defRPr sz="900">
                          <a:solidFill>
                            <a:srgbClr val="1B2A22"/>
                          </a:solidFill>
                          <a:latin typeface="Cambria"/>
                          <a:ea typeface="Microsoft JhengHei"/>
                          <a:cs typeface="Cambria"/>
                          <a:sym typeface="Cambria"/>
                        </a:defRPr>
                      </a:pPr>
                      <a:r>
                        <a:t>Taoyuan DARES via NTU Smart Agriculture Center</a:t>
                      </a:r>
                    </a:p>
                    <a:p>
                      <a:pPr algn="l">
                        <a:defRPr sz="900">
                          <a:solidFill>
                            <a:srgbClr val="1B2A22"/>
                          </a:solidFill>
                          <a:latin typeface="Microsoft JhengHei"/>
                          <a:ea typeface="Microsoft JhengHei"/>
                          <a:cs typeface="Microsoft JhengHei"/>
                          <a:sym typeface="Microsoft JhengHei"/>
                        </a:defRPr>
                      </a:pPr>
                      <a:r>
                        <a:t>桃園場委託臺大智慧農業中心</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EEF3EF"/>
                    </a:solidFill>
                  </a:tcPr>
                </a:tc>
                <a:tc>
                  <a:txBody>
                    <a:bodyPr/>
                    <a:lstStyle/>
                    <a:p>
                      <a:pPr algn="l">
                        <a:defRPr sz="1900"/>
                      </a:pPr>
                      <a:r>
                        <a:rPr sz="900">
                          <a:solidFill>
                            <a:srgbClr val="1B2A22"/>
                          </a:solidFill>
                          <a:latin typeface="Cambria"/>
                          <a:ea typeface="Microsoft JhengHei"/>
                          <a:cs typeface="Cambria"/>
                          <a:sym typeface="Cambria"/>
                        </a:rPr>
                        <a:t>2024</a:t>
                      </a:r>
                    </a:p>
                  </a:txBody>
                  <a:tcPr marL="54864" marR="54864" marT="54864" marB="54864" anchor="ctr" anchorCtr="0" horzOverflow="overflow">
                    <a:lnL>
                      <a:solidFill>
                        <a:srgbClr val="FFFFFF"/>
                      </a:solidFill>
                    </a:lnL>
                    <a:lnR>
                      <a:solidFill>
                        <a:srgbClr val="FFFFFF"/>
                      </a:solidFill>
                    </a:lnR>
                    <a:lnT>
                      <a:solidFill>
                        <a:srgbClr val="FFFFFF"/>
                      </a:solidFill>
                    </a:lnT>
                    <a:lnB>
                      <a:solidFill>
                        <a:srgbClr val="FFFFFF"/>
                      </a:solidFill>
                    </a:lnB>
                    <a:solidFill>
                      <a:srgbClr val="EEF3EF"/>
                    </a:solidFill>
                  </a:tcPr>
                </a:tc>
              </a:tr>
            </a:tbl>
          </a:graphicData>
        </a:graphic>
      </p:graphicFrame>
      <p:pic>
        <p:nvPicPr>
          <p:cNvPr id="789" name="Picture 5" descr="Picture 5"/>
          <p:cNvPicPr>
            <a:picLocks noChangeAspect="1"/>
          </p:cNvPicPr>
          <p:nvPr/>
        </p:nvPicPr>
        <p:blipFill>
          <a:blip r:embed="rId3">
            <a:extLst/>
          </a:blip>
          <a:srcRect l="9475" t="0" r="9475" b="0"/>
          <a:stretch>
            <a:fillRect/>
          </a:stretch>
        </p:blipFill>
        <p:spPr>
          <a:xfrm>
            <a:off x="8549639" y="1938527"/>
            <a:ext cx="2953514" cy="2148841"/>
          </a:xfrm>
          <a:prstGeom prst="rect">
            <a:avLst/>
          </a:prstGeom>
          <a:ln w="12700">
            <a:miter lim="400000"/>
          </a:ln>
        </p:spPr>
      </p:pic>
      <p:sp>
        <p:nvSpPr>
          <p:cNvPr id="790" name="Rounded Rectangle 6"/>
          <p:cNvSpPr/>
          <p:nvPr/>
        </p:nvSpPr>
        <p:spPr>
          <a:xfrm>
            <a:off x="8549640" y="4224528"/>
            <a:ext cx="2953514" cy="201168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791" name="TextBox 7"/>
          <p:cNvSpPr txBox="1"/>
          <p:nvPr/>
        </p:nvSpPr>
        <p:spPr>
          <a:xfrm>
            <a:off x="8796528" y="4462271"/>
            <a:ext cx="2459736" cy="131558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500"/>
              </a:spcBef>
              <a:defRPr sz="1300">
                <a:solidFill>
                  <a:srgbClr val="2E6B4F"/>
                </a:solidFill>
                <a:latin typeface="Cambria"/>
                <a:ea typeface="Microsoft JhengHei"/>
                <a:cs typeface="Cambria"/>
                <a:sym typeface="Cambria"/>
              </a:defRPr>
            </a:pPr>
            <a:r>
              <a:t>Market validation across sectors</a:t>
            </a:r>
            <a:endParaRPr>
              <a:latin typeface="+mj-lt"/>
              <a:ea typeface="+mj-ea"/>
              <a:cs typeface="+mj-cs"/>
              <a:sym typeface="Calibri"/>
            </a:endParaRPr>
          </a:p>
          <a:p>
            <a:pPr>
              <a:lnSpc>
                <a:spcPct val="117999"/>
              </a:lnSpc>
              <a:spcBef>
                <a:spcPts val="500"/>
              </a:spcBef>
              <a:defRPr sz="1100">
                <a:solidFill>
                  <a:srgbClr val="1B2A22"/>
                </a:solidFill>
                <a:latin typeface="Cambria"/>
                <a:ea typeface="Microsoft JhengHei"/>
                <a:cs typeface="Cambria"/>
                <a:sym typeface="Cambria"/>
              </a:defRPr>
            </a:pPr>
            <a:r>
              <a:t>Clients span central ministries, city government and private consultancies — evidence that the center's technical capability has been tested outside academia.</a:t>
            </a:r>
            <a:endParaRPr>
              <a:latin typeface="+mj-lt"/>
              <a:ea typeface="+mj-ea"/>
              <a:cs typeface="+mj-cs"/>
              <a:sym typeface="Calibri"/>
            </a:endParaRPr>
          </a:p>
          <a:p>
            <a:pPr>
              <a:lnSpc>
                <a:spcPct val="115000"/>
              </a:lnSpc>
              <a:defRPr sz="1000">
                <a:solidFill>
                  <a:srgbClr val="6F7C75"/>
                </a:solidFill>
                <a:latin typeface="Microsoft JhengHei"/>
                <a:ea typeface="Microsoft JhengHei"/>
                <a:cs typeface="Microsoft JhengHei"/>
                <a:sym typeface="Microsoft JhengHei"/>
              </a:defRPr>
            </a:pPr>
            <a:r>
              <a:t>委託來源涵蓋中央部會、地方政府與民間工程顧問公司。</a:t>
            </a:r>
          </a:p>
        </p:txBody>
      </p:sp>
      <p:sp>
        <p:nvSpPr>
          <p:cNvPr id="792" name="TextBox 8"/>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793" name="TextBox 9"/>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30</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5" name="Rectangle 1"/>
          <p:cNvSpPr/>
          <p:nvPr/>
        </p:nvSpPr>
        <p:spPr>
          <a:xfrm>
            <a:off x="-54866" y="-54865"/>
            <a:ext cx="12301427" cy="6967729"/>
          </a:xfrm>
          <a:prstGeom prst="rect">
            <a:avLst/>
          </a:prstGeom>
          <a:solidFill>
            <a:srgbClr val="143529"/>
          </a:solidFill>
          <a:ln w="12700">
            <a:miter lim="400000"/>
          </a:ln>
        </p:spPr>
        <p:txBody>
          <a:bodyPr lIns="45718" tIns="45718" rIns="45718" bIns="45718" anchor="ctr"/>
          <a:lstStyle/>
          <a:p>
            <a:pPr algn="ctr">
              <a:defRPr>
                <a:solidFill>
                  <a:srgbClr val="FFFFFF"/>
                </a:solidFill>
              </a:defRPr>
            </a:pPr>
          </a:p>
        </p:txBody>
      </p:sp>
      <p:sp>
        <p:nvSpPr>
          <p:cNvPr id="776" name="TextBox 2"/>
          <p:cNvSpPr txBox="1"/>
          <p:nvPr/>
        </p:nvSpPr>
        <p:spPr>
          <a:xfrm>
            <a:off x="685800" y="1691638"/>
            <a:ext cx="2743200" cy="1092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7400">
                <a:solidFill>
                  <a:srgbClr val="2A5A44"/>
                </a:solidFill>
                <a:latin typeface="Cambria"/>
                <a:ea typeface="Microsoft JhengHei"/>
                <a:cs typeface="Cambria"/>
                <a:sym typeface="Cambria"/>
              </a:defRPr>
            </a:lvl1pPr>
          </a:lstStyle>
          <a:p>
            <a:pPr/>
            <a:r>
              <a:t>03</a:t>
            </a:r>
          </a:p>
        </p:txBody>
      </p:sp>
      <p:sp>
        <p:nvSpPr>
          <p:cNvPr id="777" name="TextBox 3"/>
          <p:cNvSpPr txBox="1"/>
          <p:nvPr/>
        </p:nvSpPr>
        <p:spPr>
          <a:xfrm>
            <a:off x="685799" y="3063238"/>
            <a:ext cx="10820097" cy="596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4000">
                <a:solidFill>
                  <a:srgbClr val="FFFFFF"/>
                </a:solidFill>
                <a:latin typeface="Cambria"/>
                <a:ea typeface="Microsoft JhengHei"/>
                <a:cs typeface="Cambria"/>
                <a:sym typeface="Cambria"/>
              </a:defRPr>
            </a:lvl1pPr>
          </a:lstStyle>
          <a:p>
            <a:pPr/>
            <a:r>
              <a:t>Talent and Education</a:t>
            </a:r>
          </a:p>
        </p:txBody>
      </p:sp>
      <p:sp>
        <p:nvSpPr>
          <p:cNvPr id="778" name="TextBox 4"/>
          <p:cNvSpPr txBox="1"/>
          <p:nvPr/>
        </p:nvSpPr>
        <p:spPr>
          <a:xfrm>
            <a:off x="685799" y="3913632"/>
            <a:ext cx="10820097"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200">
                <a:solidFill>
                  <a:srgbClr val="8FB09C"/>
                </a:solidFill>
                <a:latin typeface="Microsoft JhengHei"/>
                <a:ea typeface="Microsoft JhengHei"/>
                <a:cs typeface="Microsoft JhengHei"/>
                <a:sym typeface="Microsoft JhengHei"/>
              </a:defRPr>
            </a:lvl1pPr>
          </a:lstStyle>
          <a:p>
            <a:pPr/>
            <a:r>
              <a:t>人才與教育</a:t>
            </a:r>
          </a:p>
        </p:txBody>
      </p:sp>
      <p:sp>
        <p:nvSpPr>
          <p:cNvPr id="779" name="TextBox 5"/>
          <p:cNvSpPr txBox="1"/>
          <p:nvPr/>
        </p:nvSpPr>
        <p:spPr>
          <a:xfrm>
            <a:off x="685799" y="4709159"/>
            <a:ext cx="7863841"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400">
                <a:solidFill>
                  <a:srgbClr val="C6D5CB"/>
                </a:solidFill>
                <a:latin typeface="Cambria"/>
                <a:ea typeface="Microsoft JhengHei"/>
                <a:cs typeface="Cambria"/>
                <a:sym typeface="Cambria"/>
              </a:defRPr>
            </a:pPr>
            <a:r>
              <a:t>Curriculum, student ventures, exhibitions and media.</a:t>
            </a:r>
            <a:endParaRPr>
              <a:latin typeface="+mj-lt"/>
              <a:ea typeface="+mj-ea"/>
              <a:cs typeface="+mj-cs"/>
              <a:sym typeface="Calibri"/>
            </a:endParaRPr>
          </a:p>
          <a:p>
            <a:pPr>
              <a:defRPr sz="1200">
                <a:solidFill>
                  <a:srgbClr val="8FB09C"/>
                </a:solidFill>
                <a:latin typeface="Microsoft JhengHei"/>
                <a:ea typeface="Microsoft JhengHei"/>
                <a:cs typeface="Microsoft JhengHei"/>
                <a:sym typeface="Microsoft JhengHei"/>
              </a:defRPr>
            </a:pPr>
            <a:r>
              <a:t>課程教學、學生創業、展覽與媒體推廣。</a:t>
            </a:r>
          </a:p>
        </p:txBody>
      </p:sp>
      <p:sp>
        <p:nvSpPr>
          <p:cNvPr id="780" name="TextBox 6"/>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8FB09C"/>
                </a:solidFill>
                <a:latin typeface="Cambria"/>
                <a:ea typeface="Microsoft JhengHei"/>
                <a:cs typeface="Cambria"/>
                <a:sym typeface="Cambria"/>
              </a:defRPr>
            </a:lvl1pPr>
          </a:lstStyle>
          <a:p>
            <a:pPr/>
            <a:r>
              <a:t>Green Health Research Center  ·  NTU College of Bioresources and Agriculture</a:t>
            </a:r>
          </a:p>
        </p:txBody>
      </p:sp>
      <p:sp>
        <p:nvSpPr>
          <p:cNvPr id="781" name="TextBox 7"/>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8FB09C"/>
                </a:solidFill>
                <a:latin typeface="Cambria"/>
                <a:ea typeface="Microsoft JhengHei"/>
                <a:cs typeface="Cambria"/>
                <a:sym typeface="Cambria"/>
              </a:defRPr>
            </a:lvl1pPr>
          </a:lstStyle>
          <a:p>
            <a:pPr/>
            <a:r>
              <a:t>31</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97"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03  ·  TALENT AND EDUCATION  ·  人才與教育</a:t>
            </a:r>
          </a:p>
        </p:txBody>
      </p:sp>
      <p:sp>
        <p:nvSpPr>
          <p:cNvPr id="798" name="TextBox 2"/>
          <p:cNvSpPr txBox="1"/>
          <p:nvPr/>
        </p:nvSpPr>
        <p:spPr>
          <a:xfrm>
            <a:off x="685799" y="603504"/>
            <a:ext cx="10820097"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2700">
                <a:solidFill>
                  <a:srgbClr val="1B2A22"/>
                </a:solidFill>
                <a:latin typeface="Cambria"/>
                <a:ea typeface="Microsoft JhengHei"/>
                <a:cs typeface="Cambria"/>
                <a:sym typeface="Cambria"/>
              </a:defRPr>
            </a:lvl1pPr>
          </a:lstStyle>
          <a:p>
            <a:pPr/>
            <a:r>
              <a:t>Student Innovation Awards, Three Cycles Running</a:t>
            </a:r>
          </a:p>
        </p:txBody>
      </p:sp>
      <p:sp>
        <p:nvSpPr>
          <p:cNvPr id="799"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學生創新創業　連續三屆獲獎</a:t>
            </a:r>
          </a:p>
        </p:txBody>
      </p:sp>
      <p:sp>
        <p:nvSpPr>
          <p:cNvPr id="800" name="Rounded Rectangle 4"/>
          <p:cNvSpPr/>
          <p:nvPr/>
        </p:nvSpPr>
        <p:spPr>
          <a:xfrm>
            <a:off x="685800" y="1938527"/>
            <a:ext cx="6903720" cy="1133857"/>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801" name="TextBox 5"/>
          <p:cNvSpPr txBox="1"/>
          <p:nvPr/>
        </p:nvSpPr>
        <p:spPr>
          <a:xfrm>
            <a:off x="960119" y="2157983"/>
            <a:ext cx="141732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B08640"/>
                </a:solidFill>
                <a:latin typeface="Microsoft JhengHei"/>
                <a:ea typeface="Microsoft JhengHei"/>
                <a:cs typeface="Microsoft JhengHei"/>
                <a:sym typeface="Microsoft JhengHei"/>
              </a:defRPr>
            </a:lvl1pPr>
          </a:lstStyle>
          <a:p>
            <a:pPr/>
            <a:r>
              <a:t>Silver　銀獎</a:t>
            </a:r>
          </a:p>
        </p:txBody>
      </p:sp>
      <p:sp>
        <p:nvSpPr>
          <p:cNvPr id="802" name="TextBox 6"/>
          <p:cNvSpPr txBox="1"/>
          <p:nvPr/>
        </p:nvSpPr>
        <p:spPr>
          <a:xfrm>
            <a:off x="960119" y="2505455"/>
            <a:ext cx="1417322"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1B2A22"/>
                </a:solidFill>
                <a:latin typeface="Cambria"/>
                <a:ea typeface="Microsoft JhengHei"/>
                <a:cs typeface="Cambria"/>
                <a:sym typeface="Cambria"/>
              </a:defRPr>
            </a:lvl1pPr>
          </a:lstStyle>
          <a:p>
            <a:pPr/>
            <a:r>
              <a:t>2022</a:t>
            </a:r>
          </a:p>
        </p:txBody>
      </p:sp>
      <p:sp>
        <p:nvSpPr>
          <p:cNvPr id="803" name="TextBox 7"/>
          <p:cNvSpPr txBox="1"/>
          <p:nvPr/>
        </p:nvSpPr>
        <p:spPr>
          <a:xfrm>
            <a:off x="2560320" y="2121406"/>
            <a:ext cx="4754880"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1B2A22"/>
                </a:solidFill>
                <a:latin typeface="Microsoft JhengHei"/>
                <a:ea typeface="Microsoft JhengHei"/>
                <a:cs typeface="Microsoft JhengHei"/>
                <a:sym typeface="Microsoft JhengHei"/>
              </a:defRPr>
            </a:lvl1pPr>
          </a:lstStyle>
          <a:p>
            <a:pPr/>
            <a:r>
              <a:t>Digital Nature　數位自然</a:t>
            </a:r>
          </a:p>
        </p:txBody>
      </p:sp>
      <p:sp>
        <p:nvSpPr>
          <p:cNvPr id="804" name="TextBox 8"/>
          <p:cNvSpPr txBox="1"/>
          <p:nvPr/>
        </p:nvSpPr>
        <p:spPr>
          <a:xfrm>
            <a:off x="2560320" y="2450592"/>
            <a:ext cx="4754880" cy="4724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000">
                <a:solidFill>
                  <a:srgbClr val="1B2A22"/>
                </a:solidFill>
                <a:latin typeface="Cambria"/>
                <a:ea typeface="Microsoft JhengHei"/>
                <a:cs typeface="Cambria"/>
                <a:sym typeface="Cambria"/>
              </a:defRPr>
            </a:pPr>
            <a:r>
              <a:t>A VR healing-experience team, later invited to exhibit at Bio Asia-Taiwan and the Senior Health Industry Expo.</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VR 療癒體驗團隊，後獲邀參展 Bio Asia-Taiwan 及高齡健康產業博覽會。</a:t>
            </a:r>
          </a:p>
        </p:txBody>
      </p:sp>
      <p:sp>
        <p:nvSpPr>
          <p:cNvPr id="805" name="Rounded Rectangle 9"/>
          <p:cNvSpPr/>
          <p:nvPr/>
        </p:nvSpPr>
        <p:spPr>
          <a:xfrm>
            <a:off x="685800" y="3236976"/>
            <a:ext cx="6903720" cy="1133858"/>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806" name="TextBox 10"/>
          <p:cNvSpPr txBox="1"/>
          <p:nvPr/>
        </p:nvSpPr>
        <p:spPr>
          <a:xfrm>
            <a:off x="960119" y="3456432"/>
            <a:ext cx="141732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B08640"/>
                </a:solidFill>
                <a:latin typeface="Microsoft JhengHei"/>
                <a:ea typeface="Microsoft JhengHei"/>
                <a:cs typeface="Microsoft JhengHei"/>
                <a:sym typeface="Microsoft JhengHei"/>
              </a:defRPr>
            </a:lvl1pPr>
          </a:lstStyle>
          <a:p>
            <a:pPr/>
            <a:r>
              <a:t>Gold　金獎</a:t>
            </a:r>
          </a:p>
        </p:txBody>
      </p:sp>
      <p:sp>
        <p:nvSpPr>
          <p:cNvPr id="807" name="TextBox 11"/>
          <p:cNvSpPr txBox="1"/>
          <p:nvPr/>
        </p:nvSpPr>
        <p:spPr>
          <a:xfrm>
            <a:off x="960119" y="3803903"/>
            <a:ext cx="1417322"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1B2A22"/>
                </a:solidFill>
                <a:latin typeface="Cambria"/>
                <a:ea typeface="Microsoft JhengHei"/>
                <a:cs typeface="Cambria"/>
                <a:sym typeface="Cambria"/>
              </a:defRPr>
            </a:lvl1pPr>
          </a:lstStyle>
          <a:p>
            <a:pPr/>
            <a:r>
              <a:t>2023</a:t>
            </a:r>
          </a:p>
        </p:txBody>
      </p:sp>
      <p:sp>
        <p:nvSpPr>
          <p:cNvPr id="808" name="TextBox 12"/>
          <p:cNvSpPr txBox="1"/>
          <p:nvPr/>
        </p:nvSpPr>
        <p:spPr>
          <a:xfrm>
            <a:off x="2560320" y="3419854"/>
            <a:ext cx="475488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1B2A22"/>
                </a:solidFill>
                <a:latin typeface="Microsoft JhengHei"/>
                <a:ea typeface="Microsoft JhengHei"/>
                <a:cs typeface="Microsoft JhengHei"/>
                <a:sym typeface="Microsoft JhengHei"/>
              </a:defRPr>
            </a:lvl1pPr>
          </a:lstStyle>
          <a:p>
            <a:pPr/>
            <a:r>
              <a:t>Mindful Wanderer</a:t>
            </a:r>
          </a:p>
        </p:txBody>
      </p:sp>
      <p:sp>
        <p:nvSpPr>
          <p:cNvPr id="809" name="TextBox 13"/>
          <p:cNvSpPr txBox="1"/>
          <p:nvPr/>
        </p:nvSpPr>
        <p:spPr>
          <a:xfrm>
            <a:off x="2560320" y="3749037"/>
            <a:ext cx="4754880" cy="3187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000">
                <a:solidFill>
                  <a:srgbClr val="1B2A22"/>
                </a:solidFill>
                <a:latin typeface="Cambria"/>
                <a:ea typeface="Microsoft JhengHei"/>
                <a:cs typeface="Cambria"/>
                <a:sym typeface="Cambria"/>
              </a:defRPr>
            </a:pPr>
            <a:r>
              <a:t>A spontaneous-travel service design pairing randomness with mindfulness.</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即興出遊服務設計，結合隨機性與正念體驗的旅遊模式。</a:t>
            </a:r>
          </a:p>
        </p:txBody>
      </p:sp>
      <p:sp>
        <p:nvSpPr>
          <p:cNvPr id="810" name="Rounded Rectangle 14"/>
          <p:cNvSpPr/>
          <p:nvPr/>
        </p:nvSpPr>
        <p:spPr>
          <a:xfrm>
            <a:off x="685800" y="4535423"/>
            <a:ext cx="6903720" cy="1133858"/>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811" name="TextBox 15"/>
          <p:cNvSpPr txBox="1"/>
          <p:nvPr/>
        </p:nvSpPr>
        <p:spPr>
          <a:xfrm>
            <a:off x="960119" y="4754879"/>
            <a:ext cx="141732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B08640"/>
                </a:solidFill>
                <a:latin typeface="Microsoft JhengHei"/>
                <a:ea typeface="Microsoft JhengHei"/>
                <a:cs typeface="Microsoft JhengHei"/>
                <a:sym typeface="Microsoft JhengHei"/>
              </a:defRPr>
            </a:lvl1pPr>
          </a:lstStyle>
          <a:p>
            <a:pPr/>
            <a:r>
              <a:t>Gold　金獎</a:t>
            </a:r>
          </a:p>
        </p:txBody>
      </p:sp>
      <p:sp>
        <p:nvSpPr>
          <p:cNvPr id="812" name="TextBox 16"/>
          <p:cNvSpPr txBox="1"/>
          <p:nvPr/>
        </p:nvSpPr>
        <p:spPr>
          <a:xfrm>
            <a:off x="960119" y="5102352"/>
            <a:ext cx="1417322"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1B2A22"/>
                </a:solidFill>
                <a:latin typeface="Cambria"/>
                <a:ea typeface="Microsoft JhengHei"/>
                <a:cs typeface="Cambria"/>
                <a:sym typeface="Cambria"/>
              </a:defRPr>
            </a:lvl1pPr>
          </a:lstStyle>
          <a:p>
            <a:pPr/>
            <a:r>
              <a:t>2025</a:t>
            </a:r>
          </a:p>
        </p:txBody>
      </p:sp>
      <p:sp>
        <p:nvSpPr>
          <p:cNvPr id="813" name="TextBox 17"/>
          <p:cNvSpPr txBox="1"/>
          <p:nvPr/>
        </p:nvSpPr>
        <p:spPr>
          <a:xfrm>
            <a:off x="2560320" y="4718303"/>
            <a:ext cx="475488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1B2A22"/>
                </a:solidFill>
                <a:latin typeface="Microsoft JhengHei"/>
                <a:ea typeface="Microsoft JhengHei"/>
                <a:cs typeface="Microsoft JhengHei"/>
                <a:sym typeface="Microsoft JhengHei"/>
              </a:defRPr>
            </a:lvl1pPr>
          </a:lstStyle>
          <a:p>
            <a:pPr/>
            <a:r>
              <a:t>Eco LeARn</a:t>
            </a:r>
          </a:p>
        </p:txBody>
      </p:sp>
      <p:sp>
        <p:nvSpPr>
          <p:cNvPr id="814" name="TextBox 18"/>
          <p:cNvSpPr txBox="1"/>
          <p:nvPr/>
        </p:nvSpPr>
        <p:spPr>
          <a:xfrm>
            <a:off x="2560320" y="5047488"/>
            <a:ext cx="4754880" cy="3187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000">
                <a:solidFill>
                  <a:srgbClr val="1B2A22"/>
                </a:solidFill>
                <a:latin typeface="Cambria"/>
                <a:ea typeface="Microsoft JhengHei"/>
                <a:cs typeface="Cambria"/>
                <a:sym typeface="Cambria"/>
              </a:defRPr>
            </a:pPr>
            <a:r>
              <a:t>An AR nature-education app that turns outdoor environmental education into a game.</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自然教育 AR 學習應用程式，將戶外環境教育遊戲化。</a:t>
            </a:r>
          </a:p>
        </p:txBody>
      </p:sp>
      <p:pic>
        <p:nvPicPr>
          <p:cNvPr id="815" name="Picture 19" descr="Picture 19"/>
          <p:cNvPicPr>
            <a:picLocks noChangeAspect="1"/>
          </p:cNvPicPr>
          <p:nvPr/>
        </p:nvPicPr>
        <p:blipFill>
          <a:blip r:embed="rId3">
            <a:extLst/>
          </a:blip>
          <a:srcRect l="3632" t="0" r="3632" b="0"/>
          <a:stretch>
            <a:fillRect/>
          </a:stretch>
        </p:blipFill>
        <p:spPr>
          <a:xfrm>
            <a:off x="7818119" y="1938527"/>
            <a:ext cx="3685034" cy="2651762"/>
          </a:xfrm>
          <a:prstGeom prst="rect">
            <a:avLst/>
          </a:prstGeom>
          <a:ln w="12700">
            <a:miter lim="400000"/>
          </a:ln>
        </p:spPr>
      </p:pic>
      <p:sp>
        <p:nvSpPr>
          <p:cNvPr id="816" name="Rounded Rectangle 20"/>
          <p:cNvSpPr/>
          <p:nvPr/>
        </p:nvSpPr>
        <p:spPr>
          <a:xfrm>
            <a:off x="7818118" y="4754879"/>
            <a:ext cx="3685034" cy="1481330"/>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817" name="TextBox 21"/>
          <p:cNvSpPr txBox="1"/>
          <p:nvPr/>
        </p:nvSpPr>
        <p:spPr>
          <a:xfrm>
            <a:off x="8065006" y="4983479"/>
            <a:ext cx="3191258" cy="8944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7999"/>
              </a:lnSpc>
              <a:spcBef>
                <a:spcPts val="500"/>
              </a:spcBef>
              <a:defRPr sz="1100">
                <a:solidFill>
                  <a:srgbClr val="1B2A22"/>
                </a:solidFill>
                <a:latin typeface="Cambria"/>
                <a:ea typeface="Microsoft JhengHei"/>
                <a:cs typeface="Cambria"/>
                <a:sym typeface="Cambria"/>
              </a:defRPr>
            </a:pPr>
            <a:r>
              <a:t>All three teams were supervised by center laboratories — research capacity converting reliably into student ventures.</a:t>
            </a:r>
            <a:endParaRPr>
              <a:latin typeface="+mj-lt"/>
              <a:ea typeface="+mj-ea"/>
              <a:cs typeface="+mj-cs"/>
              <a:sym typeface="Calibri"/>
            </a:endParaRPr>
          </a:p>
          <a:p>
            <a:pPr>
              <a:lnSpc>
                <a:spcPct val="115000"/>
              </a:lnSpc>
              <a:defRPr sz="1000">
                <a:solidFill>
                  <a:srgbClr val="6F7C75"/>
                </a:solidFill>
                <a:latin typeface="Microsoft JhengHei"/>
                <a:ea typeface="Microsoft JhengHei"/>
                <a:cs typeface="Microsoft JhengHei"/>
                <a:sym typeface="Microsoft JhengHei"/>
              </a:defRPr>
            </a:pPr>
            <a:r>
              <a:t>三屆獲獎團隊皆由中心相關實驗室指導，顯示研究能量已能穩定轉化為學生的創業提案。</a:t>
            </a:r>
          </a:p>
        </p:txBody>
      </p:sp>
      <p:sp>
        <p:nvSpPr>
          <p:cNvPr id="818" name="TextBox 22"/>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819" name="TextBox 23"/>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32</a:t>
            </a: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3"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03  ·  TALENT AND EDUCATION  ·  人才與教育</a:t>
            </a:r>
          </a:p>
        </p:txBody>
      </p:sp>
      <p:sp>
        <p:nvSpPr>
          <p:cNvPr id="824"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Exhibitions and Public Outreach</a:t>
            </a:r>
          </a:p>
        </p:txBody>
      </p:sp>
      <p:sp>
        <p:nvSpPr>
          <p:cNvPr id="825"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對外展覽與科普推廣</a:t>
            </a:r>
          </a:p>
        </p:txBody>
      </p:sp>
      <p:pic>
        <p:nvPicPr>
          <p:cNvPr id="826" name="Picture 4" descr="Picture 4"/>
          <p:cNvPicPr>
            <a:picLocks noChangeAspect="1"/>
          </p:cNvPicPr>
          <p:nvPr/>
        </p:nvPicPr>
        <p:blipFill>
          <a:blip r:embed="rId3">
            <a:extLst/>
          </a:blip>
          <a:srcRect l="0" t="13104" r="0" b="13104"/>
          <a:stretch>
            <a:fillRect/>
          </a:stretch>
        </p:blipFill>
        <p:spPr>
          <a:xfrm>
            <a:off x="685800" y="1938528"/>
            <a:ext cx="5120641" cy="2834640"/>
          </a:xfrm>
          <a:prstGeom prst="rect">
            <a:avLst/>
          </a:prstGeom>
          <a:ln w="12700">
            <a:miter lim="400000"/>
          </a:ln>
        </p:spPr>
      </p:pic>
      <p:sp>
        <p:nvSpPr>
          <p:cNvPr id="827" name="Rounded Rectangle 5"/>
          <p:cNvSpPr/>
          <p:nvPr/>
        </p:nvSpPr>
        <p:spPr>
          <a:xfrm>
            <a:off x="685800" y="4956047"/>
            <a:ext cx="5120641" cy="128016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828" name="TextBox 6"/>
          <p:cNvSpPr txBox="1"/>
          <p:nvPr/>
        </p:nvSpPr>
        <p:spPr>
          <a:xfrm>
            <a:off x="960118" y="5175503"/>
            <a:ext cx="4572003" cy="3449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7999"/>
              </a:lnSpc>
              <a:spcBef>
                <a:spcPts val="500"/>
              </a:spcBef>
              <a:defRPr sz="1200">
                <a:solidFill>
                  <a:srgbClr val="1B2A22"/>
                </a:solidFill>
                <a:latin typeface="Cambria"/>
                <a:ea typeface="Microsoft JhengHei"/>
                <a:cs typeface="Cambria"/>
                <a:sym typeface="Cambria"/>
              </a:defRPr>
            </a:pPr>
            <a:r>
              <a:t>Exhibitions and media are the main entry point for visit requests.</a:t>
            </a:r>
            <a:endParaRPr>
              <a:latin typeface="+mj-lt"/>
              <a:ea typeface="+mj-ea"/>
              <a:cs typeface="+mj-cs"/>
              <a:sym typeface="Calibri"/>
            </a:endParaRPr>
          </a:p>
          <a:p>
            <a:pPr>
              <a:lnSpc>
                <a:spcPct val="117999"/>
              </a:lnSpc>
              <a:defRPr sz="1000">
                <a:solidFill>
                  <a:srgbClr val="6F7C75"/>
                </a:solidFill>
                <a:latin typeface="Microsoft JhengHei"/>
                <a:ea typeface="Microsoft JhengHei"/>
                <a:cs typeface="Microsoft JhengHei"/>
                <a:sym typeface="Microsoft JhengHei"/>
              </a:defRPr>
            </a:pPr>
            <a:r>
              <a:t>展覽與媒體是中心對外能見度的主要來源，也是參訪需求的入口。</a:t>
            </a:r>
          </a:p>
        </p:txBody>
      </p:sp>
      <p:grpSp>
        <p:nvGrpSpPr>
          <p:cNvPr id="831" name="Oval 7"/>
          <p:cNvGrpSpPr/>
          <p:nvPr/>
        </p:nvGrpSpPr>
        <p:grpSpPr>
          <a:xfrm>
            <a:off x="6035039" y="2029965"/>
            <a:ext cx="329189" cy="329189"/>
            <a:chOff x="-1" y="-1"/>
            <a:chExt cx="329187" cy="329187"/>
          </a:xfrm>
        </p:grpSpPr>
        <p:sp>
          <p:nvSpPr>
            <p:cNvPr id="829" name="Circle"/>
            <p:cNvSpPr/>
            <p:nvPr/>
          </p:nvSpPr>
          <p:spPr>
            <a:xfrm>
              <a:off x="-2" y="-2"/>
              <a:ext cx="329189" cy="329189"/>
            </a:xfrm>
            <a:prstGeom prst="ellipse">
              <a:avLst/>
            </a:prstGeom>
            <a:solidFill>
              <a:srgbClr val="EEF3E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830" name="1"/>
            <p:cNvSpPr txBox="1"/>
            <p:nvPr/>
          </p:nvSpPr>
          <p:spPr>
            <a:xfrm>
              <a:off x="48207" y="88392"/>
              <a:ext cx="232771"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200">
                  <a:solidFill>
                    <a:srgbClr val="2E6B4F"/>
                  </a:solidFill>
                  <a:latin typeface="Cambria"/>
                  <a:ea typeface="Microsoft JhengHei"/>
                  <a:cs typeface="Cambria"/>
                  <a:sym typeface="Cambria"/>
                </a:defRPr>
              </a:lvl1pPr>
            </a:lstStyle>
            <a:p>
              <a:pPr/>
              <a:r>
                <a:t>1</a:t>
              </a:r>
            </a:p>
          </p:txBody>
        </p:sp>
      </p:grpSp>
      <p:sp>
        <p:nvSpPr>
          <p:cNvPr id="832" name="TextBox 8"/>
          <p:cNvSpPr txBox="1"/>
          <p:nvPr/>
        </p:nvSpPr>
        <p:spPr>
          <a:xfrm>
            <a:off x="6510528" y="1938527"/>
            <a:ext cx="4992626"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22"/>
                </a:solidFill>
                <a:latin typeface="Cambria"/>
                <a:ea typeface="Microsoft JhengHei"/>
                <a:cs typeface="Cambria"/>
                <a:sym typeface="Cambria"/>
              </a:defRPr>
            </a:lvl1pPr>
          </a:lstStyle>
          <a:p>
            <a:pPr/>
            <a:r>
              <a:t>2025 Senior Health Industry Expo</a:t>
            </a:r>
          </a:p>
        </p:txBody>
      </p:sp>
      <p:sp>
        <p:nvSpPr>
          <p:cNvPr id="833" name="TextBox 9"/>
          <p:cNvSpPr txBox="1"/>
          <p:nvPr/>
        </p:nvSpPr>
        <p:spPr>
          <a:xfrm>
            <a:off x="6510528" y="2212848"/>
            <a:ext cx="4992626"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6F7C75"/>
                </a:solidFill>
                <a:latin typeface="Microsoft JhengHei"/>
                <a:ea typeface="Microsoft JhengHei"/>
                <a:cs typeface="Microsoft JhengHei"/>
                <a:sym typeface="Microsoft JhengHei"/>
              </a:defRPr>
            </a:lvl1pPr>
          </a:lstStyle>
          <a:p>
            <a:pPr/>
            <a:r>
              <a:t>2025 高齡健康產業博覽會</a:t>
            </a:r>
          </a:p>
        </p:txBody>
      </p:sp>
      <p:grpSp>
        <p:nvGrpSpPr>
          <p:cNvPr id="836" name="Oval 10"/>
          <p:cNvGrpSpPr/>
          <p:nvPr/>
        </p:nvGrpSpPr>
        <p:grpSpPr>
          <a:xfrm>
            <a:off x="6035039" y="2743198"/>
            <a:ext cx="329189" cy="329189"/>
            <a:chOff x="-1" y="-1"/>
            <a:chExt cx="329187" cy="329187"/>
          </a:xfrm>
        </p:grpSpPr>
        <p:sp>
          <p:nvSpPr>
            <p:cNvPr id="834" name="Circle"/>
            <p:cNvSpPr/>
            <p:nvPr/>
          </p:nvSpPr>
          <p:spPr>
            <a:xfrm>
              <a:off x="-2" y="-2"/>
              <a:ext cx="329189" cy="329189"/>
            </a:xfrm>
            <a:prstGeom prst="ellipse">
              <a:avLst/>
            </a:prstGeom>
            <a:solidFill>
              <a:srgbClr val="EEF3E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835" name="2"/>
            <p:cNvSpPr txBox="1"/>
            <p:nvPr/>
          </p:nvSpPr>
          <p:spPr>
            <a:xfrm>
              <a:off x="48207" y="88392"/>
              <a:ext cx="232771"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200">
                  <a:solidFill>
                    <a:srgbClr val="2E6B4F"/>
                  </a:solidFill>
                  <a:latin typeface="Cambria"/>
                  <a:ea typeface="Microsoft JhengHei"/>
                  <a:cs typeface="Cambria"/>
                  <a:sym typeface="Cambria"/>
                </a:defRPr>
              </a:lvl1pPr>
            </a:lstStyle>
            <a:p>
              <a:pPr/>
              <a:r>
                <a:t>2</a:t>
              </a:r>
            </a:p>
          </p:txBody>
        </p:sp>
      </p:grpSp>
      <p:sp>
        <p:nvSpPr>
          <p:cNvPr id="837" name="TextBox 11"/>
          <p:cNvSpPr txBox="1"/>
          <p:nvPr/>
        </p:nvSpPr>
        <p:spPr>
          <a:xfrm>
            <a:off x="6510528" y="2651760"/>
            <a:ext cx="4992626"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22"/>
                </a:solidFill>
                <a:latin typeface="Cambria"/>
                <a:ea typeface="Microsoft JhengHei"/>
                <a:cs typeface="Cambria"/>
                <a:sym typeface="Cambria"/>
              </a:defRPr>
            </a:lvl1pPr>
          </a:lstStyle>
          <a:p>
            <a:pPr/>
            <a:r>
              <a:t>2025 Rural Regeneration Showcase</a:t>
            </a:r>
          </a:p>
        </p:txBody>
      </p:sp>
      <p:sp>
        <p:nvSpPr>
          <p:cNvPr id="838" name="TextBox 12"/>
          <p:cNvSpPr txBox="1"/>
          <p:nvPr/>
        </p:nvSpPr>
        <p:spPr>
          <a:xfrm>
            <a:off x="6510528" y="2926078"/>
            <a:ext cx="4992626"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6F7C75"/>
                </a:solidFill>
                <a:latin typeface="Microsoft JhengHei"/>
                <a:ea typeface="Microsoft JhengHei"/>
                <a:cs typeface="Microsoft JhengHei"/>
                <a:sym typeface="Microsoft JhengHei"/>
              </a:defRPr>
            </a:lvl1pPr>
          </a:lstStyle>
          <a:p>
            <a:pPr/>
            <a:r>
              <a:t>2025 農村再生成果展</a:t>
            </a:r>
          </a:p>
        </p:txBody>
      </p:sp>
      <p:grpSp>
        <p:nvGrpSpPr>
          <p:cNvPr id="841" name="Oval 13"/>
          <p:cNvGrpSpPr/>
          <p:nvPr/>
        </p:nvGrpSpPr>
        <p:grpSpPr>
          <a:xfrm>
            <a:off x="6035039" y="3456431"/>
            <a:ext cx="329189" cy="329189"/>
            <a:chOff x="-1" y="-1"/>
            <a:chExt cx="329187" cy="329187"/>
          </a:xfrm>
        </p:grpSpPr>
        <p:sp>
          <p:nvSpPr>
            <p:cNvPr id="839" name="Circle"/>
            <p:cNvSpPr/>
            <p:nvPr/>
          </p:nvSpPr>
          <p:spPr>
            <a:xfrm>
              <a:off x="-2" y="-2"/>
              <a:ext cx="329189" cy="329189"/>
            </a:xfrm>
            <a:prstGeom prst="ellipse">
              <a:avLst/>
            </a:prstGeom>
            <a:solidFill>
              <a:srgbClr val="EEF3E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840" name="3"/>
            <p:cNvSpPr txBox="1"/>
            <p:nvPr/>
          </p:nvSpPr>
          <p:spPr>
            <a:xfrm>
              <a:off x="48207" y="88392"/>
              <a:ext cx="232771"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200">
                  <a:solidFill>
                    <a:srgbClr val="2E6B4F"/>
                  </a:solidFill>
                  <a:latin typeface="Cambria"/>
                  <a:ea typeface="Microsoft JhengHei"/>
                  <a:cs typeface="Cambria"/>
                  <a:sym typeface="Cambria"/>
                </a:defRPr>
              </a:lvl1pPr>
            </a:lstStyle>
            <a:p>
              <a:pPr/>
              <a:r>
                <a:t>3</a:t>
              </a:r>
            </a:p>
          </p:txBody>
        </p:sp>
      </p:grpSp>
      <p:sp>
        <p:nvSpPr>
          <p:cNvPr id="842" name="TextBox 14"/>
          <p:cNvSpPr txBox="1"/>
          <p:nvPr/>
        </p:nvSpPr>
        <p:spPr>
          <a:xfrm>
            <a:off x="6510528" y="3364991"/>
            <a:ext cx="4992626"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22"/>
                </a:solidFill>
                <a:latin typeface="Cambria"/>
                <a:ea typeface="Microsoft JhengHei"/>
                <a:cs typeface="Cambria"/>
                <a:sym typeface="Cambria"/>
              </a:defRPr>
            </a:lvl1pPr>
          </a:lstStyle>
          <a:p>
            <a:pPr/>
            <a:r>
              <a:t>2025 NTU Future University XR</a:t>
            </a:r>
          </a:p>
        </p:txBody>
      </p:sp>
      <p:sp>
        <p:nvSpPr>
          <p:cNvPr id="843" name="TextBox 15"/>
          <p:cNvSpPr txBox="1"/>
          <p:nvPr/>
        </p:nvSpPr>
        <p:spPr>
          <a:xfrm>
            <a:off x="6510528" y="3639310"/>
            <a:ext cx="4992626"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6F7C75"/>
                </a:solidFill>
                <a:latin typeface="Microsoft JhengHei"/>
                <a:ea typeface="Microsoft JhengHei"/>
                <a:cs typeface="Microsoft JhengHei"/>
                <a:sym typeface="Microsoft JhengHei"/>
              </a:defRPr>
            </a:lvl1pPr>
          </a:lstStyle>
          <a:p>
            <a:pPr/>
            <a:r>
              <a:t>2025 臺大未來大學 XR 展</a:t>
            </a:r>
          </a:p>
        </p:txBody>
      </p:sp>
      <p:grpSp>
        <p:nvGrpSpPr>
          <p:cNvPr id="846" name="Oval 16"/>
          <p:cNvGrpSpPr/>
          <p:nvPr/>
        </p:nvGrpSpPr>
        <p:grpSpPr>
          <a:xfrm>
            <a:off x="6035039" y="4169661"/>
            <a:ext cx="329189" cy="329189"/>
            <a:chOff x="-1" y="-1"/>
            <a:chExt cx="329187" cy="329187"/>
          </a:xfrm>
        </p:grpSpPr>
        <p:sp>
          <p:nvSpPr>
            <p:cNvPr id="844" name="Circle"/>
            <p:cNvSpPr/>
            <p:nvPr/>
          </p:nvSpPr>
          <p:spPr>
            <a:xfrm>
              <a:off x="-2" y="-2"/>
              <a:ext cx="329189" cy="329189"/>
            </a:xfrm>
            <a:prstGeom prst="ellipse">
              <a:avLst/>
            </a:prstGeom>
            <a:solidFill>
              <a:srgbClr val="EEF3E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845" name="4"/>
            <p:cNvSpPr txBox="1"/>
            <p:nvPr/>
          </p:nvSpPr>
          <p:spPr>
            <a:xfrm>
              <a:off x="48207" y="88392"/>
              <a:ext cx="232771"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200">
                  <a:solidFill>
                    <a:srgbClr val="2E6B4F"/>
                  </a:solidFill>
                  <a:latin typeface="Cambria"/>
                  <a:ea typeface="Microsoft JhengHei"/>
                  <a:cs typeface="Cambria"/>
                  <a:sym typeface="Cambria"/>
                </a:defRPr>
              </a:lvl1pPr>
            </a:lstStyle>
            <a:p>
              <a:pPr/>
              <a:r>
                <a:t>4</a:t>
              </a:r>
            </a:p>
          </p:txBody>
        </p:sp>
      </p:grpSp>
      <p:sp>
        <p:nvSpPr>
          <p:cNvPr id="847" name="TextBox 17"/>
          <p:cNvSpPr txBox="1"/>
          <p:nvPr/>
        </p:nvSpPr>
        <p:spPr>
          <a:xfrm>
            <a:off x="6510528" y="4078223"/>
            <a:ext cx="4992626"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22"/>
                </a:solidFill>
                <a:latin typeface="Cambria"/>
                <a:ea typeface="Microsoft JhengHei"/>
                <a:cs typeface="Cambria"/>
                <a:sym typeface="Cambria"/>
              </a:defRPr>
            </a:lvl1pPr>
          </a:lstStyle>
          <a:p>
            <a:pPr/>
            <a:r>
              <a:t>VR CAVE Art Therapy exhibition</a:t>
            </a:r>
          </a:p>
        </p:txBody>
      </p:sp>
      <p:sp>
        <p:nvSpPr>
          <p:cNvPr id="848" name="TextBox 18"/>
          <p:cNvSpPr txBox="1"/>
          <p:nvPr/>
        </p:nvSpPr>
        <p:spPr>
          <a:xfrm>
            <a:off x="6510528" y="4352544"/>
            <a:ext cx="4992626"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6F7C75"/>
                </a:solidFill>
                <a:latin typeface="Microsoft JhengHei"/>
                <a:ea typeface="Microsoft JhengHei"/>
                <a:cs typeface="Microsoft JhengHei"/>
                <a:sym typeface="Microsoft JhengHei"/>
              </a:defRPr>
            </a:lvl1pPr>
          </a:lstStyle>
          <a:p>
            <a:pPr/>
            <a:r>
              <a:t>VR CAVE 藝術療癒展</a:t>
            </a:r>
          </a:p>
        </p:txBody>
      </p:sp>
      <p:sp>
        <p:nvSpPr>
          <p:cNvPr id="849" name="Rounded Rectangle 19"/>
          <p:cNvSpPr/>
          <p:nvPr/>
        </p:nvSpPr>
        <p:spPr>
          <a:xfrm>
            <a:off x="6035040" y="4956047"/>
            <a:ext cx="5468114" cy="128016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850" name="TextBox 20"/>
          <p:cNvSpPr txBox="1"/>
          <p:nvPr/>
        </p:nvSpPr>
        <p:spPr>
          <a:xfrm>
            <a:off x="6291071" y="5102352"/>
            <a:ext cx="4956050" cy="7512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b="1" sz="1300">
                <a:solidFill>
                  <a:srgbClr val="2E6B4F"/>
                </a:solidFill>
                <a:latin typeface="Microsoft JhengHei"/>
                <a:ea typeface="Microsoft JhengHei"/>
                <a:cs typeface="Microsoft JhengHei"/>
                <a:sym typeface="Microsoft JhengHei"/>
              </a:defRPr>
            </a:pPr>
            <a:r>
              <a:t>Media coverage　媒體報導</a:t>
            </a:r>
            <a:endParaRPr>
              <a:latin typeface="+mj-lt"/>
              <a:ea typeface="+mj-ea"/>
              <a:cs typeface="+mj-cs"/>
              <a:sym typeface="Calibri"/>
            </a:endParaRPr>
          </a:p>
          <a:p>
            <a:pPr>
              <a:spcBef>
                <a:spcPts val="200"/>
              </a:spcBef>
              <a:defRPr sz="1100">
                <a:solidFill>
                  <a:srgbClr val="1B2A22"/>
                </a:solidFill>
                <a:latin typeface="Cambria"/>
                <a:ea typeface="Microsoft JhengHei"/>
                <a:cs typeface="Cambria"/>
                <a:sym typeface="Cambria"/>
              </a:defRPr>
            </a:pPr>
            <a:r>
              <a:t>2025.07</a:t>
            </a:r>
            <a:r>
              <a:rPr>
                <a:latin typeface="Microsoft JhengHei"/>
                <a:ea typeface="Microsoft JhengHei"/>
                <a:cs typeface="Microsoft JhengHei"/>
                <a:sym typeface="Microsoft JhengHei"/>
              </a:rPr>
              <a:t>　</a:t>
            </a:r>
            <a:r>
              <a:t>NTU Alumni Bimonthly feature interview</a:t>
            </a:r>
            <a:endParaRPr>
              <a:latin typeface="+mj-lt"/>
              <a:ea typeface="+mj-ea"/>
              <a:cs typeface="+mj-cs"/>
              <a:sym typeface="Calibri"/>
            </a:endParaRPr>
          </a:p>
          <a:p>
            <a:pPr>
              <a:spcBef>
                <a:spcPts val="200"/>
              </a:spcBef>
              <a:defRPr sz="1100">
                <a:solidFill>
                  <a:srgbClr val="1B2A22"/>
                </a:solidFill>
                <a:latin typeface="Cambria"/>
                <a:ea typeface="Microsoft JhengHei"/>
                <a:cs typeface="Cambria"/>
                <a:sym typeface="Cambria"/>
              </a:defRPr>
            </a:pPr>
            <a:r>
              <a:t>2025.08.31</a:t>
            </a:r>
            <a:r>
              <a:rPr>
                <a:latin typeface="Microsoft JhengHei"/>
                <a:ea typeface="Microsoft JhengHei"/>
                <a:cs typeface="Microsoft JhengHei"/>
                <a:sym typeface="Microsoft JhengHei"/>
              </a:rPr>
              <a:t>　</a:t>
            </a:r>
            <a:r>
              <a:t>Australian director, “Brain Garden” documentary</a:t>
            </a:r>
            <a:endParaRPr>
              <a:latin typeface="+mj-lt"/>
              <a:ea typeface="+mj-ea"/>
              <a:cs typeface="+mj-cs"/>
              <a:sym typeface="Calibri"/>
            </a:endParaRPr>
          </a:p>
          <a:p>
            <a:pPr>
              <a:defRPr sz="1100">
                <a:solidFill>
                  <a:srgbClr val="1B2A22"/>
                </a:solidFill>
                <a:latin typeface="Microsoft JhengHei"/>
                <a:ea typeface="Microsoft JhengHei"/>
                <a:cs typeface="Microsoft JhengHei"/>
                <a:sym typeface="Microsoft JhengHei"/>
              </a:defRPr>
            </a:pPr>
            <a:r>
              <a:t>PTS documentary team　公共電視紀錄片團隊取材</a:t>
            </a:r>
          </a:p>
        </p:txBody>
      </p:sp>
      <p:sp>
        <p:nvSpPr>
          <p:cNvPr id="851" name="TextBox 21"/>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852" name="TextBox 22"/>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33</a:t>
            </a: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56"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03  ·  TALENT AND EDUCATION  ·  人才與教育  ·  展覽</a:t>
            </a:r>
          </a:p>
        </p:txBody>
      </p:sp>
      <p:sp>
        <p:nvSpPr>
          <p:cNvPr id="857" name="TextBox 2"/>
          <p:cNvSpPr txBox="1"/>
          <p:nvPr/>
        </p:nvSpPr>
        <p:spPr>
          <a:xfrm>
            <a:off x="685799" y="603504"/>
            <a:ext cx="10820097"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2700">
                <a:solidFill>
                  <a:srgbClr val="1B2A22"/>
                </a:solidFill>
                <a:latin typeface="Cambria"/>
                <a:ea typeface="Microsoft JhengHei"/>
                <a:cs typeface="Cambria"/>
                <a:sym typeface="Cambria"/>
              </a:defRPr>
            </a:lvl1pPr>
          </a:lstStyle>
          <a:p>
            <a:pPr/>
            <a:r>
              <a:t>Exhibition — 2025 Rural Regeneration Showcase</a:t>
            </a:r>
          </a:p>
        </p:txBody>
      </p:sp>
      <p:sp>
        <p:nvSpPr>
          <p:cNvPr id="858"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展覽—2025 農村再生成果展</a:t>
            </a:r>
          </a:p>
        </p:txBody>
      </p:sp>
      <p:sp>
        <p:nvSpPr>
          <p:cNvPr id="859" name="Rectangle 4"/>
          <p:cNvSpPr/>
          <p:nvPr/>
        </p:nvSpPr>
        <p:spPr>
          <a:xfrm>
            <a:off x="685798" y="1938527"/>
            <a:ext cx="2788923" cy="3840482"/>
          </a:xfrm>
          <a:prstGeom prst="rect">
            <a:avLst/>
          </a:prstGeom>
          <a:solidFill>
            <a:srgbClr val="EEF3EF"/>
          </a:solidFill>
          <a:ln w="12700">
            <a:miter lim="400000"/>
          </a:ln>
        </p:spPr>
        <p:txBody>
          <a:bodyPr lIns="45718" tIns="45718" rIns="45718" bIns="45718" anchor="ctr"/>
          <a:lstStyle/>
          <a:p>
            <a:pPr algn="ctr">
              <a:defRPr>
                <a:solidFill>
                  <a:srgbClr val="FFFFFF"/>
                </a:solidFill>
              </a:defRPr>
            </a:pPr>
          </a:p>
        </p:txBody>
      </p:sp>
      <p:pic>
        <p:nvPicPr>
          <p:cNvPr id="860" name="Picture 5" descr="Picture 5"/>
          <p:cNvPicPr>
            <a:picLocks noChangeAspect="1"/>
          </p:cNvPicPr>
          <p:nvPr/>
        </p:nvPicPr>
        <p:blipFill>
          <a:blip r:embed="rId3">
            <a:extLst/>
          </a:blip>
          <a:stretch>
            <a:fillRect/>
          </a:stretch>
        </p:blipFill>
        <p:spPr>
          <a:xfrm>
            <a:off x="875223" y="1993392"/>
            <a:ext cx="2410071" cy="3730753"/>
          </a:xfrm>
          <a:prstGeom prst="rect">
            <a:avLst/>
          </a:prstGeom>
          <a:ln w="12700">
            <a:miter lim="400000"/>
          </a:ln>
        </p:spPr>
      </p:pic>
      <p:sp>
        <p:nvSpPr>
          <p:cNvPr id="861" name="TextBox 6"/>
          <p:cNvSpPr txBox="1"/>
          <p:nvPr/>
        </p:nvSpPr>
        <p:spPr>
          <a:xfrm>
            <a:off x="685798" y="5870447"/>
            <a:ext cx="2788923"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1B2A22"/>
                </a:solidFill>
                <a:latin typeface="Cambria"/>
                <a:ea typeface="Microsoft JhengHei"/>
                <a:cs typeface="Cambria"/>
                <a:sym typeface="Cambria"/>
              </a:defRPr>
            </a:pPr>
            <a:r>
              <a:t>Exhibition coverage</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展覽相關報導</a:t>
            </a:r>
          </a:p>
        </p:txBody>
      </p:sp>
      <p:pic>
        <p:nvPicPr>
          <p:cNvPr id="862" name="Picture 7" descr="Picture 7"/>
          <p:cNvPicPr>
            <a:picLocks noChangeAspect="1"/>
          </p:cNvPicPr>
          <p:nvPr/>
        </p:nvPicPr>
        <p:blipFill>
          <a:blip r:embed="rId4">
            <a:extLst/>
          </a:blip>
          <a:srcRect l="0" t="17134" r="0" b="17134"/>
          <a:stretch>
            <a:fillRect/>
          </a:stretch>
        </p:blipFill>
        <p:spPr>
          <a:xfrm>
            <a:off x="3794759" y="1938528"/>
            <a:ext cx="3745842" cy="1847088"/>
          </a:xfrm>
          <a:prstGeom prst="rect">
            <a:avLst/>
          </a:prstGeom>
          <a:ln w="12700">
            <a:miter lim="400000"/>
          </a:ln>
        </p:spPr>
      </p:pic>
      <p:pic>
        <p:nvPicPr>
          <p:cNvPr id="863" name="Picture 8" descr="Picture 8"/>
          <p:cNvPicPr>
            <a:picLocks noChangeAspect="1"/>
          </p:cNvPicPr>
          <p:nvPr/>
        </p:nvPicPr>
        <p:blipFill>
          <a:blip r:embed="rId5">
            <a:extLst/>
          </a:blip>
          <a:srcRect l="0" t="17134" r="0" b="17134"/>
          <a:stretch>
            <a:fillRect/>
          </a:stretch>
        </p:blipFill>
        <p:spPr>
          <a:xfrm>
            <a:off x="7760055" y="1938528"/>
            <a:ext cx="3745840" cy="1847088"/>
          </a:xfrm>
          <a:prstGeom prst="rect">
            <a:avLst/>
          </a:prstGeom>
          <a:ln w="12700">
            <a:miter lim="400000"/>
          </a:ln>
        </p:spPr>
      </p:pic>
      <p:pic>
        <p:nvPicPr>
          <p:cNvPr id="864" name="Picture 9" descr="Picture 9"/>
          <p:cNvPicPr>
            <a:picLocks noChangeAspect="1"/>
          </p:cNvPicPr>
          <p:nvPr/>
        </p:nvPicPr>
        <p:blipFill>
          <a:blip r:embed="rId6">
            <a:extLst/>
          </a:blip>
          <a:srcRect l="0" t="17134" r="0" b="17133"/>
          <a:stretch>
            <a:fillRect/>
          </a:stretch>
        </p:blipFill>
        <p:spPr>
          <a:xfrm>
            <a:off x="3794759" y="3968496"/>
            <a:ext cx="3745842" cy="1847090"/>
          </a:xfrm>
          <a:prstGeom prst="rect">
            <a:avLst/>
          </a:prstGeom>
          <a:ln w="12700">
            <a:miter lim="400000"/>
          </a:ln>
        </p:spPr>
      </p:pic>
      <p:pic>
        <p:nvPicPr>
          <p:cNvPr id="865" name="Picture 10" descr="Picture 10"/>
          <p:cNvPicPr>
            <a:picLocks noChangeAspect="1"/>
          </p:cNvPicPr>
          <p:nvPr/>
        </p:nvPicPr>
        <p:blipFill>
          <a:blip r:embed="rId7">
            <a:extLst/>
          </a:blip>
          <a:srcRect l="0" t="17134" r="0" b="17133"/>
          <a:stretch>
            <a:fillRect/>
          </a:stretch>
        </p:blipFill>
        <p:spPr>
          <a:xfrm>
            <a:off x="7760055" y="3968496"/>
            <a:ext cx="3745840" cy="1847090"/>
          </a:xfrm>
          <a:prstGeom prst="rect">
            <a:avLst/>
          </a:prstGeom>
          <a:ln w="12700">
            <a:miter lim="400000"/>
          </a:ln>
        </p:spPr>
      </p:pic>
      <p:sp>
        <p:nvSpPr>
          <p:cNvPr id="866" name="TextBox 11"/>
          <p:cNvSpPr txBox="1"/>
          <p:nvPr/>
        </p:nvSpPr>
        <p:spPr>
          <a:xfrm>
            <a:off x="3794759" y="5870447"/>
            <a:ext cx="7680960"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1100">
                <a:solidFill>
                  <a:srgbClr val="1B2A22"/>
                </a:solidFill>
                <a:latin typeface="Cambria"/>
                <a:ea typeface="Microsoft JhengHei"/>
                <a:cs typeface="Cambria"/>
                <a:sym typeface="Cambria"/>
              </a:defRPr>
            </a:pPr>
            <a:r>
              <a:t>NTU booth and public sessions at the 2025 Rural Regeneration Showcase</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臺大展位與現場體驗活動</a:t>
            </a:r>
          </a:p>
        </p:txBody>
      </p:sp>
      <p:sp>
        <p:nvSpPr>
          <p:cNvPr id="867" name="TextBox 12"/>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868" name="TextBox 13"/>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34</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72"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03  ·  TALENT AND EDUCATION  ·  人才與教育  ·  展覽</a:t>
            </a:r>
          </a:p>
        </p:txBody>
      </p:sp>
      <p:sp>
        <p:nvSpPr>
          <p:cNvPr id="873" name="TextBox 2"/>
          <p:cNvSpPr txBox="1"/>
          <p:nvPr/>
        </p:nvSpPr>
        <p:spPr>
          <a:xfrm>
            <a:off x="685799" y="603504"/>
            <a:ext cx="10820097"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2700">
                <a:solidFill>
                  <a:srgbClr val="1B2A22"/>
                </a:solidFill>
                <a:latin typeface="Cambria"/>
                <a:ea typeface="Microsoft JhengHei"/>
                <a:cs typeface="Cambria"/>
                <a:sym typeface="Cambria"/>
              </a:defRPr>
            </a:lvl1pPr>
          </a:lstStyle>
          <a:p>
            <a:pPr/>
            <a:r>
              <a:t>Exhibition — 2025 Senior Health Industry Expo</a:t>
            </a:r>
          </a:p>
        </p:txBody>
      </p:sp>
      <p:sp>
        <p:nvSpPr>
          <p:cNvPr id="874"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展覽—2025 高齡健康產業博覽會</a:t>
            </a:r>
          </a:p>
        </p:txBody>
      </p:sp>
      <p:pic>
        <p:nvPicPr>
          <p:cNvPr id="875" name="Picture 4" descr="Picture 4"/>
          <p:cNvPicPr>
            <a:picLocks noChangeAspect="1"/>
          </p:cNvPicPr>
          <p:nvPr/>
        </p:nvPicPr>
        <p:blipFill>
          <a:blip r:embed="rId3">
            <a:extLst/>
          </a:blip>
          <a:stretch>
            <a:fillRect/>
          </a:stretch>
        </p:blipFill>
        <p:spPr>
          <a:xfrm>
            <a:off x="8751510" y="566927"/>
            <a:ext cx="2751641" cy="658370"/>
          </a:xfrm>
          <a:prstGeom prst="rect">
            <a:avLst/>
          </a:prstGeom>
          <a:ln w="12700">
            <a:miter lim="400000"/>
          </a:ln>
        </p:spPr>
      </p:pic>
      <p:pic>
        <p:nvPicPr>
          <p:cNvPr id="876" name="Picture 5" descr="Picture 5"/>
          <p:cNvPicPr>
            <a:picLocks noChangeAspect="1"/>
          </p:cNvPicPr>
          <p:nvPr/>
        </p:nvPicPr>
        <p:blipFill>
          <a:blip r:embed="rId4">
            <a:extLst/>
          </a:blip>
          <a:srcRect l="109" t="0" r="109" b="0"/>
          <a:stretch>
            <a:fillRect/>
          </a:stretch>
        </p:blipFill>
        <p:spPr>
          <a:xfrm>
            <a:off x="685800" y="1938527"/>
            <a:ext cx="2554147" cy="1920241"/>
          </a:xfrm>
          <a:prstGeom prst="rect">
            <a:avLst/>
          </a:prstGeom>
          <a:ln w="12700">
            <a:miter lim="400000"/>
          </a:ln>
        </p:spPr>
      </p:pic>
      <p:pic>
        <p:nvPicPr>
          <p:cNvPr id="877" name="Picture 6" descr="Picture 6"/>
          <p:cNvPicPr>
            <a:picLocks noChangeAspect="1"/>
          </p:cNvPicPr>
          <p:nvPr/>
        </p:nvPicPr>
        <p:blipFill>
          <a:blip r:embed="rId5">
            <a:extLst/>
          </a:blip>
          <a:srcRect l="3216" t="0" r="3214" b="0"/>
          <a:stretch>
            <a:fillRect/>
          </a:stretch>
        </p:blipFill>
        <p:spPr>
          <a:xfrm>
            <a:off x="3441114" y="1938527"/>
            <a:ext cx="2554149" cy="1920241"/>
          </a:xfrm>
          <a:prstGeom prst="rect">
            <a:avLst/>
          </a:prstGeom>
          <a:ln w="12700">
            <a:miter lim="400000"/>
          </a:ln>
        </p:spPr>
      </p:pic>
      <p:pic>
        <p:nvPicPr>
          <p:cNvPr id="878" name="Picture 7" descr="Picture 7"/>
          <p:cNvPicPr>
            <a:picLocks noChangeAspect="1"/>
          </p:cNvPicPr>
          <p:nvPr/>
        </p:nvPicPr>
        <p:blipFill>
          <a:blip r:embed="rId6">
            <a:extLst/>
          </a:blip>
          <a:srcRect l="0" t="12409" r="0" b="12409"/>
          <a:stretch>
            <a:fillRect/>
          </a:stretch>
        </p:blipFill>
        <p:spPr>
          <a:xfrm>
            <a:off x="6196431" y="1938526"/>
            <a:ext cx="2554149" cy="1920242"/>
          </a:xfrm>
          <a:prstGeom prst="rect">
            <a:avLst/>
          </a:prstGeom>
          <a:ln w="12700">
            <a:miter lim="400000"/>
          </a:ln>
        </p:spPr>
      </p:pic>
      <p:pic>
        <p:nvPicPr>
          <p:cNvPr id="879" name="Picture 8" descr="Picture 8"/>
          <p:cNvPicPr>
            <a:picLocks noChangeAspect="1"/>
          </p:cNvPicPr>
          <p:nvPr/>
        </p:nvPicPr>
        <p:blipFill>
          <a:blip r:embed="rId7">
            <a:extLst/>
          </a:blip>
          <a:srcRect l="109" t="0" r="109" b="0"/>
          <a:stretch>
            <a:fillRect/>
          </a:stretch>
        </p:blipFill>
        <p:spPr>
          <a:xfrm>
            <a:off x="8951746" y="1938527"/>
            <a:ext cx="2554148" cy="1920241"/>
          </a:xfrm>
          <a:prstGeom prst="rect">
            <a:avLst/>
          </a:prstGeom>
          <a:ln w="12700">
            <a:miter lim="400000"/>
          </a:ln>
        </p:spPr>
      </p:pic>
      <p:pic>
        <p:nvPicPr>
          <p:cNvPr id="880" name="Picture 9" descr="Picture 9"/>
          <p:cNvPicPr>
            <a:picLocks noChangeAspect="1"/>
          </p:cNvPicPr>
          <p:nvPr/>
        </p:nvPicPr>
        <p:blipFill>
          <a:blip r:embed="rId8">
            <a:extLst/>
          </a:blip>
          <a:srcRect l="0" t="13144" r="0" b="13144"/>
          <a:stretch>
            <a:fillRect/>
          </a:stretch>
        </p:blipFill>
        <p:spPr>
          <a:xfrm>
            <a:off x="685800" y="4023360"/>
            <a:ext cx="3472587" cy="1920240"/>
          </a:xfrm>
          <a:prstGeom prst="rect">
            <a:avLst/>
          </a:prstGeom>
          <a:ln w="12700">
            <a:miter lim="400000"/>
          </a:ln>
        </p:spPr>
      </p:pic>
      <p:pic>
        <p:nvPicPr>
          <p:cNvPr id="881" name="Picture 10" descr="Picture 10"/>
          <p:cNvPicPr>
            <a:picLocks noChangeAspect="1"/>
          </p:cNvPicPr>
          <p:nvPr/>
        </p:nvPicPr>
        <p:blipFill>
          <a:blip r:embed="rId9">
            <a:extLst/>
          </a:blip>
          <a:srcRect l="0" t="29264" r="0" b="29264"/>
          <a:stretch>
            <a:fillRect/>
          </a:stretch>
        </p:blipFill>
        <p:spPr>
          <a:xfrm>
            <a:off x="4359554" y="4023359"/>
            <a:ext cx="3472587" cy="1920241"/>
          </a:xfrm>
          <a:prstGeom prst="rect">
            <a:avLst/>
          </a:prstGeom>
          <a:ln w="12700">
            <a:miter lim="400000"/>
          </a:ln>
        </p:spPr>
      </p:pic>
      <p:pic>
        <p:nvPicPr>
          <p:cNvPr id="882" name="Picture 11" descr="Picture 11"/>
          <p:cNvPicPr>
            <a:picLocks noChangeAspect="1"/>
          </p:cNvPicPr>
          <p:nvPr/>
        </p:nvPicPr>
        <p:blipFill>
          <a:blip r:embed="rId10">
            <a:extLst/>
          </a:blip>
          <a:srcRect l="0" t="13144" r="0" b="13144"/>
          <a:stretch>
            <a:fillRect/>
          </a:stretch>
        </p:blipFill>
        <p:spPr>
          <a:xfrm>
            <a:off x="8033308" y="4023360"/>
            <a:ext cx="3472587" cy="1920240"/>
          </a:xfrm>
          <a:prstGeom prst="rect">
            <a:avLst/>
          </a:prstGeom>
          <a:ln w="12700">
            <a:miter lim="400000"/>
          </a:ln>
        </p:spPr>
      </p:pic>
      <p:sp>
        <p:nvSpPr>
          <p:cNvPr id="883" name="TextBox 12"/>
          <p:cNvSpPr txBox="1"/>
          <p:nvPr/>
        </p:nvSpPr>
        <p:spPr>
          <a:xfrm>
            <a:off x="685799" y="5998464"/>
            <a:ext cx="10820097"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300"/>
              </a:spcBef>
              <a:defRPr sz="1100">
                <a:solidFill>
                  <a:srgbClr val="1B2A22"/>
                </a:solidFill>
                <a:latin typeface="Cambria"/>
                <a:ea typeface="Microsoft JhengHei"/>
                <a:cs typeface="Cambria"/>
                <a:sym typeface="Cambria"/>
              </a:defRPr>
            </a:pPr>
            <a:r>
              <a:t>The center's VR healing experience at the 2025 Senior Health Industry Expo — one of its most visible annual showcases.</a:t>
            </a:r>
            <a:endParaRPr>
              <a:latin typeface="+mj-lt"/>
              <a:ea typeface="+mj-ea"/>
              <a:cs typeface="+mj-cs"/>
              <a:sym typeface="Calibri"/>
            </a:endParaRPr>
          </a:p>
          <a:p>
            <a:pPr>
              <a:defRPr sz="1000">
                <a:solidFill>
                  <a:srgbClr val="6F7C75"/>
                </a:solidFill>
                <a:latin typeface="Microsoft JhengHei"/>
                <a:ea typeface="Microsoft JhengHei"/>
                <a:cs typeface="Microsoft JhengHei"/>
                <a:sym typeface="Microsoft JhengHei"/>
              </a:defRPr>
            </a:pPr>
            <a:r>
              <a:t>中心於高齡健康產業博覽會展出 VR 療癒體驗，為對外能見度最高的年度展會之一。</a:t>
            </a:r>
          </a:p>
        </p:txBody>
      </p:sp>
      <p:sp>
        <p:nvSpPr>
          <p:cNvPr id="884" name="TextBox 13"/>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885" name="TextBox 14"/>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35</a:t>
            </a: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9" name="Rectangle 1"/>
          <p:cNvSpPr/>
          <p:nvPr/>
        </p:nvSpPr>
        <p:spPr>
          <a:xfrm>
            <a:off x="-54866" y="-54865"/>
            <a:ext cx="12301427" cy="6967729"/>
          </a:xfrm>
          <a:prstGeom prst="rect">
            <a:avLst/>
          </a:prstGeom>
          <a:solidFill>
            <a:srgbClr val="143529"/>
          </a:solidFill>
          <a:ln w="12700">
            <a:miter lim="400000"/>
          </a:ln>
        </p:spPr>
        <p:txBody>
          <a:bodyPr lIns="45718" tIns="45718" rIns="45718" bIns="45718" anchor="ctr"/>
          <a:lstStyle/>
          <a:p>
            <a:pPr algn="ctr">
              <a:defRPr>
                <a:solidFill>
                  <a:srgbClr val="FFFFFF"/>
                </a:solidFill>
              </a:defRPr>
            </a:pPr>
          </a:p>
        </p:txBody>
      </p:sp>
      <p:sp>
        <p:nvSpPr>
          <p:cNvPr id="890" name="TextBox 2"/>
          <p:cNvSpPr txBox="1"/>
          <p:nvPr/>
        </p:nvSpPr>
        <p:spPr>
          <a:xfrm>
            <a:off x="685800" y="1691638"/>
            <a:ext cx="2743200" cy="1092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7400">
                <a:solidFill>
                  <a:srgbClr val="2A5A44"/>
                </a:solidFill>
                <a:latin typeface="Cambria"/>
                <a:ea typeface="Microsoft JhengHei"/>
                <a:cs typeface="Cambria"/>
                <a:sym typeface="Cambria"/>
              </a:defRPr>
            </a:lvl1pPr>
          </a:lstStyle>
          <a:p>
            <a:pPr/>
            <a:r>
              <a:t>04</a:t>
            </a:r>
          </a:p>
        </p:txBody>
      </p:sp>
      <p:sp>
        <p:nvSpPr>
          <p:cNvPr id="891" name="TextBox 3"/>
          <p:cNvSpPr txBox="1"/>
          <p:nvPr/>
        </p:nvSpPr>
        <p:spPr>
          <a:xfrm>
            <a:off x="685799" y="3063238"/>
            <a:ext cx="10820097" cy="596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4000">
                <a:solidFill>
                  <a:srgbClr val="FFFFFF"/>
                </a:solidFill>
                <a:latin typeface="Cambria"/>
                <a:ea typeface="Microsoft JhengHei"/>
                <a:cs typeface="Cambria"/>
                <a:sym typeface="Cambria"/>
              </a:defRPr>
            </a:lvl1pPr>
          </a:lstStyle>
          <a:p>
            <a:pPr/>
            <a:r>
              <a:t>International Platform</a:t>
            </a:r>
          </a:p>
        </p:txBody>
      </p:sp>
      <p:sp>
        <p:nvSpPr>
          <p:cNvPr id="892" name="TextBox 4"/>
          <p:cNvSpPr txBox="1"/>
          <p:nvPr/>
        </p:nvSpPr>
        <p:spPr>
          <a:xfrm>
            <a:off x="685799" y="3913632"/>
            <a:ext cx="10820097"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200">
                <a:solidFill>
                  <a:srgbClr val="8FB09C"/>
                </a:solidFill>
                <a:latin typeface="Microsoft JhengHei"/>
                <a:ea typeface="Microsoft JhengHei"/>
                <a:cs typeface="Microsoft JhengHei"/>
                <a:sym typeface="Microsoft JhengHei"/>
              </a:defRPr>
            </a:lvl1pPr>
          </a:lstStyle>
          <a:p>
            <a:pPr/>
            <a:r>
              <a:t>國際平台</a:t>
            </a:r>
          </a:p>
        </p:txBody>
      </p:sp>
      <p:sp>
        <p:nvSpPr>
          <p:cNvPr id="893" name="TextBox 5"/>
          <p:cNvSpPr txBox="1"/>
          <p:nvPr/>
        </p:nvSpPr>
        <p:spPr>
          <a:xfrm>
            <a:off x="685799" y="4709159"/>
            <a:ext cx="7863841"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400">
                <a:solidFill>
                  <a:srgbClr val="C6D5CB"/>
                </a:solidFill>
                <a:latin typeface="Cambria"/>
                <a:ea typeface="Microsoft JhengHei"/>
                <a:cs typeface="Cambria"/>
                <a:sym typeface="Cambria"/>
              </a:defRPr>
            </a:pPr>
            <a:r>
              <a:t>Eight universities, two signed partnerships, one joint center.</a:t>
            </a:r>
            <a:endParaRPr>
              <a:latin typeface="+mj-lt"/>
              <a:ea typeface="+mj-ea"/>
              <a:cs typeface="+mj-cs"/>
              <a:sym typeface="Calibri"/>
            </a:endParaRPr>
          </a:p>
          <a:p>
            <a:pPr>
              <a:defRPr sz="1200">
                <a:solidFill>
                  <a:srgbClr val="8FB09C"/>
                </a:solidFill>
                <a:latin typeface="Microsoft JhengHei"/>
                <a:ea typeface="Microsoft JhengHei"/>
                <a:cs typeface="Microsoft JhengHei"/>
                <a:sym typeface="Microsoft JhengHei"/>
              </a:defRPr>
            </a:pPr>
            <a:r>
              <a:t>八校平台、兩項已簽署合作、一座籌設中的聯合中心。</a:t>
            </a:r>
          </a:p>
        </p:txBody>
      </p:sp>
      <p:sp>
        <p:nvSpPr>
          <p:cNvPr id="894" name="TextBox 6"/>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8FB09C"/>
                </a:solidFill>
                <a:latin typeface="Cambria"/>
                <a:ea typeface="Microsoft JhengHei"/>
                <a:cs typeface="Cambria"/>
                <a:sym typeface="Cambria"/>
              </a:defRPr>
            </a:lvl1pPr>
          </a:lstStyle>
          <a:p>
            <a:pPr/>
            <a:r>
              <a:t>Green Health Research Center  ·  NTU College of Bioresources and Agriculture</a:t>
            </a:r>
          </a:p>
        </p:txBody>
      </p:sp>
      <p:sp>
        <p:nvSpPr>
          <p:cNvPr id="895" name="TextBox 7"/>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8FB09C"/>
                </a:solidFill>
                <a:latin typeface="Cambria"/>
                <a:ea typeface="Microsoft JhengHei"/>
                <a:cs typeface="Cambria"/>
                <a:sym typeface="Cambria"/>
              </a:defRPr>
            </a:lvl1pPr>
          </a:lstStyle>
          <a:p>
            <a:pPr/>
            <a:r>
              <a:t>36</a:t>
            </a:r>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9"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04  ·  INTERNATIONAL PLATFORM  ·  國際平台</a:t>
            </a:r>
          </a:p>
        </p:txBody>
      </p:sp>
      <p:sp>
        <p:nvSpPr>
          <p:cNvPr id="900" name="TextBox 2"/>
          <p:cNvSpPr txBox="1"/>
          <p:nvPr/>
        </p:nvSpPr>
        <p:spPr>
          <a:xfrm>
            <a:off x="685799" y="603504"/>
            <a:ext cx="10820097"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2400">
                <a:solidFill>
                  <a:srgbClr val="1B2A22"/>
                </a:solidFill>
                <a:latin typeface="Cambria"/>
                <a:ea typeface="Microsoft JhengHei"/>
                <a:cs typeface="Cambria"/>
                <a:sym typeface="Cambria"/>
              </a:defRPr>
            </a:lvl1pPr>
          </a:lstStyle>
          <a:p>
            <a:pPr/>
            <a:r>
              <a:t>Landscape and Human Health — An Eight-University Platform</a:t>
            </a:r>
          </a:p>
        </p:txBody>
      </p:sp>
      <p:sp>
        <p:nvSpPr>
          <p:cNvPr id="901"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國際合作研究平台　·　八校成員</a:t>
            </a:r>
          </a:p>
        </p:txBody>
      </p:sp>
      <p:sp>
        <p:nvSpPr>
          <p:cNvPr id="902" name="TextBox 4"/>
          <p:cNvSpPr txBox="1"/>
          <p:nvPr/>
        </p:nvSpPr>
        <p:spPr>
          <a:xfrm>
            <a:off x="685800" y="1938527"/>
            <a:ext cx="3429000"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2E6B4F"/>
                </a:solidFill>
                <a:latin typeface="Microsoft JhengHei"/>
                <a:ea typeface="Microsoft JhengHei"/>
                <a:cs typeface="Microsoft JhengHei"/>
                <a:sym typeface="Microsoft JhengHei"/>
              </a:defRPr>
            </a:lvl1pPr>
          </a:lstStyle>
          <a:p>
            <a:pPr/>
            <a:r>
              <a:t>Asia　亞洲</a:t>
            </a:r>
          </a:p>
        </p:txBody>
      </p:sp>
      <p:sp>
        <p:nvSpPr>
          <p:cNvPr id="903" name="Rounded Rectangle 5"/>
          <p:cNvSpPr/>
          <p:nvPr/>
        </p:nvSpPr>
        <p:spPr>
          <a:xfrm>
            <a:off x="685800" y="2395727"/>
            <a:ext cx="3429000" cy="676658"/>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904" name="TextBox 6"/>
          <p:cNvSpPr txBox="1"/>
          <p:nvPr/>
        </p:nvSpPr>
        <p:spPr>
          <a:xfrm>
            <a:off x="923544" y="2487166"/>
            <a:ext cx="2286001" cy="3327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100">
                <a:solidFill>
                  <a:srgbClr val="1B2A22"/>
                </a:solidFill>
                <a:latin typeface="Cambria"/>
                <a:ea typeface="Microsoft JhengHei"/>
                <a:cs typeface="Cambria"/>
                <a:sym typeface="Cambria"/>
              </a:defRPr>
            </a:pPr>
            <a:r>
              <a:t>National Taiwan University</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國立臺灣大學</a:t>
            </a:r>
          </a:p>
        </p:txBody>
      </p:sp>
      <p:sp>
        <p:nvSpPr>
          <p:cNvPr id="905" name="TextBox 7"/>
          <p:cNvSpPr txBox="1"/>
          <p:nvPr/>
        </p:nvSpPr>
        <p:spPr>
          <a:xfrm>
            <a:off x="3291840" y="2615183"/>
            <a:ext cx="64008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2E6B4F"/>
                </a:solidFill>
                <a:latin typeface="Cambria"/>
                <a:ea typeface="Microsoft JhengHei"/>
                <a:cs typeface="Cambria"/>
                <a:sym typeface="Cambria"/>
              </a:defRPr>
            </a:lvl1pPr>
          </a:lstStyle>
          <a:p>
            <a:pPr/>
            <a:r>
              <a:t>Taiwan</a:t>
            </a:r>
          </a:p>
        </p:txBody>
      </p:sp>
      <p:sp>
        <p:nvSpPr>
          <p:cNvPr id="906" name="Rounded Rectangle 8"/>
          <p:cNvSpPr/>
          <p:nvPr/>
        </p:nvSpPr>
        <p:spPr>
          <a:xfrm>
            <a:off x="685800" y="3182111"/>
            <a:ext cx="3429000" cy="676658"/>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907" name="TextBox 9"/>
          <p:cNvSpPr txBox="1"/>
          <p:nvPr/>
        </p:nvSpPr>
        <p:spPr>
          <a:xfrm>
            <a:off x="923544" y="3273552"/>
            <a:ext cx="2286001" cy="3327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100">
                <a:solidFill>
                  <a:srgbClr val="1B2A22"/>
                </a:solidFill>
                <a:latin typeface="Cambria"/>
                <a:ea typeface="Microsoft JhengHei"/>
                <a:cs typeface="Cambria"/>
                <a:sym typeface="Cambria"/>
              </a:defRPr>
            </a:pPr>
            <a:r>
              <a:t>University of Hong Kong</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香港大學</a:t>
            </a:r>
          </a:p>
        </p:txBody>
      </p:sp>
      <p:sp>
        <p:nvSpPr>
          <p:cNvPr id="908" name="TextBox 10"/>
          <p:cNvSpPr txBox="1"/>
          <p:nvPr/>
        </p:nvSpPr>
        <p:spPr>
          <a:xfrm>
            <a:off x="3291840" y="3401567"/>
            <a:ext cx="64008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2E6B4F"/>
                </a:solidFill>
                <a:latin typeface="Cambria"/>
                <a:ea typeface="Microsoft JhengHei"/>
                <a:cs typeface="Cambria"/>
                <a:sym typeface="Cambria"/>
              </a:defRPr>
            </a:lvl1pPr>
          </a:lstStyle>
          <a:p>
            <a:pPr/>
            <a:r>
              <a:t>Hong Kong</a:t>
            </a:r>
          </a:p>
        </p:txBody>
      </p:sp>
      <p:sp>
        <p:nvSpPr>
          <p:cNvPr id="909" name="Rounded Rectangle 11"/>
          <p:cNvSpPr/>
          <p:nvPr/>
        </p:nvSpPr>
        <p:spPr>
          <a:xfrm>
            <a:off x="685800" y="3968496"/>
            <a:ext cx="3429000" cy="676658"/>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910" name="TextBox 12"/>
          <p:cNvSpPr txBox="1"/>
          <p:nvPr/>
        </p:nvSpPr>
        <p:spPr>
          <a:xfrm>
            <a:off x="923544" y="4059935"/>
            <a:ext cx="2286001" cy="3327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100">
                <a:solidFill>
                  <a:srgbClr val="1B2A22"/>
                </a:solidFill>
                <a:latin typeface="Cambria"/>
                <a:ea typeface="Microsoft JhengHei"/>
                <a:cs typeface="Cambria"/>
                <a:sym typeface="Cambria"/>
              </a:defRPr>
            </a:pPr>
            <a:r>
              <a:t>Chiang Mai University</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清邁大學</a:t>
            </a:r>
          </a:p>
        </p:txBody>
      </p:sp>
      <p:sp>
        <p:nvSpPr>
          <p:cNvPr id="911" name="TextBox 13"/>
          <p:cNvSpPr txBox="1"/>
          <p:nvPr/>
        </p:nvSpPr>
        <p:spPr>
          <a:xfrm>
            <a:off x="3291840" y="4187952"/>
            <a:ext cx="64008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2E6B4F"/>
                </a:solidFill>
                <a:latin typeface="Cambria"/>
                <a:ea typeface="Microsoft JhengHei"/>
                <a:cs typeface="Cambria"/>
                <a:sym typeface="Cambria"/>
              </a:defRPr>
            </a:lvl1pPr>
          </a:lstStyle>
          <a:p>
            <a:pPr/>
            <a:r>
              <a:t>Thailand</a:t>
            </a:r>
          </a:p>
        </p:txBody>
      </p:sp>
      <p:sp>
        <p:nvSpPr>
          <p:cNvPr id="912" name="Rounded Rectangle 14"/>
          <p:cNvSpPr/>
          <p:nvPr/>
        </p:nvSpPr>
        <p:spPr>
          <a:xfrm>
            <a:off x="685800" y="4754879"/>
            <a:ext cx="3429000" cy="676658"/>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913" name="TextBox 15"/>
          <p:cNvSpPr txBox="1"/>
          <p:nvPr/>
        </p:nvSpPr>
        <p:spPr>
          <a:xfrm>
            <a:off x="923544" y="4846320"/>
            <a:ext cx="2286001" cy="3327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100">
                <a:solidFill>
                  <a:srgbClr val="1B2A22"/>
                </a:solidFill>
                <a:latin typeface="Cambria"/>
                <a:ea typeface="Microsoft JhengHei"/>
                <a:cs typeface="Cambria"/>
                <a:sym typeface="Cambria"/>
              </a:defRPr>
            </a:pPr>
            <a:r>
              <a:t>Konkuk University</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建國大學</a:t>
            </a:r>
          </a:p>
        </p:txBody>
      </p:sp>
      <p:sp>
        <p:nvSpPr>
          <p:cNvPr id="914" name="TextBox 16"/>
          <p:cNvSpPr txBox="1"/>
          <p:nvPr/>
        </p:nvSpPr>
        <p:spPr>
          <a:xfrm>
            <a:off x="3291840" y="4974335"/>
            <a:ext cx="64008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2E6B4F"/>
                </a:solidFill>
                <a:latin typeface="Cambria"/>
                <a:ea typeface="Microsoft JhengHei"/>
                <a:cs typeface="Cambria"/>
                <a:sym typeface="Cambria"/>
              </a:defRPr>
            </a:lvl1pPr>
          </a:lstStyle>
          <a:p>
            <a:pPr/>
            <a:r>
              <a:t>Korea</a:t>
            </a:r>
          </a:p>
        </p:txBody>
      </p:sp>
      <p:sp>
        <p:nvSpPr>
          <p:cNvPr id="915" name="TextBox 17"/>
          <p:cNvSpPr txBox="1"/>
          <p:nvPr/>
        </p:nvSpPr>
        <p:spPr>
          <a:xfrm>
            <a:off x="4389120" y="1938527"/>
            <a:ext cx="342900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2E6B4F"/>
                </a:solidFill>
                <a:latin typeface="Microsoft JhengHei"/>
                <a:ea typeface="Microsoft JhengHei"/>
                <a:cs typeface="Microsoft JhengHei"/>
                <a:sym typeface="Microsoft JhengHei"/>
              </a:defRPr>
            </a:lvl1pPr>
          </a:lstStyle>
          <a:p>
            <a:pPr/>
            <a:r>
              <a:t>Americas　美洲</a:t>
            </a:r>
          </a:p>
        </p:txBody>
      </p:sp>
      <p:sp>
        <p:nvSpPr>
          <p:cNvPr id="916" name="Rounded Rectangle 18"/>
          <p:cNvSpPr/>
          <p:nvPr/>
        </p:nvSpPr>
        <p:spPr>
          <a:xfrm>
            <a:off x="4389120" y="2395727"/>
            <a:ext cx="3429002" cy="676658"/>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917" name="TextBox 19"/>
          <p:cNvSpPr txBox="1"/>
          <p:nvPr/>
        </p:nvSpPr>
        <p:spPr>
          <a:xfrm>
            <a:off x="4626864" y="2487166"/>
            <a:ext cx="2286002" cy="3327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100">
                <a:solidFill>
                  <a:srgbClr val="1B2A22"/>
                </a:solidFill>
                <a:latin typeface="Cambria"/>
                <a:ea typeface="Microsoft JhengHei"/>
                <a:cs typeface="Cambria"/>
                <a:sym typeface="Cambria"/>
              </a:defRPr>
            </a:pPr>
            <a:r>
              <a:t>University of Illinois Urbana-Champaign</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伊利諾大學</a:t>
            </a:r>
          </a:p>
        </p:txBody>
      </p:sp>
      <p:sp>
        <p:nvSpPr>
          <p:cNvPr id="918" name="TextBox 20"/>
          <p:cNvSpPr txBox="1"/>
          <p:nvPr/>
        </p:nvSpPr>
        <p:spPr>
          <a:xfrm>
            <a:off x="6995159" y="2615183"/>
            <a:ext cx="64008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2E6B4F"/>
                </a:solidFill>
                <a:latin typeface="Cambria"/>
                <a:ea typeface="Microsoft JhengHei"/>
                <a:cs typeface="Cambria"/>
                <a:sym typeface="Cambria"/>
              </a:defRPr>
            </a:lvl1pPr>
          </a:lstStyle>
          <a:p>
            <a:pPr/>
            <a:r>
              <a:t>UIUC</a:t>
            </a:r>
          </a:p>
        </p:txBody>
      </p:sp>
      <p:sp>
        <p:nvSpPr>
          <p:cNvPr id="919" name="Rounded Rectangle 21"/>
          <p:cNvSpPr/>
          <p:nvPr/>
        </p:nvSpPr>
        <p:spPr>
          <a:xfrm>
            <a:off x="4389120" y="3182111"/>
            <a:ext cx="3429002" cy="676658"/>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920" name="TextBox 22"/>
          <p:cNvSpPr txBox="1"/>
          <p:nvPr/>
        </p:nvSpPr>
        <p:spPr>
          <a:xfrm>
            <a:off x="4626864" y="3273552"/>
            <a:ext cx="2286002" cy="3327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100">
                <a:solidFill>
                  <a:srgbClr val="1B2A22"/>
                </a:solidFill>
                <a:latin typeface="Cambria"/>
                <a:ea typeface="Microsoft JhengHei"/>
                <a:cs typeface="Cambria"/>
                <a:sym typeface="Cambria"/>
              </a:defRPr>
            </a:pPr>
            <a:r>
              <a:t>Cornell University</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康乃爾大學</a:t>
            </a:r>
          </a:p>
        </p:txBody>
      </p:sp>
      <p:sp>
        <p:nvSpPr>
          <p:cNvPr id="921" name="TextBox 23"/>
          <p:cNvSpPr txBox="1"/>
          <p:nvPr/>
        </p:nvSpPr>
        <p:spPr>
          <a:xfrm>
            <a:off x="6995159" y="3401567"/>
            <a:ext cx="64008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2E6B4F"/>
                </a:solidFill>
                <a:latin typeface="Cambria"/>
                <a:ea typeface="Microsoft JhengHei"/>
                <a:cs typeface="Cambria"/>
                <a:sym typeface="Cambria"/>
              </a:defRPr>
            </a:lvl1pPr>
          </a:lstStyle>
          <a:p>
            <a:pPr/>
            <a:r>
              <a:t>Cornell</a:t>
            </a:r>
          </a:p>
        </p:txBody>
      </p:sp>
      <p:sp>
        <p:nvSpPr>
          <p:cNvPr id="922" name="Rounded Rectangle 24"/>
          <p:cNvSpPr/>
          <p:nvPr/>
        </p:nvSpPr>
        <p:spPr>
          <a:xfrm>
            <a:off x="4389120" y="3968496"/>
            <a:ext cx="3429002" cy="676658"/>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923" name="TextBox 25"/>
          <p:cNvSpPr txBox="1"/>
          <p:nvPr/>
        </p:nvSpPr>
        <p:spPr>
          <a:xfrm>
            <a:off x="4626864" y="4059935"/>
            <a:ext cx="2286002" cy="3327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100">
                <a:solidFill>
                  <a:srgbClr val="1B2A22"/>
                </a:solidFill>
                <a:latin typeface="Cambria"/>
                <a:ea typeface="Microsoft JhengHei"/>
                <a:cs typeface="Cambria"/>
                <a:sym typeface="Cambria"/>
              </a:defRPr>
            </a:pPr>
            <a:r>
              <a:t>Texas A&amp;M University</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德州農工大學</a:t>
            </a:r>
          </a:p>
        </p:txBody>
      </p:sp>
      <p:sp>
        <p:nvSpPr>
          <p:cNvPr id="924" name="TextBox 26"/>
          <p:cNvSpPr txBox="1"/>
          <p:nvPr/>
        </p:nvSpPr>
        <p:spPr>
          <a:xfrm>
            <a:off x="6995159" y="4187952"/>
            <a:ext cx="64008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2E6B4F"/>
                </a:solidFill>
                <a:latin typeface="Cambria"/>
                <a:ea typeface="Microsoft JhengHei"/>
                <a:cs typeface="Cambria"/>
                <a:sym typeface="Cambria"/>
              </a:defRPr>
            </a:lvl1pPr>
          </a:lstStyle>
          <a:p>
            <a:pPr/>
            <a:r>
              <a:t>Texas A&amp;M</a:t>
            </a:r>
          </a:p>
        </p:txBody>
      </p:sp>
      <p:sp>
        <p:nvSpPr>
          <p:cNvPr id="925" name="Rounded Rectangle 27"/>
          <p:cNvSpPr/>
          <p:nvPr/>
        </p:nvSpPr>
        <p:spPr>
          <a:xfrm>
            <a:off x="4389120" y="4754879"/>
            <a:ext cx="3429002" cy="676658"/>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926" name="TextBox 28"/>
          <p:cNvSpPr txBox="1"/>
          <p:nvPr/>
        </p:nvSpPr>
        <p:spPr>
          <a:xfrm>
            <a:off x="4626864" y="4846320"/>
            <a:ext cx="2286002" cy="3327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100">
                <a:solidFill>
                  <a:srgbClr val="1B2A22"/>
                </a:solidFill>
                <a:latin typeface="Cambria"/>
                <a:ea typeface="Microsoft JhengHei"/>
                <a:cs typeface="Cambria"/>
                <a:sym typeface="Cambria"/>
              </a:defRPr>
            </a:pPr>
            <a:r>
              <a:t>Michigan State University</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密西根州立大學</a:t>
            </a:r>
          </a:p>
        </p:txBody>
      </p:sp>
      <p:sp>
        <p:nvSpPr>
          <p:cNvPr id="927" name="TextBox 29"/>
          <p:cNvSpPr txBox="1"/>
          <p:nvPr/>
        </p:nvSpPr>
        <p:spPr>
          <a:xfrm>
            <a:off x="6995159" y="4974335"/>
            <a:ext cx="64008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2E6B4F"/>
                </a:solidFill>
                <a:latin typeface="Cambria"/>
                <a:ea typeface="Microsoft JhengHei"/>
                <a:cs typeface="Cambria"/>
                <a:sym typeface="Cambria"/>
              </a:defRPr>
            </a:lvl1pPr>
          </a:lstStyle>
          <a:p>
            <a:pPr/>
            <a:r>
              <a:t>MSU</a:t>
            </a:r>
          </a:p>
        </p:txBody>
      </p:sp>
      <p:pic>
        <p:nvPicPr>
          <p:cNvPr id="928" name="Picture 30" descr="Picture 30"/>
          <p:cNvPicPr>
            <a:picLocks noChangeAspect="1"/>
          </p:cNvPicPr>
          <p:nvPr/>
        </p:nvPicPr>
        <p:blipFill>
          <a:blip r:embed="rId3">
            <a:extLst/>
          </a:blip>
          <a:srcRect l="2574" t="0" r="2573" b="0"/>
          <a:stretch>
            <a:fillRect/>
          </a:stretch>
        </p:blipFill>
        <p:spPr>
          <a:xfrm>
            <a:off x="8092440" y="1938527"/>
            <a:ext cx="3410714" cy="2697482"/>
          </a:xfrm>
          <a:prstGeom prst="rect">
            <a:avLst/>
          </a:prstGeom>
          <a:ln w="12700">
            <a:miter lim="400000"/>
          </a:ln>
        </p:spPr>
      </p:pic>
      <p:sp>
        <p:nvSpPr>
          <p:cNvPr id="929" name="Rounded Rectangle 31"/>
          <p:cNvSpPr/>
          <p:nvPr/>
        </p:nvSpPr>
        <p:spPr>
          <a:xfrm>
            <a:off x="8092440" y="4800600"/>
            <a:ext cx="3410714" cy="1463040"/>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930" name="TextBox 32"/>
          <p:cNvSpPr txBox="1"/>
          <p:nvPr/>
        </p:nvSpPr>
        <p:spPr>
          <a:xfrm>
            <a:off x="8339325" y="4983479"/>
            <a:ext cx="2916938" cy="8944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7999"/>
              </a:lnSpc>
              <a:spcBef>
                <a:spcPts val="500"/>
              </a:spcBef>
              <a:defRPr sz="1100">
                <a:solidFill>
                  <a:srgbClr val="1B2A22"/>
                </a:solidFill>
                <a:latin typeface="Cambria"/>
                <a:ea typeface="Microsoft JhengHei"/>
                <a:cs typeface="Cambria"/>
                <a:sym typeface="Cambria"/>
              </a:defRPr>
            </a:pPr>
            <a:r>
              <a:t>Eight universities on one theme — landscape and human health — sustained by joint conferences, student exchange and co-authored research.</a:t>
            </a:r>
            <a:endParaRPr>
              <a:latin typeface="+mj-lt"/>
              <a:ea typeface="+mj-ea"/>
              <a:cs typeface="+mj-cs"/>
              <a:sym typeface="Calibri"/>
            </a:endParaRPr>
          </a:p>
          <a:p>
            <a:pPr>
              <a:lnSpc>
                <a:spcPct val="115000"/>
              </a:lnSpc>
              <a:defRPr sz="1000">
                <a:solidFill>
                  <a:srgbClr val="6F7C75"/>
                </a:solidFill>
                <a:latin typeface="Microsoft JhengHei"/>
                <a:ea typeface="Microsoft JhengHei"/>
                <a:cs typeface="Microsoft JhengHei"/>
                <a:sym typeface="Microsoft JhengHei"/>
              </a:defRPr>
            </a:pPr>
            <a:r>
              <a:t>八校平台以景觀與人類健康為共同主題，透過研討會、學生互訪與聯合研究維持運作。</a:t>
            </a:r>
          </a:p>
        </p:txBody>
      </p:sp>
      <p:sp>
        <p:nvSpPr>
          <p:cNvPr id="931" name="TextBox 33"/>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932" name="TextBox 34"/>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37</a:t>
            </a:r>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36"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04  ·  INTERNATIONAL PLATFORM  ·  國際平台</a:t>
            </a:r>
          </a:p>
        </p:txBody>
      </p:sp>
      <p:sp>
        <p:nvSpPr>
          <p:cNvPr id="937"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Signed and Established Partnerships</a:t>
            </a:r>
          </a:p>
        </p:txBody>
      </p:sp>
      <p:sp>
        <p:nvSpPr>
          <p:cNvPr id="938"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已簽署與已成形的合作</a:t>
            </a:r>
          </a:p>
        </p:txBody>
      </p:sp>
      <p:sp>
        <p:nvSpPr>
          <p:cNvPr id="939" name="Rounded Rectangle 4"/>
          <p:cNvSpPr/>
          <p:nvPr/>
        </p:nvSpPr>
        <p:spPr>
          <a:xfrm>
            <a:off x="685800" y="1938527"/>
            <a:ext cx="6903720" cy="877826"/>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940" name="TextBox 5"/>
          <p:cNvSpPr txBox="1"/>
          <p:nvPr/>
        </p:nvSpPr>
        <p:spPr>
          <a:xfrm>
            <a:off x="941832" y="2231134"/>
            <a:ext cx="120701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E6B4F"/>
                </a:solidFill>
                <a:latin typeface="Cambria"/>
                <a:ea typeface="Microsoft JhengHei"/>
                <a:cs typeface="Cambria"/>
                <a:sym typeface="Cambria"/>
              </a:defRPr>
            </a:lvl1pPr>
          </a:lstStyle>
          <a:p>
            <a:pPr/>
            <a:r>
              <a:t>2024.06.21</a:t>
            </a:r>
          </a:p>
        </p:txBody>
      </p:sp>
      <p:sp>
        <p:nvSpPr>
          <p:cNvPr id="941" name="TextBox 6"/>
          <p:cNvSpPr txBox="1"/>
          <p:nvPr/>
        </p:nvSpPr>
        <p:spPr>
          <a:xfrm>
            <a:off x="2313432" y="2084832"/>
            <a:ext cx="5029202" cy="3327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200">
                <a:solidFill>
                  <a:srgbClr val="1B2A22"/>
                </a:solidFill>
                <a:latin typeface="Cambria"/>
                <a:ea typeface="Microsoft JhengHei"/>
                <a:cs typeface="Cambria"/>
                <a:sym typeface="Cambria"/>
              </a:defRPr>
            </a:pPr>
            <a:r>
              <a:t>Joint master's programme with UT Arlington</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德州大學阿靈頓分校建築學院來訪，促成景觀學聯合碩士學程。</a:t>
            </a:r>
          </a:p>
        </p:txBody>
      </p:sp>
      <p:sp>
        <p:nvSpPr>
          <p:cNvPr id="942" name="Rounded Rectangle 7"/>
          <p:cNvSpPr/>
          <p:nvPr/>
        </p:nvSpPr>
        <p:spPr>
          <a:xfrm>
            <a:off x="685800" y="2962655"/>
            <a:ext cx="6903720" cy="877826"/>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943" name="TextBox 8"/>
          <p:cNvSpPr txBox="1"/>
          <p:nvPr/>
        </p:nvSpPr>
        <p:spPr>
          <a:xfrm>
            <a:off x="941832" y="3255264"/>
            <a:ext cx="120701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E6B4F"/>
                </a:solidFill>
                <a:latin typeface="Cambria"/>
                <a:ea typeface="Microsoft JhengHei"/>
                <a:cs typeface="Cambria"/>
                <a:sym typeface="Cambria"/>
              </a:defRPr>
            </a:lvl1pPr>
          </a:lstStyle>
          <a:p>
            <a:pPr/>
            <a:r>
              <a:t>2025.04.21</a:t>
            </a:r>
          </a:p>
        </p:txBody>
      </p:sp>
      <p:sp>
        <p:nvSpPr>
          <p:cNvPr id="944" name="TextBox 9"/>
          <p:cNvSpPr txBox="1"/>
          <p:nvPr/>
        </p:nvSpPr>
        <p:spPr>
          <a:xfrm>
            <a:off x="2313432" y="3108960"/>
            <a:ext cx="5029202" cy="3327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200">
                <a:solidFill>
                  <a:srgbClr val="1B2A22"/>
                </a:solidFill>
                <a:latin typeface="Cambria"/>
                <a:ea typeface="Microsoft JhengHei"/>
                <a:cs typeface="Cambria"/>
                <a:sym typeface="Cambria"/>
              </a:defRPr>
            </a:pPr>
            <a:r>
              <a:t>MOU signed with Konkuk University</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韓國建國大學農業治癒融合研究中心來臺，正式簽署合作備忘錄。</a:t>
            </a:r>
          </a:p>
        </p:txBody>
      </p:sp>
      <p:sp>
        <p:nvSpPr>
          <p:cNvPr id="945" name="Rounded Rectangle 10"/>
          <p:cNvSpPr/>
          <p:nvPr/>
        </p:nvSpPr>
        <p:spPr>
          <a:xfrm>
            <a:off x="685800" y="3986784"/>
            <a:ext cx="6903720" cy="877826"/>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946" name="TextBox 11"/>
          <p:cNvSpPr txBox="1"/>
          <p:nvPr/>
        </p:nvSpPr>
        <p:spPr>
          <a:xfrm>
            <a:off x="941832" y="4279391"/>
            <a:ext cx="120701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E6B4F"/>
                </a:solidFill>
                <a:latin typeface="Cambria"/>
                <a:ea typeface="Microsoft JhengHei"/>
                <a:cs typeface="Cambria"/>
                <a:sym typeface="Cambria"/>
              </a:defRPr>
            </a:lvl1pPr>
          </a:lstStyle>
          <a:p>
            <a:pPr/>
            <a:r>
              <a:t>2025.05.20</a:t>
            </a:r>
          </a:p>
        </p:txBody>
      </p:sp>
      <p:sp>
        <p:nvSpPr>
          <p:cNvPr id="947" name="TextBox 12"/>
          <p:cNvSpPr txBox="1"/>
          <p:nvPr/>
        </p:nvSpPr>
        <p:spPr>
          <a:xfrm>
            <a:off x="2313432" y="4133088"/>
            <a:ext cx="5029202" cy="3327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200">
                <a:solidFill>
                  <a:srgbClr val="1B2A22"/>
                </a:solidFill>
                <a:latin typeface="Cambria"/>
                <a:ea typeface="Microsoft JhengHei"/>
                <a:cs typeface="Cambria"/>
                <a:sym typeface="Cambria"/>
              </a:defRPr>
            </a:pPr>
            <a:r>
              <a:t>UT Arlington student delegation visit</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德州大學阿靈頓分校學生團來訪，進行實驗室體驗與交流。</a:t>
            </a:r>
          </a:p>
        </p:txBody>
      </p:sp>
      <p:sp>
        <p:nvSpPr>
          <p:cNvPr id="948" name="Rounded Rectangle 13"/>
          <p:cNvSpPr/>
          <p:nvPr/>
        </p:nvSpPr>
        <p:spPr>
          <a:xfrm>
            <a:off x="685800" y="5010910"/>
            <a:ext cx="6903720" cy="877827"/>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949" name="TextBox 14"/>
          <p:cNvSpPr txBox="1"/>
          <p:nvPr/>
        </p:nvSpPr>
        <p:spPr>
          <a:xfrm>
            <a:off x="941832" y="5303520"/>
            <a:ext cx="120701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E6B4F"/>
                </a:solidFill>
                <a:latin typeface="Cambria"/>
                <a:ea typeface="Microsoft JhengHei"/>
                <a:cs typeface="Cambria"/>
                <a:sym typeface="Cambria"/>
              </a:defRPr>
            </a:lvl1pPr>
          </a:lstStyle>
          <a:p>
            <a:pPr/>
            <a:r>
              <a:t>2025.11.25</a:t>
            </a:r>
          </a:p>
        </p:txBody>
      </p:sp>
      <p:sp>
        <p:nvSpPr>
          <p:cNvPr id="950" name="TextBox 15"/>
          <p:cNvSpPr txBox="1"/>
          <p:nvPr/>
        </p:nvSpPr>
        <p:spPr>
          <a:xfrm>
            <a:off x="2313432" y="5157215"/>
            <a:ext cx="5029202" cy="3327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0000"/>
              </a:lnSpc>
              <a:spcBef>
                <a:spcPts val="200"/>
              </a:spcBef>
              <a:defRPr sz="1200">
                <a:solidFill>
                  <a:srgbClr val="1B2A22"/>
                </a:solidFill>
                <a:latin typeface="Cambria"/>
                <a:ea typeface="Microsoft JhengHei"/>
                <a:cs typeface="Cambria"/>
                <a:sym typeface="Cambria"/>
              </a:defRPr>
            </a:pPr>
            <a:r>
              <a:t>Reciprocal visit to Konkuk University</a:t>
            </a:r>
            <a:endParaRPr>
              <a:latin typeface="+mj-lt"/>
              <a:ea typeface="+mj-ea"/>
              <a:cs typeface="+mj-cs"/>
              <a:sym typeface="Calibri"/>
            </a:endParaRPr>
          </a:p>
          <a:p>
            <a:pPr>
              <a:lnSpc>
                <a:spcPct val="110000"/>
              </a:lnSpc>
              <a:defRPr sz="1000">
                <a:solidFill>
                  <a:srgbClr val="6F7C75"/>
                </a:solidFill>
                <a:latin typeface="Microsoft JhengHei"/>
                <a:ea typeface="Microsoft JhengHei"/>
                <a:cs typeface="Microsoft JhengHei"/>
                <a:sym typeface="Microsoft JhengHei"/>
              </a:defRPr>
            </a:pPr>
            <a:r>
              <a:t>中心主任與顧問回訪建國大學，商討研究合作與課程互通。</a:t>
            </a:r>
          </a:p>
        </p:txBody>
      </p:sp>
      <p:pic>
        <p:nvPicPr>
          <p:cNvPr id="951" name="Picture 16" descr="Picture 16"/>
          <p:cNvPicPr>
            <a:picLocks noChangeAspect="1"/>
          </p:cNvPicPr>
          <p:nvPr/>
        </p:nvPicPr>
        <p:blipFill>
          <a:blip r:embed="rId3">
            <a:extLst/>
          </a:blip>
          <a:srcRect l="0" t="2036" r="0" b="2036"/>
          <a:stretch>
            <a:fillRect/>
          </a:stretch>
        </p:blipFill>
        <p:spPr>
          <a:xfrm>
            <a:off x="7818118" y="1938527"/>
            <a:ext cx="3685034" cy="2651762"/>
          </a:xfrm>
          <a:prstGeom prst="rect">
            <a:avLst/>
          </a:prstGeom>
          <a:ln w="12700">
            <a:miter lim="400000"/>
          </a:ln>
        </p:spPr>
      </p:pic>
      <p:sp>
        <p:nvSpPr>
          <p:cNvPr id="952" name="Rounded Rectangle 17"/>
          <p:cNvSpPr/>
          <p:nvPr/>
        </p:nvSpPr>
        <p:spPr>
          <a:xfrm>
            <a:off x="7818118" y="4754879"/>
            <a:ext cx="3685034" cy="1481330"/>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953" name="TextBox 18"/>
          <p:cNvSpPr txBox="1"/>
          <p:nvPr/>
        </p:nvSpPr>
        <p:spPr>
          <a:xfrm>
            <a:off x="8065006" y="4974335"/>
            <a:ext cx="3191258" cy="8944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7999"/>
              </a:lnSpc>
              <a:spcBef>
                <a:spcPts val="500"/>
              </a:spcBef>
              <a:defRPr sz="1100">
                <a:solidFill>
                  <a:srgbClr val="1B2A22"/>
                </a:solidFill>
                <a:latin typeface="Cambria"/>
                <a:ea typeface="Microsoft JhengHei"/>
                <a:cs typeface="Cambria"/>
                <a:sym typeface="Cambria"/>
              </a:defRPr>
            </a:pPr>
            <a:r>
              <a:t>Konkuk has reached reciprocal-visit stage; UT Arlington has advanced to degree-programme level — the most institutionalised line to date.</a:t>
            </a:r>
            <a:endParaRPr>
              <a:latin typeface="+mj-lt"/>
              <a:ea typeface="+mj-ea"/>
              <a:cs typeface="+mj-cs"/>
              <a:sym typeface="Calibri"/>
            </a:endParaRPr>
          </a:p>
          <a:p>
            <a:pPr>
              <a:lnSpc>
                <a:spcPct val="115000"/>
              </a:lnSpc>
              <a:defRPr sz="1000">
                <a:solidFill>
                  <a:srgbClr val="6F7C75"/>
                </a:solidFill>
                <a:latin typeface="Microsoft JhengHei"/>
                <a:ea typeface="Microsoft JhengHei"/>
                <a:cs typeface="Microsoft JhengHei"/>
                <a:sym typeface="Microsoft JhengHei"/>
              </a:defRPr>
            </a:pPr>
            <a:r>
              <a:t>與建國大學已進入雙向互訪階段；與德州大學阿靈頓分校則推進到學位學程層級。</a:t>
            </a:r>
          </a:p>
        </p:txBody>
      </p:sp>
      <p:sp>
        <p:nvSpPr>
          <p:cNvPr id="954" name="TextBox 19"/>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955" name="TextBox 20"/>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38</a:t>
            </a: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9"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04  ·  INTERNATIONAL PLATFORM  ·  國際平台</a:t>
            </a:r>
          </a:p>
        </p:txBody>
      </p:sp>
      <p:sp>
        <p:nvSpPr>
          <p:cNvPr id="960"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Academic and Clinical Connections</a:t>
            </a:r>
          </a:p>
        </p:txBody>
      </p:sp>
      <p:sp>
        <p:nvSpPr>
          <p:cNvPr id="961"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學術與臨床的國際連結</a:t>
            </a:r>
          </a:p>
        </p:txBody>
      </p:sp>
      <p:sp>
        <p:nvSpPr>
          <p:cNvPr id="962" name="Rounded Rectangle 4"/>
          <p:cNvSpPr/>
          <p:nvPr/>
        </p:nvSpPr>
        <p:spPr>
          <a:xfrm>
            <a:off x="685800" y="1938527"/>
            <a:ext cx="5760721" cy="402336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963" name="TextBox 5"/>
          <p:cNvSpPr txBox="1"/>
          <p:nvPr/>
        </p:nvSpPr>
        <p:spPr>
          <a:xfrm>
            <a:off x="1005838" y="2194560"/>
            <a:ext cx="5120644"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2E6B4F"/>
                </a:solidFill>
                <a:latin typeface="Cambria"/>
                <a:ea typeface="Microsoft JhengHei"/>
                <a:cs typeface="Cambria"/>
                <a:sym typeface="Cambria"/>
              </a:defRPr>
            </a:lvl1pPr>
          </a:lstStyle>
          <a:p>
            <a:pPr/>
            <a:r>
              <a:t>2024.01.08</a:t>
            </a:r>
          </a:p>
        </p:txBody>
      </p:sp>
      <p:sp>
        <p:nvSpPr>
          <p:cNvPr id="964" name="TextBox 6"/>
          <p:cNvSpPr txBox="1"/>
          <p:nvPr/>
        </p:nvSpPr>
        <p:spPr>
          <a:xfrm>
            <a:off x="1005838" y="2542032"/>
            <a:ext cx="5120644"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300"/>
              </a:spcBef>
              <a:defRPr sz="1600">
                <a:solidFill>
                  <a:srgbClr val="1B2A22"/>
                </a:solidFill>
                <a:latin typeface="Cambria"/>
                <a:ea typeface="Microsoft JhengHei"/>
                <a:cs typeface="Cambria"/>
                <a:sym typeface="Cambria"/>
              </a:defRPr>
            </a:pPr>
            <a:r>
              <a:t>International Conference and Workshop</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國際研討會暨工作坊　·　Landscape Architecture with AI and Big Data Analysis</a:t>
            </a:r>
          </a:p>
        </p:txBody>
      </p:sp>
      <p:sp>
        <p:nvSpPr>
          <p:cNvPr id="965" name="Oval 7"/>
          <p:cNvSpPr/>
          <p:nvPr/>
        </p:nvSpPr>
        <p:spPr>
          <a:xfrm>
            <a:off x="1005838" y="3511296"/>
            <a:ext cx="82299" cy="82299"/>
          </a:xfrm>
          <a:prstGeom prst="ellipse">
            <a:avLst/>
          </a:prstGeom>
          <a:solidFill>
            <a:srgbClr val="8FB09C"/>
          </a:solidFill>
          <a:ln w="12700">
            <a:miter lim="400000"/>
          </a:ln>
        </p:spPr>
        <p:txBody>
          <a:bodyPr lIns="45718" tIns="45718" rIns="45718" bIns="45718" anchor="ctr"/>
          <a:lstStyle/>
          <a:p>
            <a:pPr algn="ctr">
              <a:defRPr>
                <a:solidFill>
                  <a:srgbClr val="FFFFFF"/>
                </a:solidFill>
              </a:defRPr>
            </a:pPr>
          </a:p>
        </p:txBody>
      </p:sp>
      <p:sp>
        <p:nvSpPr>
          <p:cNvPr id="966" name="TextBox 8"/>
          <p:cNvSpPr txBox="1"/>
          <p:nvPr/>
        </p:nvSpPr>
        <p:spPr>
          <a:xfrm>
            <a:off x="1216150" y="3383279"/>
            <a:ext cx="4892044"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22"/>
                </a:solidFill>
                <a:latin typeface="Cambria"/>
                <a:ea typeface="Microsoft JhengHei"/>
                <a:cs typeface="Cambria"/>
                <a:sym typeface="Cambria"/>
              </a:defRPr>
            </a:lvl1pPr>
          </a:lstStyle>
          <a:p>
            <a:pPr/>
            <a:r>
              <a:t>William C. Sullivan</a:t>
            </a:r>
          </a:p>
        </p:txBody>
      </p:sp>
      <p:sp>
        <p:nvSpPr>
          <p:cNvPr id="967" name="TextBox 9"/>
          <p:cNvSpPr txBox="1"/>
          <p:nvPr/>
        </p:nvSpPr>
        <p:spPr>
          <a:xfrm>
            <a:off x="1216150" y="3657600"/>
            <a:ext cx="4892044" cy="152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6F7C75"/>
                </a:solidFill>
                <a:latin typeface="Cambria"/>
                <a:ea typeface="Microsoft JhengHei"/>
                <a:cs typeface="Cambria"/>
                <a:sym typeface="Cambria"/>
              </a:defRPr>
            </a:lvl1pPr>
          </a:lstStyle>
          <a:p>
            <a:pPr/>
            <a:r>
              <a:t>University of Illinois Urbana-Champaign</a:t>
            </a:r>
          </a:p>
        </p:txBody>
      </p:sp>
      <p:sp>
        <p:nvSpPr>
          <p:cNvPr id="968" name="Oval 10"/>
          <p:cNvSpPr/>
          <p:nvPr/>
        </p:nvSpPr>
        <p:spPr>
          <a:xfrm>
            <a:off x="1005838" y="4169662"/>
            <a:ext cx="82299" cy="82299"/>
          </a:xfrm>
          <a:prstGeom prst="ellipse">
            <a:avLst/>
          </a:prstGeom>
          <a:solidFill>
            <a:srgbClr val="8FB09C"/>
          </a:solidFill>
          <a:ln w="12700">
            <a:miter lim="400000"/>
          </a:ln>
        </p:spPr>
        <p:txBody>
          <a:bodyPr lIns="45718" tIns="45718" rIns="45718" bIns="45718" anchor="ctr"/>
          <a:lstStyle/>
          <a:p>
            <a:pPr algn="ctr">
              <a:defRPr>
                <a:solidFill>
                  <a:srgbClr val="FFFFFF"/>
                </a:solidFill>
              </a:defRPr>
            </a:pPr>
          </a:p>
        </p:txBody>
      </p:sp>
      <p:sp>
        <p:nvSpPr>
          <p:cNvPr id="969" name="TextBox 11"/>
          <p:cNvSpPr txBox="1"/>
          <p:nvPr/>
        </p:nvSpPr>
        <p:spPr>
          <a:xfrm>
            <a:off x="1216150" y="4041647"/>
            <a:ext cx="4892044"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22"/>
                </a:solidFill>
                <a:latin typeface="Cambria"/>
                <a:ea typeface="Microsoft JhengHei"/>
                <a:cs typeface="Cambria"/>
                <a:sym typeface="Cambria"/>
              </a:defRPr>
            </a:lvl1pPr>
          </a:lstStyle>
          <a:p>
            <a:pPr/>
            <a:r>
              <a:t>Ching-wen Cheng</a:t>
            </a:r>
          </a:p>
        </p:txBody>
      </p:sp>
      <p:sp>
        <p:nvSpPr>
          <p:cNvPr id="970" name="TextBox 12"/>
          <p:cNvSpPr txBox="1"/>
          <p:nvPr/>
        </p:nvSpPr>
        <p:spPr>
          <a:xfrm>
            <a:off x="1216150" y="4315967"/>
            <a:ext cx="4892044"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6F7C75"/>
                </a:solidFill>
                <a:latin typeface="Cambria"/>
                <a:ea typeface="Microsoft JhengHei"/>
                <a:cs typeface="Cambria"/>
                <a:sym typeface="Cambria"/>
              </a:defRPr>
            </a:lvl1pPr>
          </a:lstStyle>
          <a:p>
            <a:pPr/>
            <a:r>
              <a:t>Arizona State University</a:t>
            </a:r>
          </a:p>
        </p:txBody>
      </p:sp>
      <p:sp>
        <p:nvSpPr>
          <p:cNvPr id="971" name="Oval 13"/>
          <p:cNvSpPr/>
          <p:nvPr/>
        </p:nvSpPr>
        <p:spPr>
          <a:xfrm>
            <a:off x="1005838" y="4828032"/>
            <a:ext cx="82299" cy="82299"/>
          </a:xfrm>
          <a:prstGeom prst="ellipse">
            <a:avLst/>
          </a:prstGeom>
          <a:solidFill>
            <a:srgbClr val="8FB09C"/>
          </a:solidFill>
          <a:ln w="12700">
            <a:miter lim="400000"/>
          </a:ln>
        </p:spPr>
        <p:txBody>
          <a:bodyPr lIns="45718" tIns="45718" rIns="45718" bIns="45718" anchor="ctr"/>
          <a:lstStyle/>
          <a:p>
            <a:pPr algn="ctr">
              <a:defRPr>
                <a:solidFill>
                  <a:srgbClr val="FFFFFF"/>
                </a:solidFill>
              </a:defRPr>
            </a:pPr>
          </a:p>
        </p:txBody>
      </p:sp>
      <p:sp>
        <p:nvSpPr>
          <p:cNvPr id="972" name="TextBox 14"/>
          <p:cNvSpPr txBox="1"/>
          <p:nvPr/>
        </p:nvSpPr>
        <p:spPr>
          <a:xfrm>
            <a:off x="1216150" y="4700015"/>
            <a:ext cx="4892044"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22"/>
                </a:solidFill>
                <a:latin typeface="Cambria"/>
                <a:ea typeface="Microsoft JhengHei"/>
                <a:cs typeface="Cambria"/>
                <a:sym typeface="Cambria"/>
              </a:defRPr>
            </a:lvl1pPr>
          </a:lstStyle>
          <a:p>
            <a:pPr/>
            <a:r>
              <a:t>Tuula Jyske</a:t>
            </a:r>
          </a:p>
        </p:txBody>
      </p:sp>
      <p:sp>
        <p:nvSpPr>
          <p:cNvPr id="973" name="TextBox 15"/>
          <p:cNvSpPr txBox="1"/>
          <p:nvPr/>
        </p:nvSpPr>
        <p:spPr>
          <a:xfrm>
            <a:off x="1216150" y="4974335"/>
            <a:ext cx="4892044"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6F7C75"/>
                </a:solidFill>
                <a:latin typeface="Cambria"/>
                <a:ea typeface="Microsoft JhengHei"/>
                <a:cs typeface="Cambria"/>
                <a:sym typeface="Cambria"/>
              </a:defRPr>
            </a:lvl1pPr>
          </a:lstStyle>
          <a:p>
            <a:pPr/>
            <a:r>
              <a:t>University of Helsinki</a:t>
            </a:r>
          </a:p>
        </p:txBody>
      </p:sp>
      <p:sp>
        <p:nvSpPr>
          <p:cNvPr id="974" name="Oval 16"/>
          <p:cNvSpPr/>
          <p:nvPr/>
        </p:nvSpPr>
        <p:spPr>
          <a:xfrm>
            <a:off x="1005838" y="5486400"/>
            <a:ext cx="82299" cy="82298"/>
          </a:xfrm>
          <a:prstGeom prst="ellipse">
            <a:avLst/>
          </a:prstGeom>
          <a:solidFill>
            <a:srgbClr val="8FB09C"/>
          </a:solidFill>
          <a:ln w="12700">
            <a:miter lim="400000"/>
          </a:ln>
        </p:spPr>
        <p:txBody>
          <a:bodyPr lIns="45718" tIns="45718" rIns="45718" bIns="45718" anchor="ctr"/>
          <a:lstStyle/>
          <a:p>
            <a:pPr algn="ctr">
              <a:defRPr>
                <a:solidFill>
                  <a:srgbClr val="FFFFFF"/>
                </a:solidFill>
              </a:defRPr>
            </a:pPr>
          </a:p>
        </p:txBody>
      </p:sp>
      <p:sp>
        <p:nvSpPr>
          <p:cNvPr id="975" name="TextBox 17"/>
          <p:cNvSpPr txBox="1"/>
          <p:nvPr/>
        </p:nvSpPr>
        <p:spPr>
          <a:xfrm>
            <a:off x="1216150" y="5358384"/>
            <a:ext cx="4892044"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22"/>
                </a:solidFill>
                <a:latin typeface="Cambria"/>
                <a:ea typeface="Microsoft JhengHei"/>
                <a:cs typeface="Cambria"/>
                <a:sym typeface="Cambria"/>
              </a:defRPr>
            </a:lvl1pPr>
          </a:lstStyle>
          <a:p>
            <a:pPr/>
            <a:r>
              <a:t>Chun-Yen Chang</a:t>
            </a:r>
          </a:p>
        </p:txBody>
      </p:sp>
      <p:sp>
        <p:nvSpPr>
          <p:cNvPr id="976" name="TextBox 18"/>
          <p:cNvSpPr txBox="1"/>
          <p:nvPr/>
        </p:nvSpPr>
        <p:spPr>
          <a:xfrm>
            <a:off x="1216150" y="5632703"/>
            <a:ext cx="4892044"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6F7C75"/>
                </a:solidFill>
                <a:latin typeface="Cambria"/>
                <a:ea typeface="Microsoft JhengHei"/>
                <a:cs typeface="Cambria"/>
                <a:sym typeface="Cambria"/>
              </a:defRPr>
            </a:lvl1pPr>
          </a:lstStyle>
          <a:p>
            <a:pPr/>
            <a:r>
              <a:t>National Taiwan University</a:t>
            </a:r>
          </a:p>
        </p:txBody>
      </p:sp>
      <p:sp>
        <p:nvSpPr>
          <p:cNvPr id="977" name="Rounded Rectangle 19"/>
          <p:cNvSpPr/>
          <p:nvPr/>
        </p:nvSpPr>
        <p:spPr>
          <a:xfrm>
            <a:off x="6812280" y="1938527"/>
            <a:ext cx="4690874" cy="4023362"/>
          </a:xfrm>
          <a:prstGeom prst="roundRect">
            <a:avLst>
              <a:gd name="adj" fmla="val 4500"/>
            </a:avLst>
          </a:prstGeom>
          <a:solidFill>
            <a:srgbClr val="E3ECE6"/>
          </a:solidFill>
          <a:ln w="12700">
            <a:miter lim="400000"/>
          </a:ln>
        </p:spPr>
        <p:txBody>
          <a:bodyPr lIns="45718" tIns="45718" rIns="45718" bIns="45718" anchor="ctr"/>
          <a:lstStyle/>
          <a:p>
            <a:pPr algn="ctr">
              <a:defRPr>
                <a:solidFill>
                  <a:srgbClr val="FFFFFF"/>
                </a:solidFill>
              </a:defRPr>
            </a:pPr>
          </a:p>
        </p:txBody>
      </p:sp>
      <p:sp>
        <p:nvSpPr>
          <p:cNvPr id="978" name="TextBox 20"/>
          <p:cNvSpPr txBox="1"/>
          <p:nvPr/>
        </p:nvSpPr>
        <p:spPr>
          <a:xfrm>
            <a:off x="7114030" y="2194560"/>
            <a:ext cx="408737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2E6B4F"/>
                </a:solidFill>
                <a:latin typeface="Cambria"/>
                <a:ea typeface="Microsoft JhengHei"/>
                <a:cs typeface="Cambria"/>
                <a:sym typeface="Cambria"/>
              </a:defRPr>
            </a:lvl1pPr>
          </a:lstStyle>
          <a:p>
            <a:pPr/>
            <a:r>
              <a:t>2026.02.09</a:t>
            </a:r>
          </a:p>
        </p:txBody>
      </p:sp>
      <p:sp>
        <p:nvSpPr>
          <p:cNvPr id="979" name="TextBox 21"/>
          <p:cNvSpPr txBox="1"/>
          <p:nvPr/>
        </p:nvSpPr>
        <p:spPr>
          <a:xfrm>
            <a:off x="7114030" y="2578606"/>
            <a:ext cx="4087370"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500"/>
              </a:spcBef>
              <a:defRPr sz="2100">
                <a:solidFill>
                  <a:srgbClr val="1B2A22"/>
                </a:solidFill>
                <a:latin typeface="Cambria"/>
                <a:ea typeface="Microsoft JhengHei"/>
                <a:cs typeface="Cambria"/>
                <a:sym typeface="Cambria"/>
              </a:defRPr>
            </a:pPr>
            <a:r>
              <a:t>Visit by May-Britt Moser</a:t>
            </a:r>
            <a:endParaRPr>
              <a:latin typeface="+mj-lt"/>
              <a:ea typeface="+mj-ea"/>
              <a:cs typeface="+mj-cs"/>
              <a:sym typeface="Calibri"/>
            </a:endParaRPr>
          </a:p>
          <a:p>
            <a:pPr>
              <a:spcBef>
                <a:spcPts val="200"/>
              </a:spcBef>
              <a:defRPr sz="1200">
                <a:solidFill>
                  <a:srgbClr val="2E6B4F"/>
                </a:solidFill>
                <a:latin typeface="Cambria"/>
                <a:ea typeface="Microsoft JhengHei"/>
                <a:cs typeface="Cambria"/>
                <a:sym typeface="Cambria"/>
              </a:defRPr>
            </a:pPr>
            <a:r>
              <a:t>2014 Nobel Laureate in Physiology or Medicine</a:t>
            </a:r>
            <a:endParaRPr>
              <a:latin typeface="+mj-lt"/>
              <a:ea typeface="+mj-ea"/>
              <a:cs typeface="+mj-cs"/>
              <a:sym typeface="Calibri"/>
            </a:endParaRPr>
          </a:p>
          <a:p>
            <a:pPr>
              <a:defRPr sz="1000">
                <a:solidFill>
                  <a:srgbClr val="6F7C75"/>
                </a:solidFill>
                <a:latin typeface="Microsoft JhengHei"/>
                <a:ea typeface="Microsoft JhengHei"/>
                <a:cs typeface="Microsoft JhengHei"/>
                <a:sym typeface="Microsoft JhengHei"/>
              </a:defRPr>
            </a:pPr>
            <a:r>
              <a:t>諾貝爾生理醫學獎得主來訪</a:t>
            </a:r>
          </a:p>
        </p:txBody>
      </p:sp>
      <p:sp>
        <p:nvSpPr>
          <p:cNvPr id="980" name="TextBox 22"/>
          <p:cNvSpPr txBox="1"/>
          <p:nvPr/>
        </p:nvSpPr>
        <p:spPr>
          <a:xfrm>
            <a:off x="7114030" y="3703320"/>
            <a:ext cx="4087370" cy="11313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22000"/>
              </a:lnSpc>
              <a:spcBef>
                <a:spcPts val="700"/>
              </a:spcBef>
              <a:defRPr sz="1200">
                <a:solidFill>
                  <a:srgbClr val="1B2A22"/>
                </a:solidFill>
                <a:latin typeface="Cambria"/>
                <a:ea typeface="Microsoft JhengHei"/>
                <a:cs typeface="Cambria"/>
                <a:sym typeface="Cambria"/>
              </a:defRPr>
            </a:pPr>
            <a:r>
              <a:t>The exchange focused on Alzheimer's disease and the brain's mechanisms of spatial recognition, opening a direct line to the neuroscience community — and pushing the center's research question one layer deeper.</a:t>
            </a:r>
            <a:endParaRPr>
              <a:latin typeface="+mj-lt"/>
              <a:ea typeface="+mj-ea"/>
              <a:cs typeface="+mj-cs"/>
              <a:sym typeface="Calibri"/>
            </a:endParaRPr>
          </a:p>
          <a:p>
            <a:pPr>
              <a:lnSpc>
                <a:spcPct val="117999"/>
              </a:lnSpc>
              <a:defRPr sz="1100">
                <a:solidFill>
                  <a:srgbClr val="6F7C75"/>
                </a:solidFill>
                <a:latin typeface="Microsoft JhengHei"/>
                <a:ea typeface="Microsoft JhengHei"/>
                <a:cs typeface="Microsoft JhengHei"/>
                <a:sym typeface="Microsoft JhengHei"/>
              </a:defRPr>
            </a:pPr>
            <a:r>
              <a:t>交流主題聚焦阿茲海默症與大腦空間辨識機制，為中心開啟與神經科學社群的直接連結。</a:t>
            </a:r>
          </a:p>
        </p:txBody>
      </p:sp>
      <p:sp>
        <p:nvSpPr>
          <p:cNvPr id="981" name="TextBox 23"/>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982" name="TextBox 24"/>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39</a:t>
            </a:r>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59"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04  ·  INTERNATIONAL PLATFORM  ·  國際平台</a:t>
            </a:r>
          </a:p>
        </p:txBody>
      </p:sp>
      <p:sp>
        <p:nvSpPr>
          <p:cNvPr id="960"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Where Our Visitors Come From</a:t>
            </a:r>
          </a:p>
        </p:txBody>
      </p:sp>
      <p:sp>
        <p:nvSpPr>
          <p:cNvPr id="961"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訪客來自哪裡　·　歷年來訪單位分布</a:t>
            </a:r>
          </a:p>
        </p:txBody>
      </p:sp>
      <p:sp>
        <p:nvSpPr>
          <p:cNvPr id="964" name="GHRC_MAP_STATS"/>
          <p:cNvSpPr txBox="1"/>
          <p:nvPr/>
        </p:nvSpPr>
        <p:spPr>
          <a:xfrm>
            <a:off x="685800" y="5943600"/>
            <a:ext cx="10817352" cy="4114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300"/>
              </a:spcBef>
              <a:defRPr sz="1600">
                <a:solidFill>
                  <a:srgbClr val="1B2A22"/>
                </a:solidFill>
                <a:latin typeface="Cambria"/>
                <a:ea typeface="Microsoft JhengHei"/>
                <a:cs typeface="Cambria"/>
                <a:sym typeface="Cambria"/>
              </a:defRPr>
            </a:pPr>
            <a:r>
              <a:t>36 institutions from 10 countries · 38 visits · as of 12 October 2026</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10 個國家 · 36 個單位 · 38 場　2026 年 10 月 12 日</a:t>
            </a:r>
          </a:p>
        </p:txBody>
      </p:sp>
      <p:sp>
        <p:nvSpPr>
          <p:cNvPr id="981" name="TextBox 23"/>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982" name="TextBox 24"/>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40</a:t>
            </a:r>
          </a:p>
        </p:txBody>
      </p:sp>
      <p:pic>
        <p:nvPicPr>
          <p:cNvPr id="983" name="GHRC_MAP" descr="map_slide.png"/>
          <p:cNvPicPr>
            <a:picLocks noChangeAspect="1"/>
          </p:cNvPicPr>
          <p:nvPr/>
        </p:nvPicPr>
        <p:blipFill>
          <a:blip r:embed="rId2"/>
          <a:stretch>
            <a:fillRect/>
          </a:stretch>
        </p:blipFill>
        <p:spPr>
          <a:xfrm>
            <a:off x="1017290" y="1783080"/>
            <a:ext cx="10154371" cy="406908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6" name="Rectangle 1"/>
          <p:cNvSpPr/>
          <p:nvPr/>
        </p:nvSpPr>
        <p:spPr>
          <a:xfrm>
            <a:off x="-54866" y="-54865"/>
            <a:ext cx="12301427" cy="6967729"/>
          </a:xfrm>
          <a:prstGeom prst="rect">
            <a:avLst/>
          </a:prstGeom>
          <a:solidFill>
            <a:srgbClr val="143529"/>
          </a:solidFill>
          <a:ln w="12700">
            <a:miter lim="400000"/>
          </a:ln>
        </p:spPr>
        <p:txBody>
          <a:bodyPr lIns="45718" tIns="45718" rIns="45718" bIns="45718" anchor="ctr"/>
          <a:lstStyle/>
          <a:p>
            <a:pPr algn="ctr">
              <a:defRPr>
                <a:solidFill>
                  <a:srgbClr val="FFFFFF"/>
                </a:solidFill>
              </a:defRPr>
            </a:pPr>
          </a:p>
        </p:txBody>
      </p:sp>
      <p:sp>
        <p:nvSpPr>
          <p:cNvPr id="987" name="TextBox 2"/>
          <p:cNvSpPr txBox="1"/>
          <p:nvPr/>
        </p:nvSpPr>
        <p:spPr>
          <a:xfrm>
            <a:off x="685800" y="1691638"/>
            <a:ext cx="2743200" cy="1092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7400">
                <a:solidFill>
                  <a:srgbClr val="2A5A44"/>
                </a:solidFill>
                <a:latin typeface="Cambria"/>
                <a:ea typeface="Microsoft JhengHei"/>
                <a:cs typeface="Cambria"/>
                <a:sym typeface="Cambria"/>
              </a:defRPr>
            </a:lvl1pPr>
          </a:lstStyle>
          <a:p>
            <a:pPr/>
            <a:r>
              <a:t>05</a:t>
            </a:r>
          </a:p>
        </p:txBody>
      </p:sp>
      <p:sp>
        <p:nvSpPr>
          <p:cNvPr id="988" name="TextBox 3"/>
          <p:cNvSpPr txBox="1"/>
          <p:nvPr/>
        </p:nvSpPr>
        <p:spPr>
          <a:xfrm>
            <a:off x="685799" y="3063238"/>
            <a:ext cx="10820097" cy="596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4000">
                <a:solidFill>
                  <a:srgbClr val="FFFFFF"/>
                </a:solidFill>
                <a:latin typeface="Cambria"/>
                <a:ea typeface="Microsoft JhengHei"/>
                <a:cs typeface="Cambria"/>
                <a:sym typeface="Cambria"/>
              </a:defRPr>
            </a:lvl1pPr>
          </a:lstStyle>
          <a:p>
            <a:pPr/>
            <a:r>
              <a:t>External Recognition</a:t>
            </a:r>
          </a:p>
        </p:txBody>
      </p:sp>
      <p:sp>
        <p:nvSpPr>
          <p:cNvPr id="989" name="TextBox 4"/>
          <p:cNvSpPr txBox="1"/>
          <p:nvPr/>
        </p:nvSpPr>
        <p:spPr>
          <a:xfrm>
            <a:off x="685799" y="3913632"/>
            <a:ext cx="10820097"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200">
                <a:solidFill>
                  <a:srgbClr val="8FB09C"/>
                </a:solidFill>
                <a:latin typeface="Microsoft JhengHei"/>
                <a:ea typeface="Microsoft JhengHei"/>
                <a:cs typeface="Microsoft JhengHei"/>
                <a:sym typeface="Microsoft JhengHei"/>
              </a:defRPr>
            </a:lvl1pPr>
          </a:lstStyle>
          <a:p>
            <a:pPr/>
            <a:r>
              <a:t>成果認證</a:t>
            </a:r>
          </a:p>
        </p:txBody>
      </p:sp>
      <p:sp>
        <p:nvSpPr>
          <p:cNvPr id="990" name="TextBox 5"/>
          <p:cNvSpPr txBox="1"/>
          <p:nvPr/>
        </p:nvSpPr>
        <p:spPr>
          <a:xfrm>
            <a:off x="685799" y="4709159"/>
            <a:ext cx="7863841"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400">
                <a:solidFill>
                  <a:srgbClr val="C6D5CB"/>
                </a:solidFill>
                <a:latin typeface="Cambria"/>
                <a:ea typeface="Microsoft JhengHei"/>
                <a:cs typeface="Cambria"/>
                <a:sym typeface="Cambria"/>
              </a:defRPr>
            </a:pPr>
            <a:r>
              <a:t>First prize at the 2026 Global Views USR Award.</a:t>
            </a:r>
            <a:endParaRPr>
              <a:latin typeface="+mj-lt"/>
              <a:ea typeface="+mj-ea"/>
              <a:cs typeface="+mj-cs"/>
              <a:sym typeface="Calibri"/>
            </a:endParaRPr>
          </a:p>
          <a:p>
            <a:pPr>
              <a:defRPr sz="1200">
                <a:solidFill>
                  <a:srgbClr val="8FB09C"/>
                </a:solidFill>
                <a:latin typeface="Microsoft JhengHei"/>
                <a:ea typeface="Microsoft JhengHei"/>
                <a:cs typeface="Microsoft JhengHei"/>
                <a:sym typeface="Microsoft JhengHei"/>
              </a:defRPr>
            </a:pPr>
            <a:r>
              <a:t>2026 遠見 USR 大學社會責任獎首獎。</a:t>
            </a:r>
          </a:p>
        </p:txBody>
      </p:sp>
      <p:sp>
        <p:nvSpPr>
          <p:cNvPr id="991" name="TextBox 6"/>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8FB09C"/>
                </a:solidFill>
                <a:latin typeface="Cambria"/>
                <a:ea typeface="Microsoft JhengHei"/>
                <a:cs typeface="Cambria"/>
                <a:sym typeface="Cambria"/>
              </a:defRPr>
            </a:lvl1pPr>
          </a:lstStyle>
          <a:p>
            <a:pPr/>
            <a:r>
              <a:t>Green Health Research Center  ·  NTU College of Bioresources and Agriculture</a:t>
            </a:r>
          </a:p>
        </p:txBody>
      </p:sp>
      <p:sp>
        <p:nvSpPr>
          <p:cNvPr id="992" name="TextBox 7"/>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8FB09C"/>
                </a:solidFill>
                <a:latin typeface="Cambria"/>
                <a:ea typeface="Microsoft JhengHei"/>
                <a:cs typeface="Cambria"/>
                <a:sym typeface="Cambria"/>
              </a:defRPr>
            </a:lvl1pPr>
          </a:lstStyle>
          <a:p>
            <a:pPr/>
            <a:r>
              <a:t>41</a:t>
            </a:r>
          </a:p>
        </p:txBody>
      </p:sp>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6"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05  ·  EXTERNAL RECOGNITION  ·  成果認證</a:t>
            </a:r>
          </a:p>
        </p:txBody>
      </p:sp>
      <p:sp>
        <p:nvSpPr>
          <p:cNvPr id="997"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2026 Global Views USR Award — First Prize</a:t>
            </a:r>
          </a:p>
        </p:txBody>
      </p:sp>
      <p:sp>
        <p:nvSpPr>
          <p:cNvPr id="998"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2026 遠見 USR 大學社會責任獎　·　福祉共生組　首獎</a:t>
            </a:r>
          </a:p>
        </p:txBody>
      </p:sp>
      <p:pic>
        <p:nvPicPr>
          <p:cNvPr id="999" name="Picture 4" descr="Picture 4"/>
          <p:cNvPicPr>
            <a:picLocks noChangeAspect="1"/>
          </p:cNvPicPr>
          <p:nvPr/>
        </p:nvPicPr>
        <p:blipFill>
          <a:blip r:embed="rId3">
            <a:extLst/>
          </a:blip>
          <a:srcRect l="0" t="23506" r="0" b="23506"/>
          <a:stretch>
            <a:fillRect/>
          </a:stretch>
        </p:blipFill>
        <p:spPr>
          <a:xfrm>
            <a:off x="8138159" y="1938527"/>
            <a:ext cx="3364994" cy="4297682"/>
          </a:xfrm>
          <a:prstGeom prst="rect">
            <a:avLst/>
          </a:prstGeom>
          <a:ln w="12700">
            <a:miter lim="400000"/>
          </a:ln>
        </p:spPr>
      </p:pic>
      <p:sp>
        <p:nvSpPr>
          <p:cNvPr id="1000" name="TextBox 5"/>
          <p:cNvSpPr txBox="1"/>
          <p:nvPr/>
        </p:nvSpPr>
        <p:spPr>
          <a:xfrm>
            <a:off x="685800" y="1938527"/>
            <a:ext cx="7132319"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600">
                <a:solidFill>
                  <a:srgbClr val="1B2A22"/>
                </a:solidFill>
                <a:latin typeface="Cambria"/>
                <a:ea typeface="Microsoft JhengHei"/>
                <a:cs typeface="Cambria"/>
                <a:sym typeface="Cambria"/>
              </a:defRPr>
            </a:lvl1pPr>
          </a:lstStyle>
          <a:p>
            <a:pPr/>
            <a:r>
              <a:t>Green Health Prescription — Integrating Natural Healing and Smart Technology</a:t>
            </a:r>
          </a:p>
        </p:txBody>
      </p:sp>
      <p:sp>
        <p:nvSpPr>
          <p:cNvPr id="1001" name="TextBox 6"/>
          <p:cNvSpPr txBox="1"/>
          <p:nvPr/>
        </p:nvSpPr>
        <p:spPr>
          <a:xfrm>
            <a:off x="685800" y="2395727"/>
            <a:ext cx="7132319"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6F7C75"/>
                </a:solidFill>
                <a:latin typeface="Microsoft JhengHei"/>
                <a:ea typeface="Microsoft JhengHei"/>
                <a:cs typeface="Microsoft JhengHei"/>
                <a:sym typeface="Microsoft JhengHei"/>
              </a:defRPr>
            </a:lvl1pPr>
          </a:lstStyle>
          <a:p>
            <a:pPr/>
            <a:r>
              <a:t>綠色健康處方：自然療癒與智慧科技整合的社會實踐　·　First Prize, Wellbeing and Symbiosis category</a:t>
            </a:r>
          </a:p>
        </p:txBody>
      </p:sp>
      <p:sp>
        <p:nvSpPr>
          <p:cNvPr id="1002" name="Rounded Rectangle 7"/>
          <p:cNvSpPr/>
          <p:nvPr/>
        </p:nvSpPr>
        <p:spPr>
          <a:xfrm>
            <a:off x="685800" y="2926078"/>
            <a:ext cx="2218945" cy="1783083"/>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1003" name="TextBox 8"/>
          <p:cNvSpPr txBox="1"/>
          <p:nvPr/>
        </p:nvSpPr>
        <p:spPr>
          <a:xfrm>
            <a:off x="685800" y="3154678"/>
            <a:ext cx="2218945" cy="723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4800">
                <a:solidFill>
                  <a:srgbClr val="2E6B4F"/>
                </a:solidFill>
                <a:latin typeface="Cambria"/>
                <a:ea typeface="Microsoft JhengHei"/>
                <a:cs typeface="Cambria"/>
                <a:sym typeface="Cambria"/>
              </a:defRPr>
            </a:lvl1pPr>
          </a:lstStyle>
          <a:p>
            <a:pPr/>
            <a:r>
              <a:t>57</a:t>
            </a:r>
          </a:p>
        </p:txBody>
      </p:sp>
      <p:sp>
        <p:nvSpPr>
          <p:cNvPr id="1004" name="TextBox 9"/>
          <p:cNvSpPr txBox="1"/>
          <p:nvPr/>
        </p:nvSpPr>
        <p:spPr>
          <a:xfrm>
            <a:off x="685800" y="3968496"/>
            <a:ext cx="2218945"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04999"/>
              </a:lnSpc>
              <a:defRPr sz="1200">
                <a:solidFill>
                  <a:srgbClr val="1B2A22"/>
                </a:solidFill>
                <a:latin typeface="Cambria"/>
                <a:ea typeface="Microsoft JhengHei"/>
                <a:cs typeface="Cambria"/>
                <a:sym typeface="Cambria"/>
              </a:defRPr>
            </a:lvl1pPr>
          </a:lstStyle>
          <a:p>
            <a:pPr/>
            <a:r>
              <a:t>universities entered</a:t>
            </a:r>
          </a:p>
        </p:txBody>
      </p:sp>
      <p:sp>
        <p:nvSpPr>
          <p:cNvPr id="1005" name="TextBox 10"/>
          <p:cNvSpPr txBox="1"/>
          <p:nvPr/>
        </p:nvSpPr>
        <p:spPr>
          <a:xfrm>
            <a:off x="685800" y="4297679"/>
            <a:ext cx="2218945"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000">
                <a:solidFill>
                  <a:srgbClr val="6F7C75"/>
                </a:solidFill>
                <a:latin typeface="Microsoft JhengHei"/>
                <a:ea typeface="Microsoft JhengHei"/>
                <a:cs typeface="Microsoft JhengHei"/>
                <a:sym typeface="Microsoft JhengHei"/>
              </a:defRPr>
            </a:lvl1pPr>
          </a:lstStyle>
          <a:p>
            <a:pPr/>
            <a:r>
              <a:t>所參賽學校</a:t>
            </a:r>
          </a:p>
        </p:txBody>
      </p:sp>
      <p:sp>
        <p:nvSpPr>
          <p:cNvPr id="1006" name="Rounded Rectangle 11"/>
          <p:cNvSpPr/>
          <p:nvPr/>
        </p:nvSpPr>
        <p:spPr>
          <a:xfrm>
            <a:off x="3142488" y="2926078"/>
            <a:ext cx="2218945" cy="1783083"/>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1007" name="TextBox 12"/>
          <p:cNvSpPr txBox="1"/>
          <p:nvPr/>
        </p:nvSpPr>
        <p:spPr>
          <a:xfrm>
            <a:off x="3142488" y="3154678"/>
            <a:ext cx="2218945" cy="723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4800">
                <a:solidFill>
                  <a:srgbClr val="2E6B4F"/>
                </a:solidFill>
                <a:latin typeface="Cambria"/>
                <a:ea typeface="Microsoft JhengHei"/>
                <a:cs typeface="Cambria"/>
                <a:sym typeface="Cambria"/>
              </a:defRPr>
            </a:lvl1pPr>
          </a:lstStyle>
          <a:p>
            <a:pPr/>
            <a:r>
              <a:t>222</a:t>
            </a:r>
          </a:p>
        </p:txBody>
      </p:sp>
      <p:sp>
        <p:nvSpPr>
          <p:cNvPr id="1008" name="TextBox 13"/>
          <p:cNvSpPr txBox="1"/>
          <p:nvPr/>
        </p:nvSpPr>
        <p:spPr>
          <a:xfrm>
            <a:off x="3142488" y="3968496"/>
            <a:ext cx="2218945"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04999"/>
              </a:lnSpc>
              <a:defRPr sz="1200">
                <a:solidFill>
                  <a:srgbClr val="1B2A22"/>
                </a:solidFill>
                <a:latin typeface="Cambria"/>
                <a:ea typeface="Microsoft JhengHei"/>
                <a:cs typeface="Cambria"/>
                <a:sym typeface="Cambria"/>
              </a:defRPr>
            </a:lvl1pPr>
          </a:lstStyle>
          <a:p>
            <a:pPr/>
            <a:r>
              <a:t>entries</a:t>
            </a:r>
          </a:p>
        </p:txBody>
      </p:sp>
      <p:sp>
        <p:nvSpPr>
          <p:cNvPr id="1009" name="TextBox 14"/>
          <p:cNvSpPr txBox="1"/>
          <p:nvPr/>
        </p:nvSpPr>
        <p:spPr>
          <a:xfrm>
            <a:off x="3142488" y="4297679"/>
            <a:ext cx="2218945"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000">
                <a:solidFill>
                  <a:srgbClr val="6F7C75"/>
                </a:solidFill>
                <a:latin typeface="Microsoft JhengHei"/>
                <a:ea typeface="Microsoft JhengHei"/>
                <a:cs typeface="Microsoft JhengHei"/>
                <a:sym typeface="Microsoft JhengHei"/>
              </a:defRPr>
            </a:lvl1pPr>
          </a:lstStyle>
          <a:p>
            <a:pPr/>
            <a:r>
              <a:t>件參賽方案</a:t>
            </a:r>
          </a:p>
        </p:txBody>
      </p:sp>
      <p:sp>
        <p:nvSpPr>
          <p:cNvPr id="1010" name="Rounded Rectangle 15"/>
          <p:cNvSpPr/>
          <p:nvPr/>
        </p:nvSpPr>
        <p:spPr>
          <a:xfrm>
            <a:off x="5599176" y="2926078"/>
            <a:ext cx="2218945" cy="1783083"/>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1011" name="TextBox 16"/>
          <p:cNvSpPr txBox="1"/>
          <p:nvPr/>
        </p:nvSpPr>
        <p:spPr>
          <a:xfrm>
            <a:off x="5599176" y="3154678"/>
            <a:ext cx="2218945" cy="723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4800">
                <a:solidFill>
                  <a:srgbClr val="B08640"/>
                </a:solidFill>
                <a:latin typeface="Cambria"/>
                <a:ea typeface="Microsoft JhengHei"/>
                <a:cs typeface="Cambria"/>
                <a:sym typeface="Cambria"/>
              </a:defRPr>
            </a:lvl1pPr>
          </a:lstStyle>
          <a:p>
            <a:pPr/>
            <a:r>
              <a:t>1</a:t>
            </a:r>
          </a:p>
        </p:txBody>
      </p:sp>
      <p:sp>
        <p:nvSpPr>
          <p:cNvPr id="1012" name="TextBox 17"/>
          <p:cNvSpPr txBox="1"/>
          <p:nvPr/>
        </p:nvSpPr>
        <p:spPr>
          <a:xfrm>
            <a:off x="5599176" y="3968496"/>
            <a:ext cx="2218945"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04999"/>
              </a:lnSpc>
              <a:defRPr sz="1200">
                <a:solidFill>
                  <a:srgbClr val="1B2A22"/>
                </a:solidFill>
                <a:latin typeface="Cambria"/>
                <a:ea typeface="Microsoft JhengHei"/>
                <a:cs typeface="Cambria"/>
                <a:sym typeface="Cambria"/>
              </a:defRPr>
            </a:lvl1pPr>
          </a:lstStyle>
          <a:p>
            <a:pPr/>
            <a:r>
              <a:t>first attempt, first prize</a:t>
            </a:r>
          </a:p>
        </p:txBody>
      </p:sp>
      <p:sp>
        <p:nvSpPr>
          <p:cNvPr id="1013" name="TextBox 18"/>
          <p:cNvSpPr txBox="1"/>
          <p:nvPr/>
        </p:nvSpPr>
        <p:spPr>
          <a:xfrm>
            <a:off x="5599176" y="4297679"/>
            <a:ext cx="2218945"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000">
                <a:solidFill>
                  <a:srgbClr val="6F7C75"/>
                </a:solidFill>
                <a:latin typeface="Microsoft JhengHei"/>
                <a:ea typeface="Microsoft JhengHei"/>
                <a:cs typeface="Microsoft JhengHei"/>
                <a:sym typeface="Microsoft JhengHei"/>
              </a:defRPr>
            </a:lvl1pPr>
          </a:lstStyle>
          <a:p>
            <a:pPr/>
            <a:r>
              <a:t>次參賽即獲首獎</a:t>
            </a:r>
          </a:p>
        </p:txBody>
      </p:sp>
      <p:sp>
        <p:nvSpPr>
          <p:cNvPr id="1014" name="Rounded Rectangle 19"/>
          <p:cNvSpPr/>
          <p:nvPr/>
        </p:nvSpPr>
        <p:spPr>
          <a:xfrm>
            <a:off x="685800" y="4983479"/>
            <a:ext cx="7132320" cy="1252730"/>
          </a:xfrm>
          <a:prstGeom prst="roundRect">
            <a:avLst>
              <a:gd name="adj" fmla="val 4500"/>
            </a:avLst>
          </a:prstGeom>
          <a:solidFill>
            <a:srgbClr val="E3ECE6"/>
          </a:solidFill>
          <a:ln w="12700">
            <a:miter lim="400000"/>
          </a:ln>
        </p:spPr>
        <p:txBody>
          <a:bodyPr lIns="45718" tIns="45718" rIns="45718" bIns="45718" anchor="ctr"/>
          <a:lstStyle/>
          <a:p>
            <a:pPr algn="ctr">
              <a:defRPr>
                <a:solidFill>
                  <a:srgbClr val="FFFFFF"/>
                </a:solidFill>
              </a:defRPr>
            </a:pPr>
          </a:p>
        </p:txBody>
      </p:sp>
      <p:sp>
        <p:nvSpPr>
          <p:cNvPr id="1015" name="TextBox 20"/>
          <p:cNvSpPr txBox="1"/>
          <p:nvPr/>
        </p:nvSpPr>
        <p:spPr>
          <a:xfrm>
            <a:off x="1033270" y="5193791"/>
            <a:ext cx="6437379" cy="5374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7999"/>
              </a:lnSpc>
              <a:spcBef>
                <a:spcPts val="500"/>
              </a:spcBef>
              <a:defRPr sz="1200">
                <a:solidFill>
                  <a:srgbClr val="1B2A22"/>
                </a:solidFill>
                <a:latin typeface="Cambria"/>
                <a:ea typeface="Microsoft JhengHei"/>
                <a:cs typeface="Cambria"/>
                <a:sym typeface="Cambria"/>
              </a:defRPr>
            </a:pPr>
            <a:r>
              <a:t>Jointly led by the Departments of Horticulture and Landscape Architecture, and of Forestry — and NTU's first double first prize in a single edition.</a:t>
            </a:r>
            <a:endParaRPr>
              <a:latin typeface="+mj-lt"/>
              <a:ea typeface="+mj-ea"/>
              <a:cs typeface="+mj-cs"/>
              <a:sym typeface="Calibri"/>
            </a:endParaRPr>
          </a:p>
          <a:p>
            <a:pPr>
              <a:defRPr sz="1100">
                <a:solidFill>
                  <a:srgbClr val="6F7C75"/>
                </a:solidFill>
                <a:latin typeface="Microsoft JhengHei"/>
                <a:ea typeface="Microsoft JhengHei"/>
                <a:cs typeface="Microsoft JhengHei"/>
                <a:sym typeface="Microsoft JhengHei"/>
              </a:defRPr>
            </a:pPr>
            <a:r>
              <a:t>由園藝暨景觀學系與森林環境暨資源學系攜手推動，並締造臺大首度於同一屆獲得雙首獎的紀錄。</a:t>
            </a:r>
          </a:p>
        </p:txBody>
      </p:sp>
      <p:sp>
        <p:nvSpPr>
          <p:cNvPr id="1016" name="TextBox 21"/>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1017" name="TextBox 22"/>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42</a:t>
            </a:r>
          </a:p>
        </p:txBody>
      </p:sp>
    </p:spTree>
  </p:cSld>
  <p:clrMapOvr>
    <a:masterClrMapping/>
  </p:clrMapOvr>
  <p:transition xmlns:p14="http://schemas.microsoft.com/office/powerpoint/2010/main" spd="med" advClick="1"/>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1" name="TextBox 1"/>
          <p:cNvSpPr txBox="1"/>
          <p:nvPr/>
        </p:nvSpPr>
        <p:spPr>
          <a:xfrm>
            <a:off x="685799" y="365758"/>
            <a:ext cx="1082009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E6B4F"/>
                </a:solidFill>
                <a:latin typeface="Cambria"/>
                <a:ea typeface="Microsoft JhengHei"/>
                <a:cs typeface="Cambria"/>
                <a:sym typeface="Cambria"/>
              </a:defRPr>
            </a:pPr>
            <a:r>
              <a:t>05  ·  EXTERNAL RECOGNITION  ·  成果認證</a:t>
            </a:r>
          </a:p>
        </p:txBody>
      </p:sp>
      <p:sp>
        <p:nvSpPr>
          <p:cNvPr id="1022" name="TextBox 2"/>
          <p:cNvSpPr txBox="1"/>
          <p:nvPr/>
        </p:nvSpPr>
        <p:spPr>
          <a:xfrm>
            <a:off x="685799" y="603504"/>
            <a:ext cx="1082009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4000"/>
              </a:lnSpc>
              <a:defRPr sz="3100">
                <a:solidFill>
                  <a:srgbClr val="1B2A22"/>
                </a:solidFill>
                <a:latin typeface="Cambria"/>
                <a:ea typeface="Microsoft JhengHei"/>
                <a:cs typeface="Cambria"/>
                <a:sym typeface="Cambria"/>
              </a:defRPr>
            </a:lvl1pPr>
          </a:lstStyle>
          <a:p>
            <a:pPr/>
            <a:r>
              <a:t>The Numbers Behind the Award</a:t>
            </a:r>
          </a:p>
        </p:txBody>
      </p:sp>
      <p:sp>
        <p:nvSpPr>
          <p:cNvPr id="1023" name="TextBox 3"/>
          <p:cNvSpPr txBox="1"/>
          <p:nvPr/>
        </p:nvSpPr>
        <p:spPr>
          <a:xfrm>
            <a:off x="685799" y="1298447"/>
            <a:ext cx="1082009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E6B4F"/>
                </a:solidFill>
                <a:latin typeface="Microsoft JhengHei"/>
                <a:ea typeface="Microsoft JhengHei"/>
                <a:cs typeface="Microsoft JhengHei"/>
                <a:sym typeface="Microsoft JhengHei"/>
              </a:defRPr>
            </a:lvl1pPr>
          </a:lstStyle>
          <a:p>
            <a:pPr/>
            <a:r>
              <a:t>得獎方案的量化基礎</a:t>
            </a:r>
          </a:p>
        </p:txBody>
      </p:sp>
      <p:sp>
        <p:nvSpPr>
          <p:cNvPr id="1024" name="Rounded Rectangle 4"/>
          <p:cNvSpPr/>
          <p:nvPr/>
        </p:nvSpPr>
        <p:spPr>
          <a:xfrm>
            <a:off x="685800" y="1965960"/>
            <a:ext cx="3423819" cy="1874519"/>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1025" name="TextBox 5"/>
          <p:cNvSpPr txBox="1"/>
          <p:nvPr/>
        </p:nvSpPr>
        <p:spPr>
          <a:xfrm>
            <a:off x="685798" y="2194560"/>
            <a:ext cx="3423822" cy="749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5000">
                <a:solidFill>
                  <a:srgbClr val="2E6B4F"/>
                </a:solidFill>
                <a:latin typeface="Cambria"/>
                <a:ea typeface="Microsoft JhengHei"/>
                <a:cs typeface="Cambria"/>
                <a:sym typeface="Cambria"/>
              </a:defRPr>
            </a:lvl1pPr>
          </a:lstStyle>
          <a:p>
            <a:pPr/>
            <a:r>
              <a:t>39</a:t>
            </a:r>
          </a:p>
        </p:txBody>
      </p:sp>
      <p:sp>
        <p:nvSpPr>
          <p:cNvPr id="1026" name="TextBox 6"/>
          <p:cNvSpPr txBox="1"/>
          <p:nvPr/>
        </p:nvSpPr>
        <p:spPr>
          <a:xfrm>
            <a:off x="685798" y="3054094"/>
            <a:ext cx="3423822"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1B2A22"/>
                </a:solidFill>
                <a:latin typeface="Cambria"/>
                <a:ea typeface="Microsoft JhengHei"/>
                <a:cs typeface="Cambria"/>
                <a:sym typeface="Cambria"/>
              </a:defRPr>
            </a:lvl1pPr>
          </a:lstStyle>
          <a:p>
            <a:pPr/>
            <a:r>
              <a:t>projects delivered</a:t>
            </a:r>
          </a:p>
        </p:txBody>
      </p:sp>
      <p:sp>
        <p:nvSpPr>
          <p:cNvPr id="1027" name="TextBox 7"/>
          <p:cNvSpPr txBox="1"/>
          <p:nvPr/>
        </p:nvSpPr>
        <p:spPr>
          <a:xfrm>
            <a:off x="685798" y="3364991"/>
            <a:ext cx="342382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000">
                <a:solidFill>
                  <a:srgbClr val="6F7C75"/>
                </a:solidFill>
                <a:latin typeface="Microsoft JhengHei"/>
                <a:ea typeface="Microsoft JhengHei"/>
                <a:cs typeface="Microsoft JhengHei"/>
                <a:sym typeface="Microsoft JhengHei"/>
              </a:defRPr>
            </a:lvl1pPr>
          </a:lstStyle>
          <a:p>
            <a:pPr/>
            <a:r>
              <a:t>項累計執行計畫</a:t>
            </a:r>
          </a:p>
        </p:txBody>
      </p:sp>
      <p:sp>
        <p:nvSpPr>
          <p:cNvPr id="1028" name="Rounded Rectangle 8"/>
          <p:cNvSpPr/>
          <p:nvPr/>
        </p:nvSpPr>
        <p:spPr>
          <a:xfrm>
            <a:off x="4383937" y="1965960"/>
            <a:ext cx="3423819" cy="1874519"/>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1029" name="TextBox 9"/>
          <p:cNvSpPr txBox="1"/>
          <p:nvPr/>
        </p:nvSpPr>
        <p:spPr>
          <a:xfrm>
            <a:off x="4383937" y="2194560"/>
            <a:ext cx="3423819" cy="749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5000">
                <a:solidFill>
                  <a:srgbClr val="2E6B4F"/>
                </a:solidFill>
                <a:latin typeface="Cambria"/>
                <a:ea typeface="Microsoft JhengHei"/>
                <a:cs typeface="Cambria"/>
                <a:sym typeface="Cambria"/>
              </a:defRPr>
            </a:lvl1pPr>
          </a:lstStyle>
          <a:p>
            <a:pPr/>
            <a:r>
              <a:t>400</a:t>
            </a:r>
          </a:p>
        </p:txBody>
      </p:sp>
      <p:sp>
        <p:nvSpPr>
          <p:cNvPr id="1030" name="TextBox 10"/>
          <p:cNvSpPr txBox="1"/>
          <p:nvPr/>
        </p:nvSpPr>
        <p:spPr>
          <a:xfrm>
            <a:off x="4383937" y="3054094"/>
            <a:ext cx="3423819"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1B2A22"/>
                </a:solidFill>
                <a:latin typeface="Cambria"/>
                <a:ea typeface="Microsoft JhengHei"/>
                <a:cs typeface="Cambria"/>
                <a:sym typeface="Cambria"/>
              </a:defRPr>
            </a:lvl1pPr>
          </a:lstStyle>
          <a:p>
            <a:pPr/>
            <a:r>
              <a:t>communities supported</a:t>
            </a:r>
          </a:p>
        </p:txBody>
      </p:sp>
      <p:sp>
        <p:nvSpPr>
          <p:cNvPr id="1031" name="TextBox 11"/>
          <p:cNvSpPr txBox="1"/>
          <p:nvPr/>
        </p:nvSpPr>
        <p:spPr>
          <a:xfrm>
            <a:off x="4383937" y="3364991"/>
            <a:ext cx="342381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000">
                <a:solidFill>
                  <a:srgbClr val="6F7C75"/>
                </a:solidFill>
                <a:latin typeface="Microsoft JhengHei"/>
                <a:ea typeface="Microsoft JhengHei"/>
                <a:cs typeface="Microsoft JhengHei"/>
                <a:sym typeface="Microsoft JhengHei"/>
              </a:defRPr>
            </a:lvl1pPr>
          </a:lstStyle>
          <a:p>
            <a:pPr/>
            <a:r>
              <a:t>個以上輔導社區</a:t>
            </a:r>
          </a:p>
        </p:txBody>
      </p:sp>
      <p:sp>
        <p:nvSpPr>
          <p:cNvPr id="1032" name="Rounded Rectangle 12"/>
          <p:cNvSpPr/>
          <p:nvPr/>
        </p:nvSpPr>
        <p:spPr>
          <a:xfrm>
            <a:off x="8082074" y="1965960"/>
            <a:ext cx="3423820" cy="1874519"/>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1033" name="TextBox 13"/>
          <p:cNvSpPr txBox="1"/>
          <p:nvPr/>
        </p:nvSpPr>
        <p:spPr>
          <a:xfrm>
            <a:off x="8082074" y="2194560"/>
            <a:ext cx="3423820" cy="749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5000">
                <a:solidFill>
                  <a:srgbClr val="2E6B4F"/>
                </a:solidFill>
                <a:latin typeface="Cambria"/>
                <a:ea typeface="Microsoft JhengHei"/>
                <a:cs typeface="Cambria"/>
                <a:sym typeface="Cambria"/>
              </a:defRPr>
            </a:lvl1pPr>
          </a:lstStyle>
          <a:p>
            <a:pPr/>
            <a:r>
              <a:t>10,000</a:t>
            </a:r>
          </a:p>
        </p:txBody>
      </p:sp>
      <p:sp>
        <p:nvSpPr>
          <p:cNvPr id="1034" name="TextBox 14"/>
          <p:cNvSpPr txBox="1"/>
          <p:nvPr/>
        </p:nvSpPr>
        <p:spPr>
          <a:xfrm>
            <a:off x="8082074" y="3054094"/>
            <a:ext cx="342382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1B2A22"/>
                </a:solidFill>
                <a:latin typeface="Cambria"/>
                <a:ea typeface="Microsoft JhengHei"/>
                <a:cs typeface="Cambria"/>
                <a:sym typeface="Cambria"/>
              </a:defRPr>
            </a:lvl1pPr>
          </a:lstStyle>
          <a:p>
            <a:pPr/>
            <a:r>
              <a:t>professionals trained</a:t>
            </a:r>
          </a:p>
        </p:txBody>
      </p:sp>
      <p:sp>
        <p:nvSpPr>
          <p:cNvPr id="1035" name="TextBox 15"/>
          <p:cNvSpPr txBox="1"/>
          <p:nvPr/>
        </p:nvSpPr>
        <p:spPr>
          <a:xfrm>
            <a:off x="8082074" y="3364991"/>
            <a:ext cx="342382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000">
                <a:solidFill>
                  <a:srgbClr val="6F7C75"/>
                </a:solidFill>
                <a:latin typeface="Microsoft JhengHei"/>
                <a:ea typeface="Microsoft JhengHei"/>
                <a:cs typeface="Microsoft JhengHei"/>
                <a:sym typeface="Microsoft JhengHei"/>
              </a:defRPr>
            </a:lvl1pPr>
          </a:lstStyle>
          <a:p>
            <a:pPr/>
            <a:r>
              <a:t>人以上培育人才</a:t>
            </a:r>
          </a:p>
        </p:txBody>
      </p:sp>
      <p:sp>
        <p:nvSpPr>
          <p:cNvPr id="1036" name="TextBox 16"/>
          <p:cNvSpPr txBox="1"/>
          <p:nvPr/>
        </p:nvSpPr>
        <p:spPr>
          <a:xfrm>
            <a:off x="685799" y="4114800"/>
            <a:ext cx="10820097"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2E6B4F"/>
                </a:solidFill>
                <a:latin typeface="Microsoft JhengHei"/>
                <a:ea typeface="Microsoft JhengHei"/>
                <a:cs typeface="Microsoft JhengHei"/>
                <a:sym typeface="Microsoft JhengHei"/>
              </a:defRPr>
            </a:lvl1pPr>
          </a:lstStyle>
          <a:p>
            <a:pPr/>
            <a:r>
              <a:t>Six domains of practice　六大實踐面向</a:t>
            </a:r>
          </a:p>
        </p:txBody>
      </p:sp>
      <p:sp>
        <p:nvSpPr>
          <p:cNvPr id="1037" name="Rounded Rectangle 17"/>
          <p:cNvSpPr/>
          <p:nvPr/>
        </p:nvSpPr>
        <p:spPr>
          <a:xfrm>
            <a:off x="685800" y="4526279"/>
            <a:ext cx="1666189" cy="96012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1038" name="TextBox 18"/>
          <p:cNvSpPr txBox="1"/>
          <p:nvPr/>
        </p:nvSpPr>
        <p:spPr>
          <a:xfrm>
            <a:off x="685800" y="4718303"/>
            <a:ext cx="1666189"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1B2A22"/>
                </a:solidFill>
                <a:latin typeface="Cambria"/>
                <a:ea typeface="Microsoft JhengHei"/>
                <a:cs typeface="Cambria"/>
                <a:sym typeface="Cambria"/>
              </a:defRPr>
            </a:lvl1pPr>
          </a:lstStyle>
          <a:p>
            <a:pPr/>
            <a:r>
              <a:t>Forest</a:t>
            </a:r>
          </a:p>
        </p:txBody>
      </p:sp>
      <p:sp>
        <p:nvSpPr>
          <p:cNvPr id="1039" name="TextBox 19"/>
          <p:cNvSpPr txBox="1"/>
          <p:nvPr/>
        </p:nvSpPr>
        <p:spPr>
          <a:xfrm>
            <a:off x="685800" y="5010910"/>
            <a:ext cx="1666189"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F7C75"/>
                </a:solidFill>
                <a:latin typeface="Microsoft JhengHei"/>
                <a:ea typeface="Microsoft JhengHei"/>
                <a:cs typeface="Microsoft JhengHei"/>
                <a:sym typeface="Microsoft JhengHei"/>
              </a:defRPr>
            </a:lvl1pPr>
          </a:lstStyle>
          <a:p>
            <a:pPr/>
            <a:r>
              <a:t>森林療癒</a:t>
            </a:r>
          </a:p>
        </p:txBody>
      </p:sp>
      <p:sp>
        <p:nvSpPr>
          <p:cNvPr id="1040" name="Rounded Rectangle 20"/>
          <p:cNvSpPr/>
          <p:nvPr/>
        </p:nvSpPr>
        <p:spPr>
          <a:xfrm>
            <a:off x="2516581" y="4526279"/>
            <a:ext cx="1666191" cy="96012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1041" name="TextBox 21"/>
          <p:cNvSpPr txBox="1"/>
          <p:nvPr/>
        </p:nvSpPr>
        <p:spPr>
          <a:xfrm>
            <a:off x="2516581" y="4718303"/>
            <a:ext cx="166619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1B2A22"/>
                </a:solidFill>
                <a:latin typeface="Cambria"/>
                <a:ea typeface="Microsoft JhengHei"/>
                <a:cs typeface="Cambria"/>
                <a:sym typeface="Cambria"/>
              </a:defRPr>
            </a:lvl1pPr>
          </a:lstStyle>
          <a:p>
            <a:pPr/>
            <a:r>
              <a:t>Horticulture</a:t>
            </a:r>
          </a:p>
        </p:txBody>
      </p:sp>
      <p:sp>
        <p:nvSpPr>
          <p:cNvPr id="1042" name="TextBox 22"/>
          <p:cNvSpPr txBox="1"/>
          <p:nvPr/>
        </p:nvSpPr>
        <p:spPr>
          <a:xfrm>
            <a:off x="2516581" y="5010910"/>
            <a:ext cx="166619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F7C75"/>
                </a:solidFill>
                <a:latin typeface="Microsoft JhengHei"/>
                <a:ea typeface="Microsoft JhengHei"/>
                <a:cs typeface="Microsoft JhengHei"/>
                <a:sym typeface="Microsoft JhengHei"/>
              </a:defRPr>
            </a:lvl1pPr>
          </a:lstStyle>
          <a:p>
            <a:pPr/>
            <a:r>
              <a:t>園藝療癒</a:t>
            </a:r>
          </a:p>
        </p:txBody>
      </p:sp>
      <p:sp>
        <p:nvSpPr>
          <p:cNvPr id="1043" name="Rounded Rectangle 23"/>
          <p:cNvSpPr/>
          <p:nvPr/>
        </p:nvSpPr>
        <p:spPr>
          <a:xfrm>
            <a:off x="4347362" y="4526279"/>
            <a:ext cx="1666191" cy="96012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1044" name="TextBox 24"/>
          <p:cNvSpPr txBox="1"/>
          <p:nvPr/>
        </p:nvSpPr>
        <p:spPr>
          <a:xfrm>
            <a:off x="4347362" y="4718303"/>
            <a:ext cx="166619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1B2A22"/>
                </a:solidFill>
                <a:latin typeface="Cambria"/>
                <a:ea typeface="Microsoft JhengHei"/>
                <a:cs typeface="Cambria"/>
                <a:sym typeface="Cambria"/>
              </a:defRPr>
            </a:lvl1pPr>
          </a:lstStyle>
          <a:p>
            <a:pPr/>
            <a:r>
              <a:t>Green Care</a:t>
            </a:r>
          </a:p>
        </p:txBody>
      </p:sp>
      <p:sp>
        <p:nvSpPr>
          <p:cNvPr id="1045" name="TextBox 25"/>
          <p:cNvSpPr txBox="1"/>
          <p:nvPr/>
        </p:nvSpPr>
        <p:spPr>
          <a:xfrm>
            <a:off x="4347362" y="5010910"/>
            <a:ext cx="166619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F7C75"/>
                </a:solidFill>
                <a:latin typeface="Microsoft JhengHei"/>
                <a:ea typeface="Microsoft JhengHei"/>
                <a:cs typeface="Microsoft JhengHei"/>
                <a:sym typeface="Microsoft JhengHei"/>
              </a:defRPr>
            </a:lvl1pPr>
          </a:lstStyle>
          <a:p>
            <a:pPr/>
            <a:r>
              <a:t>綠色照顧</a:t>
            </a:r>
          </a:p>
        </p:txBody>
      </p:sp>
      <p:sp>
        <p:nvSpPr>
          <p:cNvPr id="1046" name="Rounded Rectangle 26"/>
          <p:cNvSpPr/>
          <p:nvPr/>
        </p:nvSpPr>
        <p:spPr>
          <a:xfrm>
            <a:off x="6178143" y="4526279"/>
            <a:ext cx="1666191" cy="96012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1047" name="TextBox 27"/>
          <p:cNvSpPr txBox="1"/>
          <p:nvPr/>
        </p:nvSpPr>
        <p:spPr>
          <a:xfrm>
            <a:off x="6178143" y="4718303"/>
            <a:ext cx="166619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1B2A22"/>
                </a:solidFill>
                <a:latin typeface="Cambria"/>
                <a:ea typeface="Microsoft JhengHei"/>
                <a:cs typeface="Cambria"/>
                <a:sym typeface="Cambria"/>
              </a:defRPr>
            </a:lvl1pPr>
          </a:lstStyle>
          <a:p>
            <a:pPr/>
            <a:r>
              <a:t>Measurement</a:t>
            </a:r>
          </a:p>
        </p:txBody>
      </p:sp>
      <p:sp>
        <p:nvSpPr>
          <p:cNvPr id="1048" name="TextBox 28"/>
          <p:cNvSpPr txBox="1"/>
          <p:nvPr/>
        </p:nvSpPr>
        <p:spPr>
          <a:xfrm>
            <a:off x="6178143" y="5010910"/>
            <a:ext cx="166619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F7C75"/>
                </a:solidFill>
                <a:latin typeface="Microsoft JhengHei"/>
                <a:ea typeface="Microsoft JhengHei"/>
                <a:cs typeface="Microsoft JhengHei"/>
                <a:sym typeface="Microsoft JhengHei"/>
              </a:defRPr>
            </a:lvl1pPr>
          </a:lstStyle>
          <a:p>
            <a:pPr/>
            <a:r>
              <a:t>科技量測</a:t>
            </a:r>
          </a:p>
        </p:txBody>
      </p:sp>
      <p:sp>
        <p:nvSpPr>
          <p:cNvPr id="1049" name="Rounded Rectangle 29"/>
          <p:cNvSpPr/>
          <p:nvPr/>
        </p:nvSpPr>
        <p:spPr>
          <a:xfrm>
            <a:off x="8008924" y="4526279"/>
            <a:ext cx="1666191" cy="96012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1050" name="TextBox 30"/>
          <p:cNvSpPr txBox="1"/>
          <p:nvPr/>
        </p:nvSpPr>
        <p:spPr>
          <a:xfrm>
            <a:off x="8008924" y="4718303"/>
            <a:ext cx="166619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1B2A22"/>
                </a:solidFill>
                <a:latin typeface="Cambria"/>
                <a:ea typeface="Microsoft JhengHei"/>
                <a:cs typeface="Cambria"/>
                <a:sym typeface="Cambria"/>
              </a:defRPr>
            </a:lvl1pPr>
          </a:lstStyle>
          <a:p>
            <a:pPr/>
            <a:r>
              <a:t>Virtual Nature</a:t>
            </a:r>
          </a:p>
        </p:txBody>
      </p:sp>
      <p:sp>
        <p:nvSpPr>
          <p:cNvPr id="1051" name="TextBox 31"/>
          <p:cNvSpPr txBox="1"/>
          <p:nvPr/>
        </p:nvSpPr>
        <p:spPr>
          <a:xfrm>
            <a:off x="8008924" y="5010910"/>
            <a:ext cx="166619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F7C75"/>
                </a:solidFill>
                <a:latin typeface="Microsoft JhengHei"/>
                <a:ea typeface="Microsoft JhengHei"/>
                <a:cs typeface="Microsoft JhengHei"/>
                <a:sym typeface="Microsoft JhengHei"/>
              </a:defRPr>
            </a:lvl1pPr>
          </a:lstStyle>
          <a:p>
            <a:pPr/>
            <a:r>
              <a:t>虛擬自然</a:t>
            </a:r>
          </a:p>
        </p:txBody>
      </p:sp>
      <p:sp>
        <p:nvSpPr>
          <p:cNvPr id="1052" name="Rounded Rectangle 32"/>
          <p:cNvSpPr/>
          <p:nvPr/>
        </p:nvSpPr>
        <p:spPr>
          <a:xfrm>
            <a:off x="9839706" y="4526279"/>
            <a:ext cx="1666191" cy="960122"/>
          </a:xfrm>
          <a:prstGeom prst="roundRect">
            <a:avLst>
              <a:gd name="adj" fmla="val 4500"/>
            </a:avLst>
          </a:prstGeom>
          <a:solidFill>
            <a:srgbClr val="EEF3EF"/>
          </a:solidFill>
          <a:ln w="12700">
            <a:miter lim="400000"/>
          </a:ln>
        </p:spPr>
        <p:txBody>
          <a:bodyPr lIns="45718" tIns="45718" rIns="45718" bIns="45718" anchor="ctr"/>
          <a:lstStyle/>
          <a:p>
            <a:pPr algn="ctr">
              <a:defRPr>
                <a:solidFill>
                  <a:srgbClr val="FFFFFF"/>
                </a:solidFill>
              </a:defRPr>
            </a:pPr>
          </a:p>
        </p:txBody>
      </p:sp>
      <p:sp>
        <p:nvSpPr>
          <p:cNvPr id="1053" name="TextBox 33"/>
          <p:cNvSpPr txBox="1"/>
          <p:nvPr/>
        </p:nvSpPr>
        <p:spPr>
          <a:xfrm>
            <a:off x="9839706" y="4718303"/>
            <a:ext cx="166619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1B2A22"/>
                </a:solidFill>
                <a:latin typeface="Cambria"/>
                <a:ea typeface="Microsoft JhengHei"/>
                <a:cs typeface="Cambria"/>
                <a:sym typeface="Cambria"/>
              </a:defRPr>
            </a:lvl1pPr>
          </a:lstStyle>
          <a:p>
            <a:pPr/>
            <a:r>
              <a:t>Diverse Health</a:t>
            </a:r>
          </a:p>
        </p:txBody>
      </p:sp>
      <p:sp>
        <p:nvSpPr>
          <p:cNvPr id="1054" name="TextBox 34"/>
          <p:cNvSpPr txBox="1"/>
          <p:nvPr/>
        </p:nvSpPr>
        <p:spPr>
          <a:xfrm>
            <a:off x="9839706" y="5010910"/>
            <a:ext cx="166619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F7C75"/>
                </a:solidFill>
                <a:latin typeface="Microsoft JhengHei"/>
                <a:ea typeface="Microsoft JhengHei"/>
                <a:cs typeface="Microsoft JhengHei"/>
                <a:sym typeface="Microsoft JhengHei"/>
              </a:defRPr>
            </a:lvl1pPr>
          </a:lstStyle>
          <a:p>
            <a:pPr/>
            <a:r>
              <a:t>多元健康</a:t>
            </a:r>
          </a:p>
        </p:txBody>
      </p:sp>
      <p:sp>
        <p:nvSpPr>
          <p:cNvPr id="1055" name="TextBox 35"/>
          <p:cNvSpPr txBox="1"/>
          <p:nvPr/>
        </p:nvSpPr>
        <p:spPr>
          <a:xfrm>
            <a:off x="685799" y="5760720"/>
            <a:ext cx="10820097" cy="3530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sz="1200">
                <a:solidFill>
                  <a:srgbClr val="1B2A22"/>
                </a:solidFill>
                <a:latin typeface="Cambria"/>
                <a:ea typeface="Microsoft JhengHei"/>
                <a:cs typeface="Cambria"/>
                <a:sym typeface="Cambria"/>
              </a:defRPr>
            </a:pPr>
            <a:r>
              <a:t>Cumulative figures compiled for the USR award application, including work predating the center.</a:t>
            </a:r>
            <a:endParaRPr>
              <a:latin typeface="+mj-lt"/>
              <a:ea typeface="+mj-ea"/>
              <a:cs typeface="+mj-cs"/>
              <a:sym typeface="Calibri"/>
            </a:endParaRPr>
          </a:p>
          <a:p>
            <a:pPr>
              <a:lnSpc>
                <a:spcPct val="115000"/>
              </a:lnSpc>
              <a:defRPr sz="1100">
                <a:solidFill>
                  <a:srgbClr val="6F7C75"/>
                </a:solidFill>
                <a:latin typeface="Microsoft JhengHei"/>
                <a:ea typeface="Microsoft JhengHei"/>
                <a:cs typeface="Microsoft JhengHei"/>
                <a:sym typeface="Microsoft JhengHei"/>
              </a:defRPr>
            </a:pPr>
            <a:r>
              <a:t>數字為 USR 獎申請時之累計統計，涵蓋中心成立前相關團隊之長期投入。</a:t>
            </a:r>
          </a:p>
        </p:txBody>
      </p:sp>
      <p:sp>
        <p:nvSpPr>
          <p:cNvPr id="1056" name="TextBox 36"/>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1057" name="TextBox 37"/>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43</a:t>
            </a:r>
          </a:p>
        </p:txBody>
      </p:sp>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1" name="Rectangle 1"/>
          <p:cNvSpPr/>
          <p:nvPr/>
        </p:nvSpPr>
        <p:spPr>
          <a:xfrm>
            <a:off x="-54866" y="-54865"/>
            <a:ext cx="12301427" cy="6967729"/>
          </a:xfrm>
          <a:prstGeom prst="rect">
            <a:avLst/>
          </a:prstGeom>
          <a:solidFill>
            <a:srgbClr val="143529"/>
          </a:solidFill>
          <a:ln w="12700">
            <a:miter lim="400000"/>
          </a:ln>
        </p:spPr>
        <p:txBody>
          <a:bodyPr lIns="45718" tIns="45718" rIns="45718" bIns="45718" anchor="ctr"/>
          <a:lstStyle/>
          <a:p>
            <a:pPr algn="ctr">
              <a:defRPr>
                <a:solidFill>
                  <a:srgbClr val="FFFFFF"/>
                </a:solidFill>
              </a:defRPr>
            </a:pPr>
          </a:p>
        </p:txBody>
      </p:sp>
      <p:pic>
        <p:nvPicPr>
          <p:cNvPr id="1062" name="Picture 2" descr="Picture 2"/>
          <p:cNvPicPr>
            <a:picLocks noChangeAspect="1"/>
          </p:cNvPicPr>
          <p:nvPr/>
        </p:nvPicPr>
        <p:blipFill>
          <a:blip r:embed="rId3">
            <a:extLst/>
          </a:blip>
          <a:stretch>
            <a:fillRect/>
          </a:stretch>
        </p:blipFill>
        <p:spPr>
          <a:xfrm>
            <a:off x="685800" y="777240"/>
            <a:ext cx="1886911" cy="822962"/>
          </a:xfrm>
          <a:prstGeom prst="rect">
            <a:avLst/>
          </a:prstGeom>
          <a:ln w="12700">
            <a:miter lim="400000"/>
          </a:ln>
        </p:spPr>
      </p:pic>
      <p:sp>
        <p:nvSpPr>
          <p:cNvPr id="1063" name="TextBox 3"/>
          <p:cNvSpPr txBox="1"/>
          <p:nvPr/>
        </p:nvSpPr>
        <p:spPr>
          <a:xfrm>
            <a:off x="685800" y="2286000"/>
            <a:ext cx="8229600" cy="787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4400">
                <a:solidFill>
                  <a:srgbClr val="FFFFFF"/>
                </a:solidFill>
                <a:latin typeface="Microsoft JhengHei"/>
                <a:ea typeface="Microsoft JhengHei"/>
                <a:cs typeface="Microsoft JhengHei"/>
                <a:sym typeface="Microsoft JhengHei"/>
              </a:defRPr>
            </a:lvl1pPr>
          </a:lstStyle>
          <a:p>
            <a:pPr/>
            <a:r>
              <a:t>謝謝</a:t>
            </a:r>
          </a:p>
        </p:txBody>
      </p:sp>
      <p:sp>
        <p:nvSpPr>
          <p:cNvPr id="1064" name="TextBox 4"/>
          <p:cNvSpPr txBox="1"/>
          <p:nvPr/>
        </p:nvSpPr>
        <p:spPr>
          <a:xfrm>
            <a:off x="685800" y="3218688"/>
            <a:ext cx="822960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400">
                <a:solidFill>
                  <a:srgbClr val="8FB09C"/>
                </a:solidFill>
                <a:latin typeface="Cambria"/>
                <a:ea typeface="Microsoft JhengHei"/>
                <a:cs typeface="Cambria"/>
                <a:sym typeface="Cambria"/>
              </a:defRPr>
            </a:lvl1pPr>
          </a:lstStyle>
          <a:p>
            <a:pPr/>
            <a:r>
              <a:t>Thank you</a:t>
            </a:r>
          </a:p>
        </p:txBody>
      </p:sp>
      <p:sp>
        <p:nvSpPr>
          <p:cNvPr id="1065" name="Rectangle 5"/>
          <p:cNvSpPr/>
          <p:nvPr/>
        </p:nvSpPr>
        <p:spPr>
          <a:xfrm>
            <a:off x="685800" y="3877054"/>
            <a:ext cx="1097281" cy="18290"/>
          </a:xfrm>
          <a:prstGeom prst="rect">
            <a:avLst/>
          </a:prstGeom>
          <a:solidFill>
            <a:srgbClr val="8FB09C"/>
          </a:solidFill>
          <a:ln w="12700">
            <a:miter lim="400000"/>
          </a:ln>
        </p:spPr>
        <p:txBody>
          <a:bodyPr lIns="45718" tIns="45718" rIns="45718" bIns="45718" anchor="ctr"/>
          <a:lstStyle/>
          <a:p>
            <a:pPr algn="ctr">
              <a:defRPr>
                <a:solidFill>
                  <a:srgbClr val="FFFFFF"/>
                </a:solidFill>
              </a:defRPr>
            </a:pPr>
          </a:p>
        </p:txBody>
      </p:sp>
      <p:sp>
        <p:nvSpPr>
          <p:cNvPr id="1066" name="TextBox 6"/>
          <p:cNvSpPr txBox="1"/>
          <p:nvPr/>
        </p:nvSpPr>
        <p:spPr>
          <a:xfrm>
            <a:off x="685800" y="4187952"/>
            <a:ext cx="8686800" cy="622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700">
                <a:solidFill>
                  <a:srgbClr val="FFFFFF"/>
                </a:solidFill>
                <a:latin typeface="Cambria"/>
                <a:ea typeface="Microsoft JhengHei"/>
                <a:cs typeface="Cambria"/>
                <a:sym typeface="Cambria"/>
              </a:defRPr>
            </a:pPr>
            <a:r>
              <a:t>Green Health Research Center</a:t>
            </a:r>
            <a:endParaRPr>
              <a:latin typeface="+mj-lt"/>
              <a:ea typeface="+mj-ea"/>
              <a:cs typeface="+mj-cs"/>
              <a:sym typeface="Calibri"/>
            </a:endParaRPr>
          </a:p>
          <a:p>
            <a:pPr>
              <a:spcBef>
                <a:spcPts val="400"/>
              </a:spcBef>
              <a:defRPr sz="1200">
                <a:solidFill>
                  <a:srgbClr val="C6D5CB"/>
                </a:solidFill>
                <a:latin typeface="Cambria"/>
                <a:ea typeface="Microsoft JhengHei"/>
                <a:cs typeface="Cambria"/>
                <a:sym typeface="Cambria"/>
              </a:defRPr>
            </a:pPr>
            <a:r>
              <a:t>College of Bioresources and Agriculture, National Taiwan University</a:t>
            </a:r>
            <a:endParaRPr>
              <a:latin typeface="+mj-lt"/>
              <a:ea typeface="+mj-ea"/>
              <a:cs typeface="+mj-cs"/>
              <a:sym typeface="Calibri"/>
            </a:endParaRPr>
          </a:p>
          <a:p>
            <a:pPr>
              <a:defRPr sz="1100">
                <a:solidFill>
                  <a:srgbClr val="8FB09C"/>
                </a:solidFill>
                <a:latin typeface="Microsoft JhengHei"/>
                <a:ea typeface="Microsoft JhengHei"/>
                <a:cs typeface="Microsoft JhengHei"/>
                <a:sym typeface="Microsoft JhengHei"/>
              </a:defRPr>
            </a:pPr>
            <a:r>
              <a:t>國立臺灣大學生物資源暨農學院　綠色健康研究中心</a:t>
            </a:r>
          </a:p>
        </p:txBody>
      </p:sp>
      <p:sp>
        <p:nvSpPr>
          <p:cNvPr id="1067" name="TextBox 7"/>
          <p:cNvSpPr txBox="1"/>
          <p:nvPr/>
        </p:nvSpPr>
        <p:spPr>
          <a:xfrm>
            <a:off x="685800" y="5614415"/>
            <a:ext cx="8686800"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200">
                <a:solidFill>
                  <a:srgbClr val="C6D5CB"/>
                </a:solidFill>
                <a:latin typeface="Cambria"/>
                <a:ea typeface="Microsoft JhengHei"/>
                <a:cs typeface="Cambria"/>
                <a:sym typeface="Cambria"/>
              </a:defRPr>
            </a:pPr>
            <a:r>
              <a:t>Rooms 301–305, Landscape Building</a:t>
            </a:r>
            <a:r>
              <a:rPr b="1">
                <a:latin typeface="Microsoft JhengHei"/>
                <a:ea typeface="Microsoft JhengHei"/>
                <a:cs typeface="Microsoft JhengHei"/>
                <a:sym typeface="Microsoft JhengHei"/>
              </a:rPr>
              <a:t>　</a:t>
            </a:r>
            <a:r>
              <a:t>·</a:t>
            </a:r>
            <a:r>
              <a:rPr b="1">
                <a:latin typeface="Microsoft JhengHei"/>
                <a:ea typeface="Microsoft JhengHei"/>
                <a:cs typeface="Microsoft JhengHei"/>
                <a:sym typeface="Microsoft JhengHei"/>
              </a:rPr>
              <a:t>　</a:t>
            </a:r>
            <a:r>
              <a:t>ntughrc@gmail.com</a:t>
            </a:r>
            <a:endParaRPr>
              <a:latin typeface="+mj-lt"/>
              <a:ea typeface="+mj-ea"/>
              <a:cs typeface="+mj-cs"/>
              <a:sym typeface="Calibri"/>
            </a:endParaRPr>
          </a:p>
          <a:p>
            <a:pPr>
              <a:defRPr sz="1100">
                <a:solidFill>
                  <a:srgbClr val="8FB09C"/>
                </a:solidFill>
                <a:latin typeface="Microsoft JhengHei"/>
                <a:ea typeface="Microsoft JhengHei"/>
                <a:cs typeface="Microsoft JhengHei"/>
                <a:sym typeface="Microsoft JhengHei"/>
              </a:defRPr>
            </a:pPr>
            <a:r>
              <a:t>造園館 3 樓 301 – 305 室</a:t>
            </a:r>
          </a:p>
        </p:txBody>
      </p:sp>
      <p:sp>
        <p:nvSpPr>
          <p:cNvPr id="1068" name="TextBox 8"/>
          <p:cNvSpPr txBox="1"/>
          <p:nvPr/>
        </p:nvSpPr>
        <p:spPr>
          <a:xfrm>
            <a:off x="685800" y="6437376"/>
            <a:ext cx="7315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9AA6A0"/>
                </a:solidFill>
                <a:latin typeface="Cambria"/>
                <a:ea typeface="Microsoft JhengHei"/>
                <a:cs typeface="Cambria"/>
                <a:sym typeface="Cambria"/>
              </a:defRPr>
            </a:lvl1pPr>
          </a:lstStyle>
          <a:p>
            <a:pPr/>
            <a:r>
              <a:t>Green Health Research Center  ·  NTU College of Bioresources and Agriculture</a:t>
            </a:r>
          </a:p>
        </p:txBody>
      </p:sp>
      <p:sp>
        <p:nvSpPr>
          <p:cNvPr id="1069" name="TextBox 9"/>
          <p:cNvSpPr txBox="1"/>
          <p:nvPr/>
        </p:nvSpPr>
        <p:spPr>
          <a:xfrm>
            <a:off x="10591495" y="6437376"/>
            <a:ext cx="91440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solidFill>
                  <a:srgbClr val="9AA6A0"/>
                </a:solidFill>
                <a:latin typeface="Cambria"/>
                <a:ea typeface="Microsoft JhengHei"/>
                <a:cs typeface="Cambria"/>
                <a:sym typeface="Cambria"/>
              </a:defRPr>
            </a:lvl1pPr>
          </a:lstStyle>
          <a:p>
            <a:pPr/>
            <a:r>
              <a:t>44</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